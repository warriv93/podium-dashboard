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21c182a9-e32b-d8d7-8988-166294d38127}">
          <p14:sldIdLst>
            <p14:sldId id="256"/>
            <p14:sldId id="257"/>
          </p14:sldIdLst>
        </p14:section>
        <p14:section name="How" id="{d6af41e7-c772-e630-f807-24077f2cb77e}">
          <p14:sldIdLst>
            <p14:sldId id="258"/>
            <p14:sldId id="259"/>
            <p14:sldId id="260"/>
            <p14:sldId id="261"/>
            <p14:sldId id="262"/>
            <p14:sldId id="263"/>
          </p14:sldIdLst>
        </p14:section>
        <p14:section name="Cost" id="{f788c3e6-98fc-0282-8428-8ace77cf0323}">
          <p14:sldIdLst>
            <p14:sldId id="264"/>
            <p14:sldId id="265"/>
            <p14:sldId id="266"/>
          </p14:sldIdLst>
        </p14:section>
        <p14:section name="Quality" id="{7f3ad2bf-eb1b-911c-7bec-1f90b5804cbb}">
          <p14:sldIdLst>
            <p14:sldId id="267"/>
            <p14:sldId id="268"/>
          </p14:sldIdLst>
        </p14:section>
        <p14:section name="Payoff" id="{b5b901ba-48a9-4fa0-514e-d1c070a639c8}">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6868B"/>
                </a:solidFill>
                <a:latin typeface="+mn-lt"/>
              </a:defRPr>
            </a:pPr>
            <a:r>
              <a:rPr sz="1300" b="0" i="0" u="none" strike="noStrike">
                <a:solidFill>
                  <a:srgbClr val="86868B"/>
                </a:solidFill>
                <a:latin typeface="+mn-lt"/>
              </a:rPr>
              <a:t>Characters of output, measured in this repo</a:t>
            </a:r>
          </a:p>
        </c:rich>
      </c:tx>
      <c:layout/>
      <c:overlay val="0"/>
    </c:title>
    <c:autoTitleDeleted val="0"/>
    <c:plotArea>
      <c:layout/>
      <c:barChart>
        <c:barDir val="bar"/>
        <c:grouping val="clustered"/>
        <c:varyColors val="0"/>
        <c:ser>
          <c:idx val="0"/>
          <c:order val="0"/>
          <c:tx>
            <c:strRef>
              <c:f>Sheet1!$B$1</c:f>
              <c:strCache>
                <c:ptCount val="1"/>
                <c:pt idx="0">
                  <c:v>Raw</c:v>
                </c:pt>
              </c:strCache>
            </c:strRef>
          </c:tx>
          <c:spPr>
            <a:solidFill>
              <a:srgbClr val="3A3A3C"/>
            </a:solidFill>
            <a:effectLst/>
          </c:spPr>
          <c:invertIfNegative val="0"/>
          <c:dLbls>
            <c:numFmt formatCode="#,##0" sourceLinked="0"/>
            <c:txPr>
              <a:bodyPr/>
              <a:lstStyle/>
              <a:p>
                <a:pPr>
                  <a:defRPr b="0" i="0" strike="noStrike" sz="1100" u="none">
                    <a:solidFill>
                      <a:srgbClr val="86868B"/>
                    </a:solidFill>
                    <a:latin typeface="+mn-lt"/>
                  </a:defRPr>
                </a:pPr>
              </a:p>
            </c:txPr>
            <c:showLegendKey val="0"/>
            <c:showVal val="1"/>
            <c:showCatName val="0"/>
            <c:showSerName val="0"/>
            <c:showPercent val="0"/>
            <c:showBubbleSize val="0"/>
            <c:showLeaderLines val="0"/>
          </c:dLbls>
          <c:cat>
            <c:multiLvlStrRef>
              <c:f>Sheet1!$A$2:$A$5</c:f>
              <c:multiLvlStrCache>
                <c:ptCount val="4"/>
                <c:lvl>
                  <c:pt idx="0">
                    <c:v>git log -20</c:v>
                  </c:pt>
                  <c:pt idx="1">
                    <c:v>ls -la</c:v>
                  </c:pt>
                  <c:pt idx="2">
                    <c:v>find *.py</c:v>
                  </c:pt>
                  <c:pt idx="3">
                    <c:v>git status</c:v>
                  </c:pt>
                </c:lvl>
              </c:multiLvlStrCache>
            </c:multiLvlStrRef>
          </c:cat>
          <c:val>
            <c:numRef>
              <c:f>Sheet1!$B$2:$B$5</c:f>
              <c:numCache>
                <c:formatCode>General</c:formatCode>
                <c:ptCount val="4"/>
                <c:pt idx="0">
                  <c:v>7993</c:v>
                </c:pt>
                <c:pt idx="1">
                  <c:v>1339</c:v>
                </c:pt>
                <c:pt idx="2">
                  <c:v>923</c:v>
                </c:pt>
                <c:pt idx="3">
                  <c:v>100</c:v>
                </c:pt>
              </c:numCache>
            </c:numRef>
          </c:val>
        </c:ser>
        <c:ser>
          <c:idx val="1"/>
          <c:order val="1"/>
          <c:tx>
            <c:strRef>
              <c:f>Sheet1!$C$1</c:f>
              <c:strCache>
                <c:ptCount val="1"/>
                <c:pt idx="0">
                  <c:v>Through RTK</c:v>
                </c:pt>
              </c:strCache>
            </c:strRef>
          </c:tx>
          <c:spPr>
            <a:solidFill>
              <a:srgbClr val="64D2FF"/>
            </a:solidFill>
            <a:effectLst/>
          </c:spPr>
          <c:invertIfNegative val="0"/>
          <c:dLbls>
            <c:numFmt formatCode="#,##0" sourceLinked="0"/>
            <c:txPr>
              <a:bodyPr/>
              <a:lstStyle/>
              <a:p>
                <a:pPr>
                  <a:defRPr b="0" i="0" strike="noStrike" sz="1100" u="none">
                    <a:solidFill>
                      <a:srgbClr val="86868B"/>
                    </a:solidFill>
                    <a:latin typeface="+mn-lt"/>
                  </a:defRPr>
                </a:pPr>
              </a:p>
            </c:txPr>
            <c:showLegendKey val="0"/>
            <c:showVal val="1"/>
            <c:showCatName val="0"/>
            <c:showSerName val="0"/>
            <c:showPercent val="0"/>
            <c:showBubbleSize val="0"/>
            <c:showLeaderLines val="0"/>
          </c:dLbls>
          <c:cat>
            <c:multiLvlStrRef>
              <c:f>Sheet1!$A$2:$A$5</c:f>
              <c:multiLvlStrCache>
                <c:ptCount val="4"/>
                <c:lvl>
                  <c:pt idx="0">
                    <c:v>git log -20</c:v>
                  </c:pt>
                  <c:pt idx="1">
                    <c:v>ls -la</c:v>
                  </c:pt>
                  <c:pt idx="2">
                    <c:v>find *.py</c:v>
                  </c:pt>
                  <c:pt idx="3">
                    <c:v>git status</c:v>
                  </c:pt>
                </c:lvl>
              </c:multiLvlStrCache>
            </c:multiLvlStrRef>
          </c:cat>
          <c:val>
            <c:numRef>
              <c:f>Sheet1!$C$2:$C$5</c:f>
              <c:numCache>
                <c:formatCode>General</c:formatCode>
                <c:ptCount val="4"/>
                <c:pt idx="0">
                  <c:v>4125</c:v>
                </c:pt>
                <c:pt idx="1">
                  <c:v>384</c:v>
                </c:pt>
                <c:pt idx="2">
                  <c:v>485</c:v>
                </c:pt>
                <c:pt idx="3">
                  <c:v>49</c:v>
                </c:pt>
              </c:numCache>
            </c:numRef>
          </c:val>
        </c:ser>
        <c:dLbls>
          <c:numFmt formatCode="#,##0" sourceLinked="0"/>
          <c:txPr>
            <a:bodyPr/>
            <a:lstStyle/>
            <a:p>
              <a:pPr>
                <a:defRPr b="0" i="0" strike="noStrike" sz="1100" u="none">
                  <a:solidFill>
                    <a:srgbClr val="86868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8686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86868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how I run AI coding at scale without it running away from me. The pitfalls, the layered setup that answers them, and what it buys us as 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who has used Claude Code or Copilot agents for real work has hit these. Everything that follows answers one of these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Podium is where I watch and steer. orchestrate-deep-plans plans a feature and fans out stories. deep-plan runs one feature end to end, and deep-app-plan sits above it for a whole new app. Leaf skills are small and swappable. The runtime decides how each agent is spawned and on which model: the subagent protocol, Paseo or Claude Code agents, Haiku/Sonnet/Opus, and a contract of commands that must pass. RTK sits under every shell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The orchestrator breaks a milestone into stories, works out which ones depend on each other or touch the same files, and dispatches every story that is ready at once, each to its own agent in its own git worktree. Most build on Sonnet; stories touching money, dates, auth or migrations get Opus. When a wave lands, the next one starts. Podium shows all of it live, so speed doesn't cost you control. Numbers are from my Skåne Spa run: up to 10 stories building at once, a median of about 7 minutes from dispatch to merge per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owns P0 to P5; P3 is where the parallelism happens, and P4 runs in a fresh Opus subagent. Inside each milestone, deep-plan walks the same steps every time. The ledger stays under 60 lines, so a phase can restart in a clean context instead of dragging a huge one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suite drawn as a layer cake: phases left to right, layers top to bottom. The shell owns the run and Podium. The planner/lander is the per-feature skill; only its plan and land halves are used, because P3 swaps its serial build for parallel story agents. Leaf skills are swappable one by one. The runtime sits under every spawn. A layer only calls the one beneath it, which is what makes each part replaceable.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is mostly good ideas from other people, wired together and enforced. Matt Pocock's skills (github.com/mattpocock/skills): grilling, wayfinder, prototype, tdd, code-review, codebase-design, retro and writing-for-agents. Dean Peters' epic-breakdown-advisor (github.com/deanpeters/Product-Manager-Skills), built on Richard Lawrence and Peter Green's Humanizing Work guide to splitting user stories, shaped how epics are cut into milestones, including its rule that a slice that isn't valuable shouldn't be split off. Deep modules come from John Ousterhout's A Philosophy of Software Design. What the suite adds is the orchestration: these run in a fixed order, in parallel where they can, with Podium showing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Podium on a sample run. Orange: things that need me. Blue: decisions the run made while I was away. Green: stories being built right now. On the right the activity feed shows each dispatch with its model, retries and failures. It's plain JSON and a CLI, Python standard library only, with 438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answer to the infinite loop. Verify retries start from the last green commit each time. A failed story blocks the stories that depend on it. When a cap is hit, a human decides, which is cheaper than an agent burning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unnamed spawn inherits the session model, usually Opus, so the subagent protocol makes every spawn pick deliberately. Context matters because the orchestrator re-reads its whole context every turn; files over 300 lines get targeted reads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RTK is a CLI proxy: the agent runs commands as usual and RTK condenses the output before it reaches the context. I measured these on the podium-dashboard repo. The saving compounds, because every token in the context is re-read on later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gates between an idea and a push. The grill forces assumptions into the open before code exists, as a spec brief you confirm. TDD stops vacuous tests. deep-qa only reports: pass, fixable or blocked, and a lens that can't run is reported, never dropped. The last gate is always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without losing control. The agents keep going while I'm in meetings, but every irreversible step, and every guess they made, comes back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learns from its own friction. The retro looks for repeated mistakes and repeated work that wastes tokens; podium tokens mines session logs for oversized output and repeated commands. /deep-improve runs as a weekly schedule with nobody watching; it asks nothing, drafts fixes on local branches and writes a report. Nothing ships without my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from my own runs, not a benchmark. 86 milestones landed across six projects, mostly side projects like Skåne Spa, plus one shared work run. 99% means no re-dispatch was needed; an agent may still iterate inside its one attempt. The 1,092 findings are mostly standards and spec findings, not all bugs. Skåne Spa cost about $244 at list price, $170 of it the Opus orchestrator. What I can't claim: a speed-up versus working without it, fewer escaped bugs, or fewer tokens. The model mix lowers cost per token only modestly, about 5% on a whole run, because the orchestrator stays on Opus. That's the next thing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things to take away: parallel agents for speed, Podium for control, gates for quality, and a weekly pass that improves the suite itself. To try it: install Podium from github.com/warriv93/podium-dashboard and the skills with deep-skills' install.sh, then start with /deep-plan on one feature.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246120"/>
            <a:ext cx="10911535" cy="1097280"/>
          </a:xfrm>
          <a:prstGeom prst="rect">
            <a:avLst/>
          </a:prstGeom>
          <a:noFill/>
          <a:ln/>
        </p:spPr>
        <p:txBody>
          <a:bodyPr wrap="square" rtlCol="0"/>
          <a:lstStyle>
            <a:lvl1pPr algn="ctr" indent="0" marL="0">
              <a:buNone/>
              <a:defRPr lang="en-US" sz="6000" b="1" dirty="0">
                <a:solidFill>
                  <a:schemeClr val="bg1"/>
                </a:solidFill>
                <a:latin typeface="Helvetica Neue" pitchFamily="34" charset="0"/>
                <a:ea typeface="Helvetica Neue" pitchFamily="34" charset="-122"/>
                <a:cs typeface="Helvetica Neue" pitchFamily="34" charset="-120"/>
              </a:defRPr>
            </a:lvl1pPr>
          </a:lstStyle>
          <a:p>
            <a:pPr algn="ctr" indent="0" marL="0">
              <a:buNone/>
            </a:pPr>
            <a:endParaRPr lang="en-US" sz="6000" dirty="0"/>
          </a:p>
        </p:txBody>
      </p:sp>
      <p:sp>
        <p:nvSpPr>
          <p:cNvPr id="3" name="Text 0"/>
          <p:cNvSpPr/>
          <p:nvPr>
            <p:ph idx="101" type="body" hasCustomPrompt="1"/>
          </p:nvPr>
        </p:nvSpPr>
        <p:spPr>
          <a:xfrm>
            <a:off x="640080" y="4389120"/>
            <a:ext cx="10911535" cy="548640"/>
          </a:xfrm>
          <a:prstGeom prst="rect">
            <a:avLst/>
          </a:prstGeom>
          <a:noFill/>
          <a:ln/>
        </p:spPr>
        <p:txBody>
          <a:bodyPr wrap="square" rtlCol="0"/>
          <a:lstStyle>
            <a:lvl1pPr algn="ctr" indent="0" marL="0">
              <a:buNone/>
              <a:defRPr lang="en-US" sz="2400" dirty="0">
                <a:solidFill>
                  <a:srgbClr val="86868B"/>
                </a:solidFill>
                <a:latin typeface="Helvetica Neue" pitchFamily="34" charset="0"/>
                <a:ea typeface="Helvetica Neue" pitchFamily="34" charset="-122"/>
                <a:cs typeface="Helvetica Neue" pitchFamily="34" charset="-120"/>
              </a:defRPr>
            </a:lvl1pPr>
          </a:lstStyle>
          <a:p>
            <a:pPr algn="ct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rtlCol="0"/>
          <a:lstStyle>
            <a:lvl1pPr algn="l" indent="0" marL="0">
              <a:buNone/>
              <a:defRPr lang="en-US" sz="3600" b="1" dirty="0">
                <a:solidFill>
                  <a:schemeClr val="bg1"/>
                </a:solidFill>
                <a:latin typeface="Helvetica Neue" pitchFamily="34" charset="0"/>
                <a:ea typeface="Helvetica Neue" pitchFamily="34" charset="-122"/>
                <a:cs typeface="Helvetica Neue"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rtlCol="0"/>
          <a:lstStyle>
            <a:lvl1pPr algn="l" indent="0" marL="0">
              <a:buNone/>
              <a:defRPr lang="en-US" sz="3600" b="1" dirty="0">
                <a:solidFill>
                  <a:schemeClr val="tx1"/>
                </a:solidFill>
                <a:latin typeface="Helvetica Neue" pitchFamily="34" charset="0"/>
                <a:ea typeface="Helvetica Neue" pitchFamily="34" charset="-122"/>
                <a:cs typeface="Helvetica Neue"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_GRAY">
    <p:bg>
      <p:bgPr>
        <a:solidFill>
          <a:srgbClr val="F5F5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rtlCol="0"/>
          <a:lstStyle>
            <a:lvl1pPr algn="l" indent="0" marL="0">
              <a:buNone/>
              <a:defRPr lang="en-US" sz="3600" b="1" dirty="0">
                <a:solidFill>
                  <a:schemeClr val="tx1"/>
                </a:solidFill>
                <a:latin typeface="Helvetica Neue" pitchFamily="34" charset="0"/>
                <a:ea typeface="Helvetica Neue" pitchFamily="34" charset="-122"/>
                <a:cs typeface="Helvetica Neue"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slideLayout" Target="../slideLayouts/slideLayout4.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3246120"/>
            <a:ext cx="10911535" cy="1097280"/>
          </a:xfrm>
          <a:prstGeom prst="rect">
            <a:avLst/>
          </a:prstGeom>
          <a:noFill/>
          <a:ln/>
        </p:spPr>
        <p:txBody>
          <a:bodyPr wrap="square" lIns="0" tIns="0" rIns="0" bIns="0" rtlCol="0" anchor="ctr"/>
          <a:lstStyle/>
          <a:p>
            <a:pPr algn="ctr" indent="0" marL="0">
              <a:buNone/>
            </a:pPr>
            <a:r>
              <a:rPr lang="en-US" sz="6000" b="1" dirty="0">
                <a:solidFill>
                  <a:schemeClr val="bg1"/>
                </a:solidFill>
                <a:latin typeface="Helvetica Neue" pitchFamily="34" charset="0"/>
                <a:ea typeface="Helvetica Neue" pitchFamily="34" charset="-122"/>
                <a:cs typeface="Helvetica Neue" pitchFamily="34" charset="-120"/>
              </a:rPr>
              <a:t>Agents that finish the job.</a:t>
            </a:r>
            <a:endParaRPr lang="en-US" sz="6000" dirty="0"/>
          </a:p>
        </p:txBody>
      </p:sp>
      <p:sp>
        <p:nvSpPr>
          <p:cNvPr id="3" name="Text 0"/>
          <p:cNvSpPr/>
          <p:nvPr>
            <p:ph idx="101" type="body" hasCustomPrompt="1"/>
          </p:nvPr>
        </p:nvSpPr>
        <p:spPr>
          <a:xfrm>
            <a:off x="640080" y="4389120"/>
            <a:ext cx="10911535" cy="548640"/>
          </a:xfrm>
          <a:prstGeom prst="rect">
            <a:avLst/>
          </a:prstGeom>
          <a:noFill/>
          <a:ln/>
        </p:spPr>
        <p:txBody>
          <a:bodyPr wrap="square" lIns="0" tIns="0" rIns="0" bIns="0" rtlCol="0" anchor="t"/>
          <a:lstStyle/>
          <a:p>
            <a:pPr algn="ctr" indent="0" marL="0">
              <a:buNone/>
            </a:pPr>
            <a:r>
              <a:rPr lang="en-US" sz="2400" dirty="0">
                <a:solidFill>
                  <a:srgbClr val="86868B"/>
                </a:solidFill>
                <a:latin typeface="Helvetica Neue" pitchFamily="34" charset="0"/>
                <a:ea typeface="Helvetica Neue" pitchFamily="34" charset="-122"/>
                <a:cs typeface="Helvetica Neue" pitchFamily="34" charset="-120"/>
              </a:rPr>
              <a:t>Many agents in parallel. One screen to steer them.</a:t>
            </a:r>
            <a:endParaRPr lang="en-US" sz="2400" dirty="0"/>
          </a:p>
        </p:txBody>
      </p:sp>
      <p:sp>
        <p:nvSpPr>
          <p:cNvPr id="4" name="hero layer 1"/>
          <p:cNvSpPr/>
          <p:nvPr/>
        </p:nvSpPr>
        <p:spPr>
          <a:xfrm>
            <a:off x="4449928" y="2514600"/>
            <a:ext cx="3291840" cy="237744"/>
          </a:xfrm>
          <a:prstGeom prst="roundRect">
            <a:avLst>
              <a:gd name="adj" fmla="val 50000"/>
            </a:avLst>
          </a:prstGeom>
          <a:solidFill>
            <a:srgbClr val="2997FF"/>
          </a:solidFill>
          <a:ln/>
        </p:spPr>
      </p:sp>
      <p:sp>
        <p:nvSpPr>
          <p:cNvPr id="5" name="hero layer 2"/>
          <p:cNvSpPr/>
          <p:nvPr/>
        </p:nvSpPr>
        <p:spPr>
          <a:xfrm>
            <a:off x="4609948" y="2185416"/>
            <a:ext cx="2971800" cy="237744"/>
          </a:xfrm>
          <a:prstGeom prst="roundRect">
            <a:avLst>
              <a:gd name="adj" fmla="val 50000"/>
            </a:avLst>
          </a:prstGeom>
          <a:solidFill>
            <a:srgbClr val="BF5AF2"/>
          </a:solidFill>
          <a:ln/>
        </p:spPr>
      </p:sp>
      <p:sp>
        <p:nvSpPr>
          <p:cNvPr id="6" name="hero layer 3"/>
          <p:cNvSpPr/>
          <p:nvPr/>
        </p:nvSpPr>
        <p:spPr>
          <a:xfrm>
            <a:off x="4769968" y="1856232"/>
            <a:ext cx="2651760" cy="237744"/>
          </a:xfrm>
          <a:prstGeom prst="roundRect">
            <a:avLst>
              <a:gd name="adj" fmla="val 50000"/>
            </a:avLst>
          </a:prstGeom>
          <a:solidFill>
            <a:srgbClr val="30D158"/>
          </a:solidFill>
          <a:ln/>
        </p:spPr>
      </p:sp>
      <p:sp>
        <p:nvSpPr>
          <p:cNvPr id="7" name="hero layer 4"/>
          <p:cNvSpPr/>
          <p:nvPr/>
        </p:nvSpPr>
        <p:spPr>
          <a:xfrm>
            <a:off x="4929988" y="1527048"/>
            <a:ext cx="2331720" cy="237744"/>
          </a:xfrm>
          <a:prstGeom prst="roundRect">
            <a:avLst>
              <a:gd name="adj" fmla="val 50000"/>
            </a:avLst>
          </a:prstGeom>
          <a:solidFill>
            <a:srgbClr val="FF9F0A"/>
          </a:solidFill>
          <a:ln/>
        </p:spPr>
      </p:sp>
      <p:sp>
        <p:nvSpPr>
          <p:cNvPr id="8" name="hero layer 5"/>
          <p:cNvSpPr/>
          <p:nvPr/>
        </p:nvSpPr>
        <p:spPr>
          <a:xfrm>
            <a:off x="5090008" y="1197864"/>
            <a:ext cx="2011680" cy="237744"/>
          </a:xfrm>
          <a:prstGeom prst="roundRect">
            <a:avLst>
              <a:gd name="adj" fmla="val 50000"/>
            </a:avLst>
          </a:prstGeom>
          <a:solidFill>
            <a:srgbClr val="64D2FF"/>
          </a:solidFill>
          <a:ln/>
        </p:spPr>
      </p:sp>
      <p:sp>
        <p:nvSpPr>
          <p:cNvPr id="9" name="Text 7"/>
          <p:cNvSpPr txBox="1"/>
          <p:nvPr/>
        </p:nvSpPr>
        <p:spPr>
          <a:xfrm>
            <a:off x="640080" y="6035040"/>
            <a:ext cx="10911535" cy="320040"/>
          </a:xfrm>
          <a:prstGeom prst="rect">
            <a:avLst/>
          </a:prstGeom>
          <a:noFill/>
          <a:ln/>
        </p:spPr>
        <p:txBody>
          <a:bodyPr wrap="square" lIns="0" tIns="0" rIns="0" bIns="0" rtlCol="0" anchor="t"/>
          <a:lstStyle/>
          <a:p>
            <a:pPr algn="ctr" indent="0" marL="0">
              <a:buNone/>
            </a:pPr>
            <a:r>
              <a:rPr lang="en-US" sz="1300" dirty="0">
                <a:solidFill>
                  <a:srgbClr val="86868B"/>
                </a:solidFill>
                <a:latin typeface="Helvetica Neue" pitchFamily="34" charset="0"/>
                <a:ea typeface="Helvetica Neue" pitchFamily="34" charset="-122"/>
                <a:cs typeface="Helvetica Neue" pitchFamily="34" charset="-120"/>
              </a:rPr>
              <a:t>Simon Irengard-Gullstrand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bg1"/>
                </a:solidFill>
                <a:latin typeface="Helvetica Neue" pitchFamily="34" charset="0"/>
                <a:ea typeface="Helvetica Neue" pitchFamily="34" charset="-122"/>
                <a:cs typeface="Helvetica Neue" pitchFamily="34" charset="-120"/>
              </a:rPr>
              <a:t>Left alone, agents go wrong in six ways.</a:t>
            </a:r>
            <a:endParaRPr lang="en-US" sz="3600" dirty="0"/>
          </a:p>
        </p:txBody>
      </p:sp>
      <p:pic>
        <p:nvPicPr>
          <p:cNvPr id="3" name="pitfall 1 icon" descr="pitfall 1">    </p:cNvPr>
          <p:cNvPicPr>
            <a:picLocks noChangeAspect="1"/>
          </p:cNvPicPr>
          <p:nvPr/>
        </p:nvPicPr>
        <p:blipFill>
          <a:blip r:embed="rId1"/>
          <a:stretch>
            <a:fillRect/>
          </a:stretch>
        </p:blipFill>
        <p:spPr>
          <a:xfrm>
            <a:off x="640080" y="1783080"/>
            <a:ext cx="548640" cy="548640"/>
          </a:xfrm>
          <a:prstGeom prst="rect">
            <a:avLst/>
          </a:prstGeom>
        </p:spPr>
      </p:pic>
      <p:sp>
        <p:nvSpPr>
          <p:cNvPr id="4" name="Text 1"/>
          <p:cNvSpPr txBox="1"/>
          <p:nvPr/>
        </p:nvSpPr>
        <p:spPr>
          <a:xfrm>
            <a:off x="640080" y="2560320"/>
            <a:ext cx="3383280" cy="411480"/>
          </a:xfrm>
          <a:prstGeom prst="rect">
            <a:avLst/>
          </a:prstGeom>
          <a:noFill/>
          <a:ln/>
        </p:spPr>
        <p:txBody>
          <a:bodyPr wrap="square" lIns="0" tIns="0" rIns="0" bIns="0" rtlCol="0" anchor="t"/>
          <a:lstStyle/>
          <a:p>
            <a:pPr indent="0" marL="0">
              <a:buNone/>
            </a:pPr>
            <a:r>
              <a:rPr lang="en-US" sz="2200" b="1" dirty="0">
                <a:solidFill>
                  <a:schemeClr val="bg1"/>
                </a:solidFill>
                <a:latin typeface="Helvetica Neue" pitchFamily="34" charset="0"/>
                <a:ea typeface="Helvetica Neue" pitchFamily="34" charset="-122"/>
                <a:cs typeface="Helvetica Neue" pitchFamily="34" charset="-120"/>
              </a:rPr>
              <a:t>Endless fix loops</a:t>
            </a:r>
            <a:endParaRPr lang="en-US" sz="2200" dirty="0"/>
          </a:p>
        </p:txBody>
      </p:sp>
      <p:sp>
        <p:nvSpPr>
          <p:cNvPr id="5" name="Text 2"/>
          <p:cNvSpPr txBox="1"/>
          <p:nvPr/>
        </p:nvSpPr>
        <p:spPr>
          <a:xfrm>
            <a:off x="640080" y="3017520"/>
            <a:ext cx="3383280" cy="640080"/>
          </a:xfrm>
          <a:prstGeom prst="rect">
            <a:avLst/>
          </a:prstGeom>
          <a:noFill/>
          <a:ln/>
        </p:spPr>
        <p:txBody>
          <a:bodyPr wrap="square" lIns="0" tIns="0" rIns="0" bIns="0" rtlCol="0" anchor="t"/>
          <a:lstStyle/>
          <a:p>
            <a:pPr indent="0" marL="0">
              <a:buNone/>
            </a:pPr>
            <a:r>
              <a:rPr lang="en-US" sz="1600" dirty="0">
                <a:solidFill>
                  <a:srgbClr val="86868B"/>
                </a:solidFill>
                <a:latin typeface="Helvetica Neue" pitchFamily="34" charset="0"/>
                <a:ea typeface="Helvetica Neue" pitchFamily="34" charset="-122"/>
                <a:cs typeface="Helvetica Neue" pitchFamily="34" charset="-120"/>
              </a:rPr>
              <a:t>The same failing idea, retried for an hour.</a:t>
            </a:r>
            <a:endParaRPr lang="en-US" sz="1600" dirty="0"/>
          </a:p>
        </p:txBody>
      </p:sp>
      <p:pic>
        <p:nvPicPr>
          <p:cNvPr id="6" name="pitfall 2 icon" descr="pitfall 2">    </p:cNvPr>
          <p:cNvPicPr>
            <a:picLocks noChangeAspect="1"/>
          </p:cNvPicPr>
          <p:nvPr/>
        </p:nvPicPr>
        <p:blipFill>
          <a:blip r:embed="rId2"/>
          <a:stretch>
            <a:fillRect/>
          </a:stretch>
        </p:blipFill>
        <p:spPr>
          <a:xfrm>
            <a:off x="4343400" y="1783080"/>
            <a:ext cx="548640" cy="548640"/>
          </a:xfrm>
          <a:prstGeom prst="rect">
            <a:avLst/>
          </a:prstGeom>
        </p:spPr>
      </p:pic>
      <p:sp>
        <p:nvSpPr>
          <p:cNvPr id="7" name="Text 3"/>
          <p:cNvSpPr txBox="1"/>
          <p:nvPr/>
        </p:nvSpPr>
        <p:spPr>
          <a:xfrm>
            <a:off x="4343400" y="2560320"/>
            <a:ext cx="3383280" cy="411480"/>
          </a:xfrm>
          <a:prstGeom prst="rect">
            <a:avLst/>
          </a:prstGeom>
          <a:noFill/>
          <a:ln/>
        </p:spPr>
        <p:txBody>
          <a:bodyPr wrap="square" lIns="0" tIns="0" rIns="0" bIns="0" rtlCol="0" anchor="t"/>
          <a:lstStyle/>
          <a:p>
            <a:pPr indent="0" marL="0">
              <a:buNone/>
            </a:pPr>
            <a:r>
              <a:rPr lang="en-US" sz="2200" b="1" dirty="0">
                <a:solidFill>
                  <a:schemeClr val="bg1"/>
                </a:solidFill>
                <a:latin typeface="Helvetica Neue" pitchFamily="34" charset="0"/>
                <a:ea typeface="Helvetica Neue" pitchFamily="34" charset="-122"/>
                <a:cs typeface="Helvetica Neue" pitchFamily="34" charset="-120"/>
              </a:rPr>
              <a:t>Snowballing context</a:t>
            </a:r>
            <a:endParaRPr lang="en-US" sz="2200" dirty="0"/>
          </a:p>
        </p:txBody>
      </p:sp>
      <p:sp>
        <p:nvSpPr>
          <p:cNvPr id="8" name="Text 4"/>
          <p:cNvSpPr txBox="1"/>
          <p:nvPr/>
        </p:nvSpPr>
        <p:spPr>
          <a:xfrm>
            <a:off x="4343400" y="3017520"/>
            <a:ext cx="3383280" cy="640080"/>
          </a:xfrm>
          <a:prstGeom prst="rect">
            <a:avLst/>
          </a:prstGeom>
          <a:noFill/>
          <a:ln/>
        </p:spPr>
        <p:txBody>
          <a:bodyPr wrap="square" lIns="0" tIns="0" rIns="0" bIns="0" rtlCol="0" anchor="t"/>
          <a:lstStyle/>
          <a:p>
            <a:pPr indent="0" marL="0">
              <a:buNone/>
            </a:pPr>
            <a:r>
              <a:rPr lang="en-US" sz="1600" dirty="0">
                <a:solidFill>
                  <a:srgbClr val="86868B"/>
                </a:solidFill>
                <a:latin typeface="Helvetica Neue" pitchFamily="34" charset="0"/>
                <a:ea typeface="Helvetica Neue" pitchFamily="34" charset="-122"/>
                <a:cs typeface="Helvetica Neue" pitchFamily="34" charset="-120"/>
              </a:rPr>
              <a:t>Every early token is paid for again on each turn.</a:t>
            </a:r>
            <a:endParaRPr lang="en-US" sz="1600" dirty="0"/>
          </a:p>
        </p:txBody>
      </p:sp>
      <p:pic>
        <p:nvPicPr>
          <p:cNvPr id="9" name="pitfall 3 icon" descr="pitfall 3">    </p:cNvPr>
          <p:cNvPicPr>
            <a:picLocks noChangeAspect="1"/>
          </p:cNvPicPr>
          <p:nvPr/>
        </p:nvPicPr>
        <p:blipFill>
          <a:blip r:embed="rId3"/>
          <a:stretch>
            <a:fillRect/>
          </a:stretch>
        </p:blipFill>
        <p:spPr>
          <a:xfrm>
            <a:off x="8046720" y="1783080"/>
            <a:ext cx="548640" cy="548640"/>
          </a:xfrm>
          <a:prstGeom prst="rect">
            <a:avLst/>
          </a:prstGeom>
        </p:spPr>
      </p:pic>
      <p:sp>
        <p:nvSpPr>
          <p:cNvPr id="10" name="Text 5"/>
          <p:cNvSpPr txBox="1"/>
          <p:nvPr/>
        </p:nvSpPr>
        <p:spPr>
          <a:xfrm>
            <a:off x="8046720" y="2560320"/>
            <a:ext cx="3383280" cy="411480"/>
          </a:xfrm>
          <a:prstGeom prst="rect">
            <a:avLst/>
          </a:prstGeom>
          <a:noFill/>
          <a:ln/>
        </p:spPr>
        <p:txBody>
          <a:bodyPr wrap="square" lIns="0" tIns="0" rIns="0" bIns="0" rtlCol="0" anchor="t"/>
          <a:lstStyle/>
          <a:p>
            <a:pPr indent="0" marL="0">
              <a:buNone/>
            </a:pPr>
            <a:r>
              <a:rPr lang="en-US" sz="2200" b="1" dirty="0">
                <a:solidFill>
                  <a:schemeClr val="bg1"/>
                </a:solidFill>
                <a:latin typeface="Helvetica Neue" pitchFamily="34" charset="0"/>
                <a:ea typeface="Helvetica Neue" pitchFamily="34" charset="-122"/>
                <a:cs typeface="Helvetica Neue" pitchFamily="34" charset="-120"/>
              </a:rPr>
              <a:t>One model for everything</a:t>
            </a:r>
            <a:endParaRPr lang="en-US" sz="2200" dirty="0"/>
          </a:p>
        </p:txBody>
      </p:sp>
      <p:sp>
        <p:nvSpPr>
          <p:cNvPr id="11" name="Text 6"/>
          <p:cNvSpPr txBox="1"/>
          <p:nvPr/>
        </p:nvSpPr>
        <p:spPr>
          <a:xfrm>
            <a:off x="8046720" y="3017520"/>
            <a:ext cx="3383280" cy="640080"/>
          </a:xfrm>
          <a:prstGeom prst="rect">
            <a:avLst/>
          </a:prstGeom>
          <a:noFill/>
          <a:ln/>
        </p:spPr>
        <p:txBody>
          <a:bodyPr wrap="square" lIns="0" tIns="0" rIns="0" bIns="0" rtlCol="0" anchor="t"/>
          <a:lstStyle/>
          <a:p>
            <a:pPr indent="0" marL="0">
              <a:buNone/>
            </a:pPr>
            <a:r>
              <a:rPr lang="en-US" sz="1600" dirty="0">
                <a:solidFill>
                  <a:srgbClr val="86868B"/>
                </a:solidFill>
                <a:latin typeface="Helvetica Neue" pitchFamily="34" charset="0"/>
                <a:ea typeface="Helvetica Neue" pitchFamily="34" charset="-122"/>
                <a:cs typeface="Helvetica Neue" pitchFamily="34" charset="-120"/>
              </a:rPr>
              <a:t>Opus skimming logs. Haiku reviewing money code.</a:t>
            </a:r>
            <a:endParaRPr lang="en-US" sz="1600" dirty="0"/>
          </a:p>
        </p:txBody>
      </p:sp>
      <p:pic>
        <p:nvPicPr>
          <p:cNvPr id="12" name="pitfall 4 icon" descr="pitfall 4">    </p:cNvPr>
          <p:cNvPicPr>
            <a:picLocks noChangeAspect="1"/>
          </p:cNvPicPr>
          <p:nvPr/>
        </p:nvPicPr>
        <p:blipFill>
          <a:blip r:embed="rId4"/>
          <a:stretch>
            <a:fillRect/>
          </a:stretch>
        </p:blipFill>
        <p:spPr>
          <a:xfrm>
            <a:off x="640080" y="4069080"/>
            <a:ext cx="548640" cy="548640"/>
          </a:xfrm>
          <a:prstGeom prst="rect">
            <a:avLst/>
          </a:prstGeom>
        </p:spPr>
      </p:pic>
      <p:sp>
        <p:nvSpPr>
          <p:cNvPr id="13" name="Text 7"/>
          <p:cNvSpPr txBox="1"/>
          <p:nvPr/>
        </p:nvSpPr>
        <p:spPr>
          <a:xfrm>
            <a:off x="640080" y="4846320"/>
            <a:ext cx="3383280" cy="411480"/>
          </a:xfrm>
          <a:prstGeom prst="rect">
            <a:avLst/>
          </a:prstGeom>
          <a:noFill/>
          <a:ln/>
        </p:spPr>
        <p:txBody>
          <a:bodyPr wrap="square" lIns="0" tIns="0" rIns="0" bIns="0" rtlCol="0" anchor="t"/>
          <a:lstStyle/>
          <a:p>
            <a:pPr indent="0" marL="0">
              <a:buNone/>
            </a:pPr>
            <a:r>
              <a:rPr lang="en-US" sz="2200" b="1" dirty="0">
                <a:solidFill>
                  <a:schemeClr val="bg1"/>
                </a:solidFill>
                <a:latin typeface="Helvetica Neue" pitchFamily="34" charset="0"/>
                <a:ea typeface="Helvetica Neue" pitchFamily="34" charset="-122"/>
                <a:cs typeface="Helvetica Neue" pitchFamily="34" charset="-120"/>
              </a:rPr>
              <a:t>Confidently wrong</a:t>
            </a:r>
            <a:endParaRPr lang="en-US" sz="2200" dirty="0"/>
          </a:p>
        </p:txBody>
      </p:sp>
      <p:sp>
        <p:nvSpPr>
          <p:cNvPr id="14" name="Text 8"/>
          <p:cNvSpPr txBox="1"/>
          <p:nvPr/>
        </p:nvSpPr>
        <p:spPr>
          <a:xfrm>
            <a:off x="640080" y="5303520"/>
            <a:ext cx="3383280" cy="640080"/>
          </a:xfrm>
          <a:prstGeom prst="rect">
            <a:avLst/>
          </a:prstGeom>
          <a:noFill/>
          <a:ln/>
        </p:spPr>
        <p:txBody>
          <a:bodyPr wrap="square" lIns="0" tIns="0" rIns="0" bIns="0" rtlCol="0" anchor="t"/>
          <a:lstStyle/>
          <a:p>
            <a:pPr indent="0" marL="0">
              <a:buNone/>
            </a:pPr>
            <a:r>
              <a:rPr lang="en-US" sz="1600" dirty="0">
                <a:solidFill>
                  <a:srgbClr val="86868B"/>
                </a:solidFill>
                <a:latin typeface="Helvetica Neue" pitchFamily="34" charset="0"/>
                <a:ea typeface="Helvetica Neue" pitchFamily="34" charset="-122"/>
                <a:cs typeface="Helvetica Neue" pitchFamily="34" charset="-120"/>
              </a:rPr>
              <a:t>Green tests that test nothing.</a:t>
            </a:r>
            <a:endParaRPr lang="en-US" sz="1600" dirty="0"/>
          </a:p>
        </p:txBody>
      </p:sp>
      <p:pic>
        <p:nvPicPr>
          <p:cNvPr id="15" name="pitfall 5 icon" descr="pitfall 5">    </p:cNvPr>
          <p:cNvPicPr>
            <a:picLocks noChangeAspect="1"/>
          </p:cNvPicPr>
          <p:nvPr/>
        </p:nvPicPr>
        <p:blipFill>
          <a:blip r:embed="rId5"/>
          <a:stretch>
            <a:fillRect/>
          </a:stretch>
        </p:blipFill>
        <p:spPr>
          <a:xfrm>
            <a:off x="4343400" y="4069080"/>
            <a:ext cx="548640" cy="548640"/>
          </a:xfrm>
          <a:prstGeom prst="rect">
            <a:avLst/>
          </a:prstGeom>
        </p:spPr>
      </p:pic>
      <p:sp>
        <p:nvSpPr>
          <p:cNvPr id="16" name="Text 9"/>
          <p:cNvSpPr txBox="1"/>
          <p:nvPr/>
        </p:nvSpPr>
        <p:spPr>
          <a:xfrm>
            <a:off x="4343400" y="4846320"/>
            <a:ext cx="3383280" cy="411480"/>
          </a:xfrm>
          <a:prstGeom prst="rect">
            <a:avLst/>
          </a:prstGeom>
          <a:noFill/>
          <a:ln/>
        </p:spPr>
        <p:txBody>
          <a:bodyPr wrap="square" lIns="0" tIns="0" rIns="0" bIns="0" rtlCol="0" anchor="t"/>
          <a:lstStyle/>
          <a:p>
            <a:pPr indent="0" marL="0">
              <a:buNone/>
            </a:pPr>
            <a:r>
              <a:rPr lang="en-US" sz="2200" b="1" dirty="0">
                <a:solidFill>
                  <a:schemeClr val="bg1"/>
                </a:solidFill>
                <a:latin typeface="Helvetica Neue" pitchFamily="34" charset="0"/>
                <a:ea typeface="Helvetica Neue" pitchFamily="34" charset="-122"/>
                <a:cs typeface="Helvetica Neue" pitchFamily="34" charset="-120"/>
              </a:rPr>
              <a:t>Agents in the dark</a:t>
            </a:r>
            <a:endParaRPr lang="en-US" sz="2200" dirty="0"/>
          </a:p>
        </p:txBody>
      </p:sp>
      <p:sp>
        <p:nvSpPr>
          <p:cNvPr id="17" name="Text 10"/>
          <p:cNvSpPr txBox="1"/>
          <p:nvPr/>
        </p:nvSpPr>
        <p:spPr>
          <a:xfrm>
            <a:off x="4343400" y="5303520"/>
            <a:ext cx="3383280" cy="640080"/>
          </a:xfrm>
          <a:prstGeom prst="rect">
            <a:avLst/>
          </a:prstGeom>
          <a:noFill/>
          <a:ln/>
        </p:spPr>
        <p:txBody>
          <a:bodyPr wrap="square" lIns="0" tIns="0" rIns="0" bIns="0" rtlCol="0" anchor="t"/>
          <a:lstStyle/>
          <a:p>
            <a:pPr indent="0" marL="0">
              <a:buNone/>
            </a:pPr>
            <a:r>
              <a:rPr lang="en-US" sz="1600" dirty="0">
                <a:solidFill>
                  <a:srgbClr val="86868B"/>
                </a:solidFill>
                <a:latin typeface="Helvetica Neue" pitchFamily="34" charset="0"/>
                <a:ea typeface="Helvetica Neue" pitchFamily="34" charset="-122"/>
                <a:cs typeface="Helvetica Neue" pitchFamily="34" charset="-120"/>
              </a:rPr>
              <a:t>Five terminals. Which one is stuck?</a:t>
            </a:r>
            <a:endParaRPr lang="en-US" sz="1600" dirty="0"/>
          </a:p>
        </p:txBody>
      </p:sp>
      <p:pic>
        <p:nvPicPr>
          <p:cNvPr id="18" name="pitfall 6 icon" descr="pitfall 6">    </p:cNvPr>
          <p:cNvPicPr>
            <a:picLocks noChangeAspect="1"/>
          </p:cNvPicPr>
          <p:nvPr/>
        </p:nvPicPr>
        <p:blipFill>
          <a:blip r:embed="rId6"/>
          <a:stretch>
            <a:fillRect/>
          </a:stretch>
        </p:blipFill>
        <p:spPr>
          <a:xfrm>
            <a:off x="8046720" y="4069080"/>
            <a:ext cx="548640" cy="548640"/>
          </a:xfrm>
          <a:prstGeom prst="rect">
            <a:avLst/>
          </a:prstGeom>
        </p:spPr>
      </p:pic>
      <p:sp>
        <p:nvSpPr>
          <p:cNvPr id="19" name="Text 11"/>
          <p:cNvSpPr txBox="1"/>
          <p:nvPr/>
        </p:nvSpPr>
        <p:spPr>
          <a:xfrm>
            <a:off x="8046720" y="4846320"/>
            <a:ext cx="3383280" cy="411480"/>
          </a:xfrm>
          <a:prstGeom prst="rect">
            <a:avLst/>
          </a:prstGeom>
          <a:noFill/>
          <a:ln/>
        </p:spPr>
        <p:txBody>
          <a:bodyPr wrap="square" lIns="0" tIns="0" rIns="0" bIns="0" rtlCol="0" anchor="t"/>
          <a:lstStyle/>
          <a:p>
            <a:pPr indent="0" marL="0">
              <a:buNone/>
            </a:pPr>
            <a:r>
              <a:rPr lang="en-US" sz="2200" b="1" dirty="0">
                <a:solidFill>
                  <a:schemeClr val="bg1"/>
                </a:solidFill>
                <a:latin typeface="Helvetica Neue" pitchFamily="34" charset="0"/>
                <a:ea typeface="Helvetica Neue" pitchFamily="34" charset="-122"/>
                <a:cs typeface="Helvetica Neue" pitchFamily="34" charset="-120"/>
              </a:rPr>
              <a:t>Unseen pushes</a:t>
            </a:r>
            <a:endParaRPr lang="en-US" sz="2200" dirty="0"/>
          </a:p>
        </p:txBody>
      </p:sp>
      <p:sp>
        <p:nvSpPr>
          <p:cNvPr id="20" name="Text 12"/>
          <p:cNvSpPr txBox="1"/>
          <p:nvPr/>
        </p:nvSpPr>
        <p:spPr>
          <a:xfrm>
            <a:off x="8046720" y="5303520"/>
            <a:ext cx="3383280" cy="640080"/>
          </a:xfrm>
          <a:prstGeom prst="rect">
            <a:avLst/>
          </a:prstGeom>
          <a:noFill/>
          <a:ln/>
        </p:spPr>
        <p:txBody>
          <a:bodyPr wrap="square" lIns="0" tIns="0" rIns="0" bIns="0" rtlCol="0" anchor="t"/>
          <a:lstStyle/>
          <a:p>
            <a:pPr indent="0" marL="0">
              <a:buNone/>
            </a:pPr>
            <a:r>
              <a:rPr lang="en-US" sz="1600" dirty="0">
                <a:solidFill>
                  <a:srgbClr val="86868B"/>
                </a:solidFill>
                <a:latin typeface="Helvetica Neue" pitchFamily="34" charset="0"/>
                <a:ea typeface="Helvetica Neue" pitchFamily="34" charset="-122"/>
                <a:cs typeface="Helvetica Neue" pitchFamily="34" charset="-120"/>
              </a:rPr>
              <a:t>Code leaves before anyone looks.</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Six layers. Each with one job.</a:t>
            </a:r>
            <a:endParaRPr lang="en-US" sz="3600" dirty="0"/>
          </a:p>
        </p:txBody>
      </p:sp>
      <p:sp>
        <p:nvSpPr>
          <p:cNvPr id="3" name="layer Podium"/>
          <p:cNvSpPr/>
          <p:nvPr/>
        </p:nvSpPr>
        <p:spPr>
          <a:xfrm>
            <a:off x="640080" y="1600200"/>
            <a:ext cx="3840480" cy="621792"/>
          </a:xfrm>
          <a:prstGeom prst="roundRect">
            <a:avLst>
              <a:gd name="adj" fmla="val 50000"/>
            </a:avLst>
          </a:prstGeom>
          <a:solidFill>
            <a:srgbClr val="1D1D1F"/>
          </a:solidFill>
          <a:ln/>
          <a:effectLst>
            <a:outerShdw sx="100000" sy="100000" kx="0" ky="0" algn="bl" rotWithShape="0" blurRad="152400" dist="38100" dir="5400000">
              <a:srgbClr val="000000">
                <a:alpha val="12000"/>
              </a:srgbClr>
            </a:outerShdw>
          </a:effectLst>
        </p:spPr>
      </p:sp>
      <p:sp>
        <p:nvSpPr>
          <p:cNvPr id="4" name="Text 2"/>
          <p:cNvSpPr txBox="1"/>
          <p:nvPr/>
        </p:nvSpPr>
        <p:spPr>
          <a:xfrm>
            <a:off x="640080" y="1600200"/>
            <a:ext cx="3840480" cy="621792"/>
          </a:xfrm>
          <a:prstGeom prst="rect">
            <a:avLst/>
          </a:prstGeom>
          <a:noFill/>
          <a:ln/>
        </p:spPr>
        <p:txBody>
          <a:bodyPr wrap="square" lIns="0" tIns="0" rIns="0" bIns="0" rtlCol="0" anchor="ctr"/>
          <a:lstStyle/>
          <a:p>
            <a:pPr algn="ctr" indent="0" marL="0">
              <a:buNone/>
            </a:pPr>
            <a:r>
              <a:rPr lang="en-US" sz="1800" b="1" dirty="0">
                <a:solidFill>
                  <a:schemeClr val="bg1"/>
                </a:solidFill>
                <a:latin typeface="Helvetica Neue" pitchFamily="34" charset="0"/>
                <a:ea typeface="Helvetica Neue" pitchFamily="34" charset="-122"/>
                <a:cs typeface="Helvetica Neue" pitchFamily="34" charset="-120"/>
              </a:rPr>
              <a:t>Podium</a:t>
            </a:r>
            <a:endParaRPr lang="en-US" sz="1800" dirty="0"/>
          </a:p>
        </p:txBody>
      </p:sp>
      <p:sp>
        <p:nvSpPr>
          <p:cNvPr id="5" name="Text 3"/>
          <p:cNvSpPr txBox="1"/>
          <p:nvPr/>
        </p:nvSpPr>
        <p:spPr>
          <a:xfrm>
            <a:off x="4937760" y="1600200"/>
            <a:ext cx="6613855" cy="621792"/>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The control room  </a:t>
            </a:r>
            <a:pPr indent="0" marL="0">
              <a:buNone/>
            </a:pPr>
            <a:r>
              <a:rPr lang="en-US" sz="1700" dirty="0">
                <a:solidFill>
                  <a:srgbClr val="6E6E73"/>
                </a:solidFill>
                <a:latin typeface="Helvetica Neue" pitchFamily="34" charset="0"/>
                <a:ea typeface="Helvetica Neue" pitchFamily="34" charset="-122"/>
                <a:cs typeface="Helvetica Neue" pitchFamily="34" charset="-120"/>
              </a:rPr>
              <a:t>A live dashboard and CLI over the whole run.</a:t>
            </a:r>
            <a:endParaRPr lang="en-US" sz="1700" dirty="0"/>
          </a:p>
        </p:txBody>
      </p:sp>
      <p:sp>
        <p:nvSpPr>
          <p:cNvPr id="6" name="layer Shell"/>
          <p:cNvSpPr/>
          <p:nvPr/>
        </p:nvSpPr>
        <p:spPr>
          <a:xfrm>
            <a:off x="640080" y="2377440"/>
            <a:ext cx="3840480" cy="621792"/>
          </a:xfrm>
          <a:prstGeom prst="roundRect">
            <a:avLst>
              <a:gd name="adj" fmla="val 50000"/>
            </a:avLst>
          </a:prstGeom>
          <a:solidFill>
            <a:srgbClr val="0071E3"/>
          </a:solidFill>
          <a:ln/>
          <a:effectLst>
            <a:outerShdw sx="100000" sy="100000" kx="0" ky="0" algn="bl" rotWithShape="0" blurRad="152400" dist="38100" dir="5400000">
              <a:srgbClr val="000000">
                <a:alpha val="12000"/>
              </a:srgbClr>
            </a:outerShdw>
          </a:effectLst>
        </p:spPr>
      </p:sp>
      <p:sp>
        <p:nvSpPr>
          <p:cNvPr id="7" name="Text 5"/>
          <p:cNvSpPr txBox="1"/>
          <p:nvPr/>
        </p:nvSpPr>
        <p:spPr>
          <a:xfrm>
            <a:off x="640080" y="2377440"/>
            <a:ext cx="3840480" cy="621792"/>
          </a:xfrm>
          <a:prstGeom prst="rect">
            <a:avLst/>
          </a:prstGeom>
          <a:noFill/>
          <a:ln/>
        </p:spPr>
        <p:txBody>
          <a:bodyPr wrap="square" lIns="0" tIns="0" rIns="0" bIns="0" rtlCol="0" anchor="ctr"/>
          <a:lstStyle/>
          <a:p>
            <a:pPr algn="ctr" indent="0" marL="0">
              <a:buNone/>
            </a:pPr>
            <a:r>
              <a:rPr lang="en-US" sz="1800" b="1" dirty="0">
                <a:solidFill>
                  <a:schemeClr val="bg1"/>
                </a:solidFill>
                <a:latin typeface="Helvetica Neue" pitchFamily="34" charset="0"/>
                <a:ea typeface="Helvetica Neue" pitchFamily="34" charset="-122"/>
                <a:cs typeface="Helvetica Neue" pitchFamily="34" charset="-120"/>
              </a:rPr>
              <a:t>Shell</a:t>
            </a:r>
            <a:endParaRPr lang="en-US" sz="1800" dirty="0"/>
          </a:p>
        </p:txBody>
      </p:sp>
      <p:sp>
        <p:nvSpPr>
          <p:cNvPr id="8" name="Text 6"/>
          <p:cNvSpPr txBox="1"/>
          <p:nvPr/>
        </p:nvSpPr>
        <p:spPr>
          <a:xfrm>
            <a:off x="4937760" y="2377440"/>
            <a:ext cx="6613855" cy="621792"/>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orchestrate-deep-plans  </a:t>
            </a:r>
            <a:pPr indent="0" marL="0">
              <a:buNone/>
            </a:pPr>
            <a:r>
              <a:rPr lang="en-US" sz="1700" dirty="0">
                <a:solidFill>
                  <a:srgbClr val="6E6E73"/>
                </a:solidFill>
                <a:latin typeface="Helvetica Neue" pitchFamily="34" charset="0"/>
                <a:ea typeface="Helvetica Neue" pitchFamily="34" charset="-122"/>
                <a:cs typeface="Helvetica Neue" pitchFamily="34" charset="-120"/>
              </a:rPr>
              <a:t>Epics to stories, built in parallel.</a:t>
            </a:r>
            <a:endParaRPr lang="en-US" sz="1700" dirty="0"/>
          </a:p>
        </p:txBody>
      </p:sp>
      <p:sp>
        <p:nvSpPr>
          <p:cNvPr id="9" name="layer Planner"/>
          <p:cNvSpPr/>
          <p:nvPr/>
        </p:nvSpPr>
        <p:spPr>
          <a:xfrm>
            <a:off x="640080" y="3154680"/>
            <a:ext cx="3840480" cy="621792"/>
          </a:xfrm>
          <a:prstGeom prst="roundRect">
            <a:avLst>
              <a:gd name="adj" fmla="val 50000"/>
            </a:avLst>
          </a:prstGeom>
          <a:solidFill>
            <a:srgbClr val="AF52DE"/>
          </a:solidFill>
          <a:ln/>
          <a:effectLst>
            <a:outerShdw sx="100000" sy="100000" kx="0" ky="0" algn="bl" rotWithShape="0" blurRad="152400" dist="38100" dir="5400000">
              <a:srgbClr val="000000">
                <a:alpha val="12000"/>
              </a:srgbClr>
            </a:outerShdw>
          </a:effectLst>
        </p:spPr>
      </p:sp>
      <p:sp>
        <p:nvSpPr>
          <p:cNvPr id="10" name="Text 8"/>
          <p:cNvSpPr txBox="1"/>
          <p:nvPr/>
        </p:nvSpPr>
        <p:spPr>
          <a:xfrm>
            <a:off x="640080" y="3154680"/>
            <a:ext cx="3840480" cy="621792"/>
          </a:xfrm>
          <a:prstGeom prst="rect">
            <a:avLst/>
          </a:prstGeom>
          <a:noFill/>
          <a:ln/>
        </p:spPr>
        <p:txBody>
          <a:bodyPr wrap="square" lIns="0" tIns="0" rIns="0" bIns="0" rtlCol="0" anchor="ctr"/>
          <a:lstStyle/>
          <a:p>
            <a:pPr algn="ctr" indent="0" marL="0">
              <a:buNone/>
            </a:pPr>
            <a:r>
              <a:rPr lang="en-US" sz="1800" b="1" dirty="0">
                <a:solidFill>
                  <a:schemeClr val="bg1"/>
                </a:solidFill>
                <a:latin typeface="Helvetica Neue" pitchFamily="34" charset="0"/>
                <a:ea typeface="Helvetica Neue" pitchFamily="34" charset="-122"/>
                <a:cs typeface="Helvetica Neue" pitchFamily="34" charset="-120"/>
              </a:rPr>
              <a:t>Planner</a:t>
            </a:r>
            <a:endParaRPr lang="en-US" sz="1800" dirty="0"/>
          </a:p>
        </p:txBody>
      </p:sp>
      <p:sp>
        <p:nvSpPr>
          <p:cNvPr id="11" name="Text 9"/>
          <p:cNvSpPr txBox="1"/>
          <p:nvPr/>
        </p:nvSpPr>
        <p:spPr>
          <a:xfrm>
            <a:off x="4937760" y="3154680"/>
            <a:ext cx="6613855" cy="621792"/>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deep-plan  </a:t>
            </a:r>
            <a:pPr indent="0" marL="0">
              <a:buNone/>
            </a:pPr>
            <a:r>
              <a:rPr lang="en-US" sz="1700" dirty="0">
                <a:solidFill>
                  <a:srgbClr val="6E6E73"/>
                </a:solidFill>
                <a:latin typeface="Helvetica Neue" pitchFamily="34" charset="0"/>
                <a:ea typeface="Helvetica Neue" pitchFamily="34" charset="-122"/>
                <a:cs typeface="Helvetica Neue" pitchFamily="34" charset="-120"/>
              </a:rPr>
              <a:t>One feature from recon to a merged PR.</a:t>
            </a:r>
            <a:endParaRPr lang="en-US" sz="1700" dirty="0"/>
          </a:p>
        </p:txBody>
      </p:sp>
      <p:sp>
        <p:nvSpPr>
          <p:cNvPr id="12" name="layer Leaf skills"/>
          <p:cNvSpPr/>
          <p:nvPr/>
        </p:nvSpPr>
        <p:spPr>
          <a:xfrm>
            <a:off x="640080" y="3931920"/>
            <a:ext cx="3840480" cy="621792"/>
          </a:xfrm>
          <a:prstGeom prst="roundRect">
            <a:avLst>
              <a:gd name="adj" fmla="val 50000"/>
            </a:avLst>
          </a:prstGeom>
          <a:solidFill>
            <a:srgbClr val="28A745"/>
          </a:solidFill>
          <a:ln/>
          <a:effectLst>
            <a:outerShdw sx="100000" sy="100000" kx="0" ky="0" algn="bl" rotWithShape="0" blurRad="152400" dist="38100" dir="5400000">
              <a:srgbClr val="000000">
                <a:alpha val="12000"/>
              </a:srgbClr>
            </a:outerShdw>
          </a:effectLst>
        </p:spPr>
      </p:sp>
      <p:sp>
        <p:nvSpPr>
          <p:cNvPr id="13" name="Text 11"/>
          <p:cNvSpPr txBox="1"/>
          <p:nvPr/>
        </p:nvSpPr>
        <p:spPr>
          <a:xfrm>
            <a:off x="640080" y="3931920"/>
            <a:ext cx="3840480" cy="621792"/>
          </a:xfrm>
          <a:prstGeom prst="rect">
            <a:avLst/>
          </a:prstGeom>
          <a:noFill/>
          <a:ln/>
        </p:spPr>
        <p:txBody>
          <a:bodyPr wrap="square" lIns="0" tIns="0" rIns="0" bIns="0" rtlCol="0" anchor="ctr"/>
          <a:lstStyle/>
          <a:p>
            <a:pPr algn="ctr" indent="0" marL="0">
              <a:buNone/>
            </a:pPr>
            <a:r>
              <a:rPr lang="en-US" sz="1800" b="1" dirty="0">
                <a:solidFill>
                  <a:schemeClr val="bg1"/>
                </a:solidFill>
                <a:latin typeface="Helvetica Neue" pitchFamily="34" charset="0"/>
                <a:ea typeface="Helvetica Neue" pitchFamily="34" charset="-122"/>
                <a:cs typeface="Helvetica Neue" pitchFamily="34" charset="-120"/>
              </a:rPr>
              <a:t>Leaf skills</a:t>
            </a:r>
            <a:endParaRPr lang="en-US" sz="1800" dirty="0"/>
          </a:p>
        </p:txBody>
      </p:sp>
      <p:sp>
        <p:nvSpPr>
          <p:cNvPr id="14" name="Text 12"/>
          <p:cNvSpPr txBox="1"/>
          <p:nvPr/>
        </p:nvSpPr>
        <p:spPr>
          <a:xfrm>
            <a:off x="4937760" y="3931920"/>
            <a:ext cx="6613855" cy="621792"/>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Swappable one by one  </a:t>
            </a:r>
            <a:pPr indent="0" marL="0">
              <a:buNone/>
            </a:pPr>
            <a:r>
              <a:rPr lang="en-US" sz="1700" dirty="0">
                <a:solidFill>
                  <a:srgbClr val="6E6E73"/>
                </a:solidFill>
                <a:latin typeface="Helvetica Neue" pitchFamily="34" charset="0"/>
                <a:ea typeface="Helvetica Neue" pitchFamily="34" charset="-122"/>
                <a:cs typeface="Helvetica Neue" pitchFamily="34" charset="-120"/>
              </a:rPr>
              <a:t>grilling, tdd, deep-qa, create-deep-pr.</a:t>
            </a:r>
            <a:endParaRPr lang="en-US" sz="1700" dirty="0"/>
          </a:p>
        </p:txBody>
      </p:sp>
      <p:sp>
        <p:nvSpPr>
          <p:cNvPr id="15" name="layer Runtime"/>
          <p:cNvSpPr/>
          <p:nvPr/>
        </p:nvSpPr>
        <p:spPr>
          <a:xfrm>
            <a:off x="640080" y="4709160"/>
            <a:ext cx="3840480" cy="621792"/>
          </a:xfrm>
          <a:prstGeom prst="roundRect">
            <a:avLst>
              <a:gd name="adj" fmla="val 50000"/>
            </a:avLst>
          </a:prstGeom>
          <a:solidFill>
            <a:srgbClr val="FF9500"/>
          </a:solidFill>
          <a:ln/>
          <a:effectLst>
            <a:outerShdw sx="100000" sy="100000" kx="0" ky="0" algn="bl" rotWithShape="0" blurRad="152400" dist="38100" dir="5400000">
              <a:srgbClr val="000000">
                <a:alpha val="12000"/>
              </a:srgbClr>
            </a:outerShdw>
          </a:effectLst>
        </p:spPr>
      </p:sp>
      <p:sp>
        <p:nvSpPr>
          <p:cNvPr id="16" name="Text 14"/>
          <p:cNvSpPr txBox="1"/>
          <p:nvPr/>
        </p:nvSpPr>
        <p:spPr>
          <a:xfrm>
            <a:off x="640080" y="4709160"/>
            <a:ext cx="3840480" cy="621792"/>
          </a:xfrm>
          <a:prstGeom prst="rect">
            <a:avLst/>
          </a:prstGeom>
          <a:noFill/>
          <a:ln/>
        </p:spPr>
        <p:txBody>
          <a:bodyPr wrap="square" lIns="0" tIns="0" rIns="0" bIns="0" rtlCol="0" anchor="ctr"/>
          <a:lstStyle/>
          <a:p>
            <a:pPr algn="ctr" indent="0" marL="0">
              <a:buNone/>
            </a:pPr>
            <a:r>
              <a:rPr lang="en-US" sz="1800" b="1" dirty="0">
                <a:solidFill>
                  <a:schemeClr val="bg1"/>
                </a:solidFill>
                <a:latin typeface="Helvetica Neue" pitchFamily="34" charset="0"/>
                <a:ea typeface="Helvetica Neue" pitchFamily="34" charset="-122"/>
                <a:cs typeface="Helvetica Neue" pitchFamily="34" charset="-120"/>
              </a:rPr>
              <a:t>Runtime</a:t>
            </a:r>
            <a:endParaRPr lang="en-US" sz="1800" dirty="0"/>
          </a:p>
        </p:txBody>
      </p:sp>
      <p:sp>
        <p:nvSpPr>
          <p:cNvPr id="17" name="Text 15"/>
          <p:cNvSpPr txBox="1"/>
          <p:nvPr/>
        </p:nvSpPr>
        <p:spPr>
          <a:xfrm>
            <a:off x="4937760" y="4709160"/>
            <a:ext cx="6613855" cy="621792"/>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Under every spawn  </a:t>
            </a:r>
            <a:pPr indent="0" marL="0">
              <a:buNone/>
            </a:pPr>
            <a:r>
              <a:rPr lang="en-US" sz="1700" dirty="0">
                <a:solidFill>
                  <a:srgbClr val="6E6E73"/>
                </a:solidFill>
                <a:latin typeface="Helvetica Neue" pitchFamily="34" charset="0"/>
                <a:ea typeface="Helvetica Neue" pitchFamily="34" charset="-122"/>
                <a:cs typeface="Helvetica Neue" pitchFamily="34" charset="-120"/>
              </a:rPr>
              <a:t>Paseo or Agent, model tiers, a contract.</a:t>
            </a:r>
            <a:endParaRPr lang="en-US" sz="1700" dirty="0"/>
          </a:p>
        </p:txBody>
      </p:sp>
      <p:sp>
        <p:nvSpPr>
          <p:cNvPr id="18" name="layer RTK"/>
          <p:cNvSpPr/>
          <p:nvPr/>
        </p:nvSpPr>
        <p:spPr>
          <a:xfrm>
            <a:off x="640080" y="5486400"/>
            <a:ext cx="3840480" cy="621792"/>
          </a:xfrm>
          <a:prstGeom prst="roundRect">
            <a:avLst>
              <a:gd name="adj" fmla="val 50000"/>
            </a:avLst>
          </a:prstGeom>
          <a:solidFill>
            <a:srgbClr val="30B0C7"/>
          </a:solidFill>
          <a:ln/>
          <a:effectLst>
            <a:outerShdw sx="100000" sy="100000" kx="0" ky="0" algn="bl" rotWithShape="0" blurRad="152400" dist="38100" dir="5400000">
              <a:srgbClr val="000000">
                <a:alpha val="12000"/>
              </a:srgbClr>
            </a:outerShdw>
          </a:effectLst>
        </p:spPr>
      </p:sp>
      <p:sp>
        <p:nvSpPr>
          <p:cNvPr id="19" name="Text 17"/>
          <p:cNvSpPr txBox="1"/>
          <p:nvPr/>
        </p:nvSpPr>
        <p:spPr>
          <a:xfrm>
            <a:off x="640080" y="5486400"/>
            <a:ext cx="3840480" cy="621792"/>
          </a:xfrm>
          <a:prstGeom prst="rect">
            <a:avLst/>
          </a:prstGeom>
          <a:noFill/>
          <a:ln/>
        </p:spPr>
        <p:txBody>
          <a:bodyPr wrap="square" lIns="0" tIns="0" rIns="0" bIns="0" rtlCol="0" anchor="ctr"/>
          <a:lstStyle/>
          <a:p>
            <a:pPr algn="ctr" indent="0" marL="0">
              <a:buNone/>
            </a:pPr>
            <a:r>
              <a:rPr lang="en-US" sz="1800" b="1" dirty="0">
                <a:solidFill>
                  <a:schemeClr val="bg1"/>
                </a:solidFill>
                <a:latin typeface="Helvetica Neue" pitchFamily="34" charset="0"/>
                <a:ea typeface="Helvetica Neue" pitchFamily="34" charset="-122"/>
                <a:cs typeface="Helvetica Neue" pitchFamily="34" charset="-120"/>
              </a:rPr>
              <a:t>RTK</a:t>
            </a:r>
            <a:endParaRPr lang="en-US" sz="1800" dirty="0"/>
          </a:p>
        </p:txBody>
      </p:sp>
      <p:sp>
        <p:nvSpPr>
          <p:cNvPr id="20" name="Text 18"/>
          <p:cNvSpPr txBox="1"/>
          <p:nvPr/>
        </p:nvSpPr>
        <p:spPr>
          <a:xfrm>
            <a:off x="4937760" y="5486400"/>
            <a:ext cx="6613855" cy="621792"/>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Under every command  </a:t>
            </a:r>
            <a:pPr indent="0" marL="0">
              <a:buNone/>
            </a:pPr>
            <a:r>
              <a:rPr lang="en-US" sz="1700" dirty="0">
                <a:solidFill>
                  <a:srgbClr val="6E6E73"/>
                </a:solidFill>
                <a:latin typeface="Helvetica Neue" pitchFamily="34" charset="0"/>
                <a:ea typeface="Helvetica Neue" pitchFamily="34" charset="-122"/>
                <a:cs typeface="Helvetica Neue" pitchFamily="34" charset="-120"/>
              </a:rPr>
              <a:t>Trims output before the model reads it.</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Many agents in parallel. One plan.</a:t>
            </a:r>
            <a:endParaRPr lang="en-US" sz="3600" dirty="0"/>
          </a:p>
        </p:txBody>
      </p:sp>
      <p:sp>
        <p:nvSpPr>
          <p:cNvPr id="3" name="orchestrator"/>
          <p:cNvSpPr/>
          <p:nvPr/>
        </p:nvSpPr>
        <p:spPr>
          <a:xfrm>
            <a:off x="640080" y="2560320"/>
            <a:ext cx="2011680" cy="1005840"/>
          </a:xfrm>
          <a:prstGeom prst="roundRect">
            <a:avLst>
              <a:gd name="adj" fmla="val 18182"/>
            </a:avLst>
          </a:prstGeom>
          <a:solidFill>
            <a:srgbClr val="1D1D1F"/>
          </a:solidFill>
          <a:ln/>
          <a:effectLst>
            <a:outerShdw sx="100000" sy="100000" kx="0" ky="0" algn="bl" rotWithShape="0" blurRad="152400" dist="38100" dir="5400000">
              <a:srgbClr val="000000">
                <a:alpha val="12000"/>
              </a:srgbClr>
            </a:outerShdw>
          </a:effectLst>
        </p:spPr>
      </p:sp>
      <p:sp>
        <p:nvSpPr>
          <p:cNvPr id="4" name="Text 2"/>
          <p:cNvSpPr txBox="1"/>
          <p:nvPr/>
        </p:nvSpPr>
        <p:spPr>
          <a:xfrm>
            <a:off x="640080" y="2560320"/>
            <a:ext cx="2011680" cy="1005840"/>
          </a:xfrm>
          <a:prstGeom prst="rect">
            <a:avLst/>
          </a:prstGeom>
          <a:noFill/>
          <a:ln/>
        </p:spPr>
        <p:txBody>
          <a:bodyPr wrap="square" lIns="0" tIns="0" rIns="0" bIns="0" rtlCol="0" anchor="ctr"/>
          <a:lstStyle/>
          <a:p>
            <a:pPr algn="ctr" indent="0" marL="0">
              <a:buNone/>
            </a:pPr>
            <a:r>
              <a:rPr lang="en-US" sz="1700" b="1" dirty="0">
                <a:solidFill>
                  <a:schemeClr val="bg1"/>
                </a:solidFill>
                <a:latin typeface="Helvetica Neue" pitchFamily="34" charset="0"/>
                <a:ea typeface="Helvetica Neue" pitchFamily="34" charset="-122"/>
                <a:cs typeface="Helvetica Neue" pitchFamily="34" charset="-120"/>
              </a:rPr>
              <a:t>Orchestrator</a:t>
            </a:r>
            <a:endParaRPr lang="en-US" sz="1700" dirty="0"/>
          </a:p>
          <a:p>
            <a:pPr algn="ctr" indent="0" marL="0">
              <a:buNone/>
            </a:pPr>
            <a:r>
              <a:rPr lang="en-US" sz="1200" dirty="0">
                <a:solidFill>
                  <a:srgbClr val="AEAEB2"/>
                </a:solidFill>
                <a:latin typeface="Helvetica Neue" pitchFamily="34" charset="0"/>
                <a:ea typeface="Helvetica Neue" pitchFamily="34" charset="-122"/>
                <a:cs typeface="Helvetica Neue" pitchFamily="34" charset="-120"/>
              </a:rPr>
              <a:t>plans, dispatches, lands</a:t>
            </a:r>
            <a:endParaRPr lang="en-US" sz="1700" dirty="0"/>
          </a:p>
        </p:txBody>
      </p:sp>
      <p:sp>
        <p:nvSpPr>
          <p:cNvPr id="5" name="Text 3"/>
          <p:cNvSpPr txBox="1"/>
          <p:nvPr/>
        </p:nvSpPr>
        <p:spPr>
          <a:xfrm>
            <a:off x="3200400" y="1508760"/>
            <a:ext cx="1920240"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Wave 1</a:t>
            </a:r>
            <a:endParaRPr lang="en-US" sz="1300" dirty="0"/>
          </a:p>
        </p:txBody>
      </p:sp>
      <p:sp>
        <p:nvSpPr>
          <p:cNvPr id="6" name="story S1"/>
          <p:cNvSpPr/>
          <p:nvPr/>
        </p:nvSpPr>
        <p:spPr>
          <a:xfrm>
            <a:off x="3200400" y="1943100"/>
            <a:ext cx="1920240" cy="457200"/>
          </a:xfrm>
          <a:prstGeom prst="roundRect">
            <a:avLst>
              <a:gd name="adj" fmla="val 50000"/>
            </a:avLst>
          </a:prstGeom>
          <a:solidFill>
            <a:srgbClr val="0071E3">
              <a:alpha val="15000"/>
            </a:srgbClr>
          </a:solidFill>
          <a:ln/>
        </p:spPr>
      </p:sp>
      <p:sp>
        <p:nvSpPr>
          <p:cNvPr id="7" name="Text 5"/>
          <p:cNvSpPr txBox="1"/>
          <p:nvPr/>
        </p:nvSpPr>
        <p:spPr>
          <a:xfrm>
            <a:off x="3383280" y="1943100"/>
            <a:ext cx="1645920" cy="457200"/>
          </a:xfrm>
          <a:prstGeom prst="rect">
            <a:avLst/>
          </a:prstGeom>
          <a:noFill/>
          <a:ln/>
        </p:spPr>
        <p:txBody>
          <a:bodyPr wrap="square" lIns="0" tIns="0" rIns="0" bIns="0" rtlCol="0" anchor="ctr"/>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S1  </a:t>
            </a:r>
            <a:pPr indent="0" marL="0">
              <a:buNone/>
            </a:pPr>
            <a:r>
              <a:rPr lang="en-US" sz="1400" dirty="0">
                <a:solidFill>
                  <a:schemeClr val="tx1"/>
                </a:solidFill>
                <a:latin typeface="Helvetica Neue" pitchFamily="34" charset="0"/>
                <a:ea typeface="Helvetica Neue" pitchFamily="34" charset="-122"/>
                <a:cs typeface="Helvetica Neue" pitchFamily="34" charset="-120"/>
              </a:rPr>
              <a:t>Invite API</a:t>
            </a:r>
            <a:endParaRPr lang="en-US" sz="1400" dirty="0"/>
          </a:p>
        </p:txBody>
      </p:sp>
      <p:sp>
        <p:nvSpPr>
          <p:cNvPr id="8" name="story S2"/>
          <p:cNvSpPr/>
          <p:nvPr/>
        </p:nvSpPr>
        <p:spPr>
          <a:xfrm>
            <a:off x="3200400" y="2537460"/>
            <a:ext cx="1920240" cy="457200"/>
          </a:xfrm>
          <a:prstGeom prst="roundRect">
            <a:avLst>
              <a:gd name="adj" fmla="val 50000"/>
            </a:avLst>
          </a:prstGeom>
          <a:solidFill>
            <a:srgbClr val="0071E3">
              <a:alpha val="15000"/>
            </a:srgbClr>
          </a:solidFill>
          <a:ln/>
        </p:spPr>
      </p:sp>
      <p:sp>
        <p:nvSpPr>
          <p:cNvPr id="9" name="Text 7"/>
          <p:cNvSpPr txBox="1"/>
          <p:nvPr/>
        </p:nvSpPr>
        <p:spPr>
          <a:xfrm>
            <a:off x="3383280" y="2537460"/>
            <a:ext cx="1645920" cy="457200"/>
          </a:xfrm>
          <a:prstGeom prst="rect">
            <a:avLst/>
          </a:prstGeom>
          <a:noFill/>
          <a:ln/>
        </p:spPr>
        <p:txBody>
          <a:bodyPr wrap="square" lIns="0" tIns="0" rIns="0" bIns="0" rtlCol="0" anchor="ctr"/>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S2  </a:t>
            </a:r>
            <a:pPr indent="0" marL="0">
              <a:buNone/>
            </a:pPr>
            <a:r>
              <a:rPr lang="en-US" sz="1400" dirty="0">
                <a:solidFill>
                  <a:schemeClr val="tx1"/>
                </a:solidFill>
                <a:latin typeface="Helvetica Neue" pitchFamily="34" charset="0"/>
                <a:ea typeface="Helvetica Neue" pitchFamily="34" charset="-122"/>
                <a:cs typeface="Helvetica Neue" pitchFamily="34" charset="-120"/>
              </a:rPr>
              <a:t>Email sender</a:t>
            </a:r>
            <a:endParaRPr lang="en-US" sz="1400" dirty="0"/>
          </a:p>
        </p:txBody>
      </p:sp>
      <p:sp>
        <p:nvSpPr>
          <p:cNvPr id="10" name="story S3"/>
          <p:cNvSpPr/>
          <p:nvPr/>
        </p:nvSpPr>
        <p:spPr>
          <a:xfrm>
            <a:off x="3200400" y="3131820"/>
            <a:ext cx="1920240" cy="457200"/>
          </a:xfrm>
          <a:prstGeom prst="roundRect">
            <a:avLst>
              <a:gd name="adj" fmla="val 50000"/>
            </a:avLst>
          </a:prstGeom>
          <a:solidFill>
            <a:srgbClr val="AF52DE">
              <a:alpha val="15000"/>
            </a:srgbClr>
          </a:solidFill>
          <a:ln/>
        </p:spPr>
      </p:sp>
      <p:sp>
        <p:nvSpPr>
          <p:cNvPr id="11" name="Text 9"/>
          <p:cNvSpPr txBox="1"/>
          <p:nvPr/>
        </p:nvSpPr>
        <p:spPr>
          <a:xfrm>
            <a:off x="3383280" y="3131820"/>
            <a:ext cx="1645920" cy="457200"/>
          </a:xfrm>
          <a:prstGeom prst="rect">
            <a:avLst/>
          </a:prstGeom>
          <a:noFill/>
          <a:ln/>
        </p:spPr>
        <p:txBody>
          <a:bodyPr wrap="square" lIns="0" tIns="0" rIns="0" bIns="0" rtlCol="0" anchor="ctr"/>
          <a:lstStyle/>
          <a:p>
            <a:pPr indent="0" marL="0">
              <a:buNone/>
            </a:pPr>
            <a:r>
              <a:rPr lang="en-US" sz="1400" b="1" dirty="0">
                <a:solidFill>
                  <a:srgbClr val="AF52DE"/>
                </a:solidFill>
                <a:latin typeface="Helvetica Neue" pitchFamily="34" charset="0"/>
                <a:ea typeface="Helvetica Neue" pitchFamily="34" charset="-122"/>
                <a:cs typeface="Helvetica Neue" pitchFamily="34" charset="-120"/>
              </a:rPr>
              <a:t>S3  </a:t>
            </a:r>
            <a:pPr indent="0" marL="0">
              <a:buNone/>
            </a:pPr>
            <a:r>
              <a:rPr lang="en-US" sz="1400" dirty="0">
                <a:solidFill>
                  <a:schemeClr val="tx1"/>
                </a:solidFill>
                <a:latin typeface="Helvetica Neue" pitchFamily="34" charset="0"/>
                <a:ea typeface="Helvetica Neue" pitchFamily="34" charset="-122"/>
                <a:cs typeface="Helvetica Neue" pitchFamily="34" charset="-120"/>
              </a:rPr>
              <a:t>Billing math</a:t>
            </a:r>
            <a:endParaRPr lang="en-US" sz="1400" dirty="0"/>
          </a:p>
        </p:txBody>
      </p:sp>
      <p:sp>
        <p:nvSpPr>
          <p:cNvPr id="12" name="story S4"/>
          <p:cNvSpPr/>
          <p:nvPr/>
        </p:nvSpPr>
        <p:spPr>
          <a:xfrm>
            <a:off x="3200400" y="3726180"/>
            <a:ext cx="1920240" cy="457200"/>
          </a:xfrm>
          <a:prstGeom prst="roundRect">
            <a:avLst>
              <a:gd name="adj" fmla="val 50000"/>
            </a:avLst>
          </a:prstGeom>
          <a:solidFill>
            <a:srgbClr val="0071E3">
              <a:alpha val="15000"/>
            </a:srgbClr>
          </a:solidFill>
          <a:ln/>
        </p:spPr>
      </p:sp>
      <p:sp>
        <p:nvSpPr>
          <p:cNvPr id="13" name="Text 11"/>
          <p:cNvSpPr txBox="1"/>
          <p:nvPr/>
        </p:nvSpPr>
        <p:spPr>
          <a:xfrm>
            <a:off x="3383280" y="3726180"/>
            <a:ext cx="1645920" cy="457200"/>
          </a:xfrm>
          <a:prstGeom prst="rect">
            <a:avLst/>
          </a:prstGeom>
          <a:noFill/>
          <a:ln/>
        </p:spPr>
        <p:txBody>
          <a:bodyPr wrap="square" lIns="0" tIns="0" rIns="0" bIns="0" rtlCol="0" anchor="ctr"/>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S4  </a:t>
            </a:r>
            <a:pPr indent="0" marL="0">
              <a:buNone/>
            </a:pPr>
            <a:r>
              <a:rPr lang="en-US" sz="1400" dirty="0">
                <a:solidFill>
                  <a:schemeClr val="tx1"/>
                </a:solidFill>
                <a:latin typeface="Helvetica Neue" pitchFamily="34" charset="0"/>
                <a:ea typeface="Helvetica Neue" pitchFamily="34" charset="-122"/>
                <a:cs typeface="Helvetica Neue" pitchFamily="34" charset="-120"/>
              </a:rPr>
              <a:t>Settings UI</a:t>
            </a:r>
            <a:endParaRPr lang="en-US" sz="1400" dirty="0"/>
          </a:p>
        </p:txBody>
      </p:sp>
      <p:sp>
        <p:nvSpPr>
          <p:cNvPr id="14" name="Text 12"/>
          <p:cNvSpPr txBox="1"/>
          <p:nvPr/>
        </p:nvSpPr>
        <p:spPr>
          <a:xfrm>
            <a:off x="5669280" y="1508760"/>
            <a:ext cx="1920240"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Wave 2</a:t>
            </a:r>
            <a:endParaRPr lang="en-US" sz="1300" dirty="0"/>
          </a:p>
        </p:txBody>
      </p:sp>
      <p:sp>
        <p:nvSpPr>
          <p:cNvPr id="15" name="story S5"/>
          <p:cNvSpPr/>
          <p:nvPr/>
        </p:nvSpPr>
        <p:spPr>
          <a:xfrm>
            <a:off x="5669280" y="2240280"/>
            <a:ext cx="1920240" cy="457200"/>
          </a:xfrm>
          <a:prstGeom prst="roundRect">
            <a:avLst>
              <a:gd name="adj" fmla="val 50000"/>
            </a:avLst>
          </a:prstGeom>
          <a:solidFill>
            <a:srgbClr val="0071E3">
              <a:alpha val="15000"/>
            </a:srgbClr>
          </a:solidFill>
          <a:ln/>
        </p:spPr>
      </p:sp>
      <p:sp>
        <p:nvSpPr>
          <p:cNvPr id="16" name="Text 14"/>
          <p:cNvSpPr txBox="1"/>
          <p:nvPr/>
        </p:nvSpPr>
        <p:spPr>
          <a:xfrm>
            <a:off x="5852160" y="2240280"/>
            <a:ext cx="1645920" cy="457200"/>
          </a:xfrm>
          <a:prstGeom prst="rect">
            <a:avLst/>
          </a:prstGeom>
          <a:noFill/>
          <a:ln/>
        </p:spPr>
        <p:txBody>
          <a:bodyPr wrap="square" lIns="0" tIns="0" rIns="0" bIns="0" rtlCol="0" anchor="ctr"/>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S5  </a:t>
            </a:r>
            <a:pPr indent="0" marL="0">
              <a:buNone/>
            </a:pPr>
            <a:r>
              <a:rPr lang="en-US" sz="1400" dirty="0">
                <a:solidFill>
                  <a:schemeClr val="tx1"/>
                </a:solidFill>
                <a:latin typeface="Helvetica Neue" pitchFamily="34" charset="0"/>
                <a:ea typeface="Helvetica Neue" pitchFamily="34" charset="-122"/>
                <a:cs typeface="Helvetica Neue" pitchFamily="34" charset="-120"/>
              </a:rPr>
              <a:t>Audit log</a:t>
            </a:r>
            <a:endParaRPr lang="en-US" sz="1400" dirty="0"/>
          </a:p>
        </p:txBody>
      </p:sp>
      <p:sp>
        <p:nvSpPr>
          <p:cNvPr id="17" name="story S6"/>
          <p:cNvSpPr/>
          <p:nvPr/>
        </p:nvSpPr>
        <p:spPr>
          <a:xfrm>
            <a:off x="5669280" y="2834640"/>
            <a:ext cx="1920240" cy="457200"/>
          </a:xfrm>
          <a:prstGeom prst="roundRect">
            <a:avLst>
              <a:gd name="adj" fmla="val 50000"/>
            </a:avLst>
          </a:prstGeom>
          <a:solidFill>
            <a:srgbClr val="0071E3">
              <a:alpha val="15000"/>
            </a:srgbClr>
          </a:solidFill>
          <a:ln/>
        </p:spPr>
      </p:sp>
      <p:sp>
        <p:nvSpPr>
          <p:cNvPr id="18" name="Text 16"/>
          <p:cNvSpPr txBox="1"/>
          <p:nvPr/>
        </p:nvSpPr>
        <p:spPr>
          <a:xfrm>
            <a:off x="5852160" y="2834640"/>
            <a:ext cx="1645920" cy="457200"/>
          </a:xfrm>
          <a:prstGeom prst="rect">
            <a:avLst/>
          </a:prstGeom>
          <a:noFill/>
          <a:ln/>
        </p:spPr>
        <p:txBody>
          <a:bodyPr wrap="square" lIns="0" tIns="0" rIns="0" bIns="0" rtlCol="0" anchor="ctr"/>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S6  </a:t>
            </a:r>
            <a:pPr indent="0" marL="0">
              <a:buNone/>
            </a:pPr>
            <a:r>
              <a:rPr lang="en-US" sz="1400" dirty="0">
                <a:solidFill>
                  <a:schemeClr val="tx1"/>
                </a:solidFill>
                <a:latin typeface="Helvetica Neue" pitchFamily="34" charset="0"/>
                <a:ea typeface="Helvetica Neue" pitchFamily="34" charset="-122"/>
                <a:cs typeface="Helvetica Neue" pitchFamily="34" charset="-120"/>
              </a:rPr>
              <a:t>Invite page</a:t>
            </a:r>
            <a:endParaRPr lang="en-US" sz="1400" dirty="0"/>
          </a:p>
        </p:txBody>
      </p:sp>
      <p:sp>
        <p:nvSpPr>
          <p:cNvPr id="19" name="story S7"/>
          <p:cNvSpPr/>
          <p:nvPr/>
        </p:nvSpPr>
        <p:spPr>
          <a:xfrm>
            <a:off x="5669280" y="3429000"/>
            <a:ext cx="1920240" cy="457200"/>
          </a:xfrm>
          <a:prstGeom prst="roundRect">
            <a:avLst>
              <a:gd name="adj" fmla="val 50000"/>
            </a:avLst>
          </a:prstGeom>
          <a:solidFill>
            <a:srgbClr val="AF52DE">
              <a:alpha val="15000"/>
            </a:srgbClr>
          </a:solidFill>
          <a:ln/>
        </p:spPr>
      </p:sp>
      <p:sp>
        <p:nvSpPr>
          <p:cNvPr id="20" name="Text 18"/>
          <p:cNvSpPr txBox="1"/>
          <p:nvPr/>
        </p:nvSpPr>
        <p:spPr>
          <a:xfrm>
            <a:off x="5852160" y="3429000"/>
            <a:ext cx="1645920" cy="457200"/>
          </a:xfrm>
          <a:prstGeom prst="rect">
            <a:avLst/>
          </a:prstGeom>
          <a:noFill/>
          <a:ln/>
        </p:spPr>
        <p:txBody>
          <a:bodyPr wrap="square" lIns="0" tIns="0" rIns="0" bIns="0" rtlCol="0" anchor="ctr"/>
          <a:lstStyle/>
          <a:p>
            <a:pPr indent="0" marL="0">
              <a:buNone/>
            </a:pPr>
            <a:r>
              <a:rPr lang="en-US" sz="1400" b="1" dirty="0">
                <a:solidFill>
                  <a:srgbClr val="AF52DE"/>
                </a:solidFill>
                <a:latin typeface="Helvetica Neue" pitchFamily="34" charset="0"/>
                <a:ea typeface="Helvetica Neue" pitchFamily="34" charset="-122"/>
                <a:cs typeface="Helvetica Neue" pitchFamily="34" charset="-120"/>
              </a:rPr>
              <a:t>S7  </a:t>
            </a:r>
            <a:pPr indent="0" marL="0">
              <a:buNone/>
            </a:pPr>
            <a:r>
              <a:rPr lang="en-US" sz="1400" dirty="0">
                <a:solidFill>
                  <a:schemeClr val="tx1"/>
                </a:solidFill>
                <a:latin typeface="Helvetica Neue" pitchFamily="34" charset="0"/>
                <a:ea typeface="Helvetica Neue" pitchFamily="34" charset="-122"/>
                <a:cs typeface="Helvetica Neue" pitchFamily="34" charset="-120"/>
              </a:rPr>
              <a:t>Migration</a:t>
            </a:r>
            <a:endParaRPr lang="en-US" sz="1400" dirty="0"/>
          </a:p>
        </p:txBody>
      </p:sp>
      <p:sp>
        <p:nvSpPr>
          <p:cNvPr id="21" name="Text 19"/>
          <p:cNvSpPr txBox="1"/>
          <p:nvPr/>
        </p:nvSpPr>
        <p:spPr>
          <a:xfrm>
            <a:off x="8138160" y="1508760"/>
            <a:ext cx="1920240"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Wave 3</a:t>
            </a:r>
            <a:endParaRPr lang="en-US" sz="1300" dirty="0"/>
          </a:p>
        </p:txBody>
      </p:sp>
      <p:sp>
        <p:nvSpPr>
          <p:cNvPr id="22" name="story S8"/>
          <p:cNvSpPr/>
          <p:nvPr/>
        </p:nvSpPr>
        <p:spPr>
          <a:xfrm>
            <a:off x="8138160" y="2537460"/>
            <a:ext cx="1920240" cy="457200"/>
          </a:xfrm>
          <a:prstGeom prst="roundRect">
            <a:avLst>
              <a:gd name="adj" fmla="val 50000"/>
            </a:avLst>
          </a:prstGeom>
          <a:solidFill>
            <a:srgbClr val="0071E3">
              <a:alpha val="15000"/>
            </a:srgbClr>
          </a:solidFill>
          <a:ln/>
        </p:spPr>
      </p:sp>
      <p:sp>
        <p:nvSpPr>
          <p:cNvPr id="23" name="Text 21"/>
          <p:cNvSpPr txBox="1"/>
          <p:nvPr/>
        </p:nvSpPr>
        <p:spPr>
          <a:xfrm>
            <a:off x="8321040" y="2537460"/>
            <a:ext cx="1645920" cy="457200"/>
          </a:xfrm>
          <a:prstGeom prst="rect">
            <a:avLst/>
          </a:prstGeom>
          <a:noFill/>
          <a:ln/>
        </p:spPr>
        <p:txBody>
          <a:bodyPr wrap="square" lIns="0" tIns="0" rIns="0" bIns="0" rtlCol="0" anchor="ctr"/>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S8  </a:t>
            </a:r>
            <a:pPr indent="0" marL="0">
              <a:buNone/>
            </a:pPr>
            <a:r>
              <a:rPr lang="en-US" sz="1400" dirty="0">
                <a:solidFill>
                  <a:schemeClr val="tx1"/>
                </a:solidFill>
                <a:latin typeface="Helvetica Neue" pitchFamily="34" charset="0"/>
                <a:ea typeface="Helvetica Neue" pitchFamily="34" charset="-122"/>
                <a:cs typeface="Helvetica Neue" pitchFamily="34" charset="-120"/>
              </a:rPr>
              <a:t>Onboarding</a:t>
            </a:r>
            <a:endParaRPr lang="en-US" sz="1400" dirty="0"/>
          </a:p>
        </p:txBody>
      </p:sp>
      <p:sp>
        <p:nvSpPr>
          <p:cNvPr id="24" name="story S9"/>
          <p:cNvSpPr/>
          <p:nvPr/>
        </p:nvSpPr>
        <p:spPr>
          <a:xfrm>
            <a:off x="8138160" y="3131820"/>
            <a:ext cx="1920240" cy="457200"/>
          </a:xfrm>
          <a:prstGeom prst="roundRect">
            <a:avLst>
              <a:gd name="adj" fmla="val 50000"/>
            </a:avLst>
          </a:prstGeom>
          <a:solidFill>
            <a:srgbClr val="0071E3">
              <a:alpha val="15000"/>
            </a:srgbClr>
          </a:solidFill>
          <a:ln/>
        </p:spPr>
      </p:sp>
      <p:sp>
        <p:nvSpPr>
          <p:cNvPr id="25" name="Text 23"/>
          <p:cNvSpPr txBox="1"/>
          <p:nvPr/>
        </p:nvSpPr>
        <p:spPr>
          <a:xfrm>
            <a:off x="8321040" y="3131820"/>
            <a:ext cx="1645920" cy="457200"/>
          </a:xfrm>
          <a:prstGeom prst="rect">
            <a:avLst/>
          </a:prstGeom>
          <a:noFill/>
          <a:ln/>
        </p:spPr>
        <p:txBody>
          <a:bodyPr wrap="square" lIns="0" tIns="0" rIns="0" bIns="0" rtlCol="0" anchor="ctr"/>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S9  </a:t>
            </a:r>
            <a:pPr indent="0" marL="0">
              <a:buNone/>
            </a:pPr>
            <a:r>
              <a:rPr lang="en-US" sz="1400" dirty="0">
                <a:solidFill>
                  <a:schemeClr val="tx1"/>
                </a:solidFill>
                <a:latin typeface="Helvetica Neue" pitchFamily="34" charset="0"/>
                <a:ea typeface="Helvetica Neue" pitchFamily="34" charset="-122"/>
                <a:cs typeface="Helvetica Neue" pitchFamily="34" charset="-120"/>
              </a:rPr>
              <a:t>End-to-end</a:t>
            </a:r>
            <a:endParaRPr lang="en-US" sz="1400" dirty="0"/>
          </a:p>
        </p:txBody>
      </p:sp>
      <p:sp>
        <p:nvSpPr>
          <p:cNvPr id="26" name="flow arrow 1"/>
          <p:cNvSpPr/>
          <p:nvPr/>
        </p:nvSpPr>
        <p:spPr>
          <a:xfrm>
            <a:off x="2743200" y="2953512"/>
            <a:ext cx="365760" cy="219456"/>
          </a:xfrm>
          <a:prstGeom prst="rightArrow">
            <a:avLst/>
          </a:prstGeom>
          <a:solidFill>
            <a:srgbClr val="D2D2D7"/>
          </a:solidFill>
          <a:ln/>
        </p:spPr>
      </p:sp>
      <p:sp>
        <p:nvSpPr>
          <p:cNvPr id="27" name="flow arrow 2"/>
          <p:cNvSpPr/>
          <p:nvPr/>
        </p:nvSpPr>
        <p:spPr>
          <a:xfrm>
            <a:off x="5212080" y="2953512"/>
            <a:ext cx="365760" cy="219456"/>
          </a:xfrm>
          <a:prstGeom prst="rightArrow">
            <a:avLst/>
          </a:prstGeom>
          <a:solidFill>
            <a:srgbClr val="D2D2D7"/>
          </a:solidFill>
          <a:ln/>
        </p:spPr>
      </p:sp>
      <p:sp>
        <p:nvSpPr>
          <p:cNvPr id="28" name="flow arrow 3"/>
          <p:cNvSpPr/>
          <p:nvPr/>
        </p:nvSpPr>
        <p:spPr>
          <a:xfrm>
            <a:off x="7680960" y="2953512"/>
            <a:ext cx="365760" cy="219456"/>
          </a:xfrm>
          <a:prstGeom prst="rightArrow">
            <a:avLst/>
          </a:prstGeom>
          <a:solidFill>
            <a:srgbClr val="D2D2D7"/>
          </a:solidFill>
          <a:ln/>
        </p:spPr>
      </p:sp>
      <p:sp>
        <p:nvSpPr>
          <p:cNvPr id="29" name="flow arrow 4"/>
          <p:cNvSpPr/>
          <p:nvPr/>
        </p:nvSpPr>
        <p:spPr>
          <a:xfrm>
            <a:off x="10149840" y="2953512"/>
            <a:ext cx="365760" cy="219456"/>
          </a:xfrm>
          <a:prstGeom prst="rightArrow">
            <a:avLst/>
          </a:prstGeom>
          <a:solidFill>
            <a:srgbClr val="D2D2D7"/>
          </a:solidFill>
          <a:ln/>
        </p:spPr>
      </p:sp>
      <p:sp>
        <p:nvSpPr>
          <p:cNvPr id="30" name="merged"/>
          <p:cNvSpPr/>
          <p:nvPr/>
        </p:nvSpPr>
        <p:spPr>
          <a:xfrm>
            <a:off x="10607040" y="2560320"/>
            <a:ext cx="944575" cy="1005840"/>
          </a:xfrm>
          <a:prstGeom prst="roundRect">
            <a:avLst>
              <a:gd name="adj" fmla="val 19361"/>
            </a:avLst>
          </a:prstGeom>
          <a:solidFill>
            <a:srgbClr val="28A745"/>
          </a:solidFill>
          <a:ln/>
        </p:spPr>
      </p:sp>
      <p:sp>
        <p:nvSpPr>
          <p:cNvPr id="31" name="Text 29"/>
          <p:cNvSpPr txBox="1"/>
          <p:nvPr/>
        </p:nvSpPr>
        <p:spPr>
          <a:xfrm>
            <a:off x="10607040" y="2560320"/>
            <a:ext cx="944575" cy="1005840"/>
          </a:xfrm>
          <a:prstGeom prst="rect">
            <a:avLst/>
          </a:prstGeom>
          <a:noFill/>
          <a:ln/>
        </p:spPr>
        <p:txBody>
          <a:bodyPr wrap="square" lIns="0" tIns="0" rIns="0" bIns="0" rtlCol="0" anchor="ctr"/>
          <a:lstStyle/>
          <a:p>
            <a:pPr algn="ctr" indent="0" marL="0">
              <a:buNone/>
            </a:pPr>
            <a:r>
              <a:rPr lang="en-US" sz="1500" b="1" dirty="0">
                <a:solidFill>
                  <a:schemeClr val="bg1"/>
                </a:solidFill>
                <a:latin typeface="Helvetica Neue" pitchFamily="34" charset="0"/>
                <a:ea typeface="Helvetica Neue" pitchFamily="34" charset="-122"/>
                <a:cs typeface="Helvetica Neue" pitchFamily="34" charset="-120"/>
              </a:rPr>
              <a:t>Merged</a:t>
            </a:r>
            <a:endParaRPr lang="en-US" sz="1500" dirty="0"/>
          </a:p>
        </p:txBody>
      </p:sp>
      <p:sp>
        <p:nvSpPr>
          <p:cNvPr id="32" name="legend Sonnet builds"/>
          <p:cNvSpPr/>
          <p:nvPr/>
        </p:nvSpPr>
        <p:spPr>
          <a:xfrm>
            <a:off x="640080" y="3904488"/>
            <a:ext cx="146304" cy="146304"/>
          </a:xfrm>
          <a:prstGeom prst="ellipse">
            <a:avLst/>
          </a:prstGeom>
          <a:solidFill>
            <a:srgbClr val="0071E3"/>
          </a:solidFill>
          <a:ln/>
        </p:spPr>
      </p:sp>
      <p:sp>
        <p:nvSpPr>
          <p:cNvPr id="33" name="Text 31"/>
          <p:cNvSpPr txBox="1"/>
          <p:nvPr/>
        </p:nvSpPr>
        <p:spPr>
          <a:xfrm>
            <a:off x="896112" y="3840480"/>
            <a:ext cx="2103120" cy="27432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Sonnet builds</a:t>
            </a:r>
            <a:endParaRPr lang="en-US" sz="1200" dirty="0"/>
          </a:p>
        </p:txBody>
      </p:sp>
      <p:sp>
        <p:nvSpPr>
          <p:cNvPr id="34" name="legend Opus where it matters"/>
          <p:cNvSpPr/>
          <p:nvPr/>
        </p:nvSpPr>
        <p:spPr>
          <a:xfrm>
            <a:off x="640080" y="4197096"/>
            <a:ext cx="146304" cy="146304"/>
          </a:xfrm>
          <a:prstGeom prst="ellipse">
            <a:avLst/>
          </a:prstGeom>
          <a:solidFill>
            <a:srgbClr val="AF52DE"/>
          </a:solidFill>
          <a:ln/>
        </p:spPr>
      </p:sp>
      <p:sp>
        <p:nvSpPr>
          <p:cNvPr id="35" name="Text 33"/>
          <p:cNvSpPr txBox="1"/>
          <p:nvPr/>
        </p:nvSpPr>
        <p:spPr>
          <a:xfrm>
            <a:off x="896112" y="4133088"/>
            <a:ext cx="2103120" cy="27432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Opus where it matters</a:t>
            </a:r>
            <a:endParaRPr lang="en-US" sz="1200" dirty="0"/>
          </a:p>
        </p:txBody>
      </p:sp>
      <p:sp>
        <p:nvSpPr>
          <p:cNvPr id="36" name="Text 34"/>
          <p:cNvSpPr txBox="1"/>
          <p:nvPr/>
        </p:nvSpPr>
        <p:spPr>
          <a:xfrm>
            <a:off x="640080" y="4709160"/>
            <a:ext cx="3362858" cy="594360"/>
          </a:xfrm>
          <a:prstGeom prst="rect">
            <a:avLst/>
          </a:prstGeom>
          <a:noFill/>
          <a:ln/>
        </p:spPr>
        <p:txBody>
          <a:bodyPr wrap="square" lIns="0" tIns="0" rIns="0" bIns="0" rtlCol="0" anchor="ctr"/>
          <a:lstStyle/>
          <a:p>
            <a:pPr indent="0" marL="0">
              <a:buNone/>
            </a:pPr>
            <a:r>
              <a:rPr lang="en-US" sz="3600" b="1" dirty="0">
                <a:solidFill>
                  <a:srgbClr val="0071E3"/>
                </a:solidFill>
                <a:latin typeface="Helvetica Neue" pitchFamily="34" charset="0"/>
                <a:ea typeface="Helvetica Neue" pitchFamily="34" charset="-122"/>
                <a:cs typeface="Helvetica Neue" pitchFamily="34" charset="-120"/>
              </a:rPr>
              <a:t>10</a:t>
            </a:r>
            <a:endParaRPr lang="en-US" sz="3600" dirty="0"/>
          </a:p>
        </p:txBody>
      </p:sp>
      <p:sp>
        <p:nvSpPr>
          <p:cNvPr id="37" name="Text 35"/>
          <p:cNvSpPr txBox="1"/>
          <p:nvPr/>
        </p:nvSpPr>
        <p:spPr>
          <a:xfrm>
            <a:off x="640080" y="5349240"/>
            <a:ext cx="3362858" cy="731520"/>
          </a:xfrm>
          <a:prstGeom prst="rect">
            <a:avLst/>
          </a:prstGeom>
          <a:noFill/>
          <a:ln/>
        </p:spPr>
        <p:txBody>
          <a:bodyPr wrap="square" lIns="0" tIns="0" rIns="0" bIns="0" rtlCol="0" anchor="t"/>
          <a:lstStyle/>
          <a:p>
            <a:pPr indent="0" marL="0">
              <a:buNone/>
            </a:pPr>
            <a:r>
              <a:rPr lang="en-US" sz="1500" b="1" dirty="0">
                <a:solidFill>
                  <a:schemeClr val="tx1"/>
                </a:solidFill>
                <a:latin typeface="Helvetica Neue" pitchFamily="34" charset="0"/>
                <a:ea typeface="Helvetica Neue" pitchFamily="34" charset="-122"/>
                <a:cs typeface="Helvetica Neue" pitchFamily="34" charset="-120"/>
              </a:rPr>
              <a:t>stories building at once</a:t>
            </a:r>
            <a:endParaRPr lang="en-US" sz="1500" dirty="0"/>
          </a:p>
          <a:p>
            <a:pPr indent="0" marL="0">
              <a:buNone/>
            </a:pPr>
            <a:r>
              <a:rPr lang="en-US" sz="1300" dirty="0">
                <a:solidFill>
                  <a:srgbClr val="6E6E73"/>
                </a:solidFill>
                <a:latin typeface="Helvetica Neue" pitchFamily="34" charset="0"/>
                <a:ea typeface="Helvetica Neue" pitchFamily="34" charset="-122"/>
                <a:cs typeface="Helvetica Neue" pitchFamily="34" charset="-120"/>
              </a:rPr>
              <a:t>Stories that share no files run side by side.</a:t>
            </a:r>
            <a:endParaRPr lang="en-US" sz="1500" dirty="0"/>
          </a:p>
        </p:txBody>
      </p:sp>
      <p:sp>
        <p:nvSpPr>
          <p:cNvPr id="38" name="Text 36"/>
          <p:cNvSpPr txBox="1"/>
          <p:nvPr/>
        </p:nvSpPr>
        <p:spPr>
          <a:xfrm>
            <a:off x="4277258" y="4709160"/>
            <a:ext cx="3362858" cy="594360"/>
          </a:xfrm>
          <a:prstGeom prst="rect">
            <a:avLst/>
          </a:prstGeom>
          <a:noFill/>
          <a:ln/>
        </p:spPr>
        <p:txBody>
          <a:bodyPr wrap="square" lIns="0" tIns="0" rIns="0" bIns="0" rtlCol="0" anchor="ctr"/>
          <a:lstStyle/>
          <a:p>
            <a:pPr indent="0" marL="0">
              <a:buNone/>
            </a:pPr>
            <a:r>
              <a:rPr lang="en-US" sz="3600" b="1" dirty="0">
                <a:solidFill>
                  <a:srgbClr val="28A745"/>
                </a:solidFill>
                <a:latin typeface="Helvetica Neue" pitchFamily="34" charset="0"/>
                <a:ea typeface="Helvetica Neue" pitchFamily="34" charset="-122"/>
                <a:cs typeface="Helvetica Neue" pitchFamily="34" charset="-120"/>
              </a:rPr>
              <a:t>7 min</a:t>
            </a:r>
            <a:endParaRPr lang="en-US" sz="3600" dirty="0"/>
          </a:p>
        </p:txBody>
      </p:sp>
      <p:sp>
        <p:nvSpPr>
          <p:cNvPr id="39" name="Text 37"/>
          <p:cNvSpPr txBox="1"/>
          <p:nvPr/>
        </p:nvSpPr>
        <p:spPr>
          <a:xfrm>
            <a:off x="4277258" y="5349240"/>
            <a:ext cx="3362858" cy="731520"/>
          </a:xfrm>
          <a:prstGeom prst="rect">
            <a:avLst/>
          </a:prstGeom>
          <a:noFill/>
          <a:ln/>
        </p:spPr>
        <p:txBody>
          <a:bodyPr wrap="square" lIns="0" tIns="0" rIns="0" bIns="0" rtlCol="0" anchor="t"/>
          <a:lstStyle/>
          <a:p>
            <a:pPr indent="0" marL="0">
              <a:buNone/>
            </a:pPr>
            <a:r>
              <a:rPr lang="en-US" sz="1500" b="1" dirty="0">
                <a:solidFill>
                  <a:schemeClr val="tx1"/>
                </a:solidFill>
                <a:latin typeface="Helvetica Neue" pitchFamily="34" charset="0"/>
                <a:ea typeface="Helvetica Neue" pitchFamily="34" charset="-122"/>
                <a:cs typeface="Helvetica Neue" pitchFamily="34" charset="-120"/>
              </a:rPr>
              <a:t>median story, dispatch to merge</a:t>
            </a:r>
            <a:endParaRPr lang="en-US" sz="1500" dirty="0"/>
          </a:p>
          <a:p>
            <a:pPr indent="0" marL="0">
              <a:buNone/>
            </a:pPr>
            <a:r>
              <a:rPr lang="en-US" sz="1300" dirty="0">
                <a:solidFill>
                  <a:srgbClr val="6E6E73"/>
                </a:solidFill>
                <a:latin typeface="Helvetica Neue" pitchFamily="34" charset="0"/>
                <a:ea typeface="Helvetica Neue" pitchFamily="34" charset="-122"/>
                <a:cs typeface="Helvetica Neue" pitchFamily="34" charset="-120"/>
              </a:rPr>
              <a:t>Each agent works in its own worktree and branch.</a:t>
            </a:r>
            <a:endParaRPr lang="en-US" sz="1500" dirty="0"/>
          </a:p>
        </p:txBody>
      </p:sp>
      <p:sp>
        <p:nvSpPr>
          <p:cNvPr id="40" name="Text 38"/>
          <p:cNvSpPr txBox="1"/>
          <p:nvPr/>
        </p:nvSpPr>
        <p:spPr>
          <a:xfrm>
            <a:off x="7914437" y="4709160"/>
            <a:ext cx="3362858" cy="594360"/>
          </a:xfrm>
          <a:prstGeom prst="rect">
            <a:avLst/>
          </a:prstGeom>
          <a:noFill/>
          <a:ln/>
        </p:spPr>
        <p:txBody>
          <a:bodyPr wrap="square" lIns="0" tIns="0" rIns="0" bIns="0" rtlCol="0" anchor="ctr"/>
          <a:lstStyle/>
          <a:p>
            <a:pPr indent="0" marL="0">
              <a:buNone/>
            </a:pPr>
            <a:r>
              <a:rPr lang="en-US" sz="3600" b="1" dirty="0">
                <a:solidFill>
                  <a:srgbClr val="AF52DE"/>
                </a:solidFill>
                <a:latin typeface="Helvetica Neue" pitchFamily="34" charset="0"/>
                <a:ea typeface="Helvetica Neue" pitchFamily="34" charset="-122"/>
                <a:cs typeface="Helvetica Neue" pitchFamily="34" charset="-120"/>
              </a:rPr>
              <a:t>4.2 days</a:t>
            </a:r>
            <a:endParaRPr lang="en-US" sz="3600" dirty="0"/>
          </a:p>
        </p:txBody>
      </p:sp>
      <p:sp>
        <p:nvSpPr>
          <p:cNvPr id="41" name="Text 39"/>
          <p:cNvSpPr txBox="1"/>
          <p:nvPr/>
        </p:nvSpPr>
        <p:spPr>
          <a:xfrm>
            <a:off x="7914437" y="5349240"/>
            <a:ext cx="3362858" cy="731520"/>
          </a:xfrm>
          <a:prstGeom prst="rect">
            <a:avLst/>
          </a:prstGeom>
          <a:noFill/>
          <a:ln/>
        </p:spPr>
        <p:txBody>
          <a:bodyPr wrap="square" lIns="0" tIns="0" rIns="0" bIns="0" rtlCol="0" anchor="t"/>
          <a:lstStyle/>
          <a:p>
            <a:pPr indent="0" marL="0">
              <a:buNone/>
            </a:pPr>
            <a:r>
              <a:rPr lang="en-US" sz="1500" b="1" dirty="0">
                <a:solidFill>
                  <a:schemeClr val="tx1"/>
                </a:solidFill>
                <a:latin typeface="Helvetica Neue" pitchFamily="34" charset="0"/>
                <a:ea typeface="Helvetica Neue" pitchFamily="34" charset="-122"/>
                <a:cs typeface="Helvetica Neue" pitchFamily="34" charset="-120"/>
              </a:rPr>
              <a:t>for a 14-milestone app</a:t>
            </a:r>
            <a:endParaRPr lang="en-US" sz="1500" dirty="0"/>
          </a:p>
          <a:p>
            <a:pPr indent="0" marL="0">
              <a:buNone/>
            </a:pPr>
            <a:r>
              <a:rPr lang="en-US" sz="1300" dirty="0">
                <a:solidFill>
                  <a:srgbClr val="6E6E73"/>
                </a:solidFill>
                <a:latin typeface="Helvetica Neue" pitchFamily="34" charset="0"/>
                <a:ea typeface="Helvetica Neue" pitchFamily="34" charset="-122"/>
                <a:cs typeface="Helvetica Neue" pitchFamily="34" charset="-120"/>
              </a:rPr>
              <a:t>Skåne Spa, planned and steered from Podium.</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A run, from plan to retro.</a:t>
            </a:r>
            <a:endParaRPr lang="en-US" sz="3600" dirty="0"/>
          </a:p>
        </p:txBody>
      </p:sp>
      <p:sp>
        <p:nvSpPr>
          <p:cNvPr id="3" name="phase line"/>
          <p:cNvSpPr/>
          <p:nvPr/>
        </p:nvSpPr>
        <p:spPr>
          <a:xfrm>
            <a:off x="1549375" y="2176272"/>
            <a:ext cx="9092946" cy="0"/>
          </a:xfrm>
          <a:prstGeom prst="line">
            <a:avLst/>
          </a:prstGeom>
          <a:noFill/>
          <a:ln w="25400">
            <a:solidFill>
              <a:srgbClr val="D2D2D7"/>
            </a:solidFill>
            <a:prstDash val="solid"/>
          </a:ln>
        </p:spPr>
      </p:sp>
      <p:sp>
        <p:nvSpPr>
          <p:cNvPr id="4" name="Text 2"/>
          <p:cNvSpPr txBox="1"/>
          <p:nvPr/>
        </p:nvSpPr>
        <p:spPr>
          <a:xfrm>
            <a:off x="640080" y="1554480"/>
            <a:ext cx="1818589"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P0</a:t>
            </a:r>
            <a:endParaRPr lang="en-US" sz="1300" dirty="0"/>
          </a:p>
        </p:txBody>
      </p:sp>
      <p:sp>
        <p:nvSpPr>
          <p:cNvPr id="5" name="phase P0"/>
          <p:cNvSpPr/>
          <p:nvPr/>
        </p:nvSpPr>
        <p:spPr>
          <a:xfrm>
            <a:off x="1366495" y="1993392"/>
            <a:ext cx="365760" cy="365760"/>
          </a:xfrm>
          <a:prstGeom prst="ellipse">
            <a:avLst/>
          </a:prstGeom>
          <a:solidFill>
            <a:srgbClr val="0071E3"/>
          </a:solidFill>
          <a:ln w="38100">
            <a:solidFill>
              <a:srgbClr val="FFFFFF"/>
            </a:solidFill>
            <a:prstDash val="solid"/>
          </a:ln>
        </p:spPr>
      </p:sp>
      <p:sp>
        <p:nvSpPr>
          <p:cNvPr id="6" name="Text 4"/>
          <p:cNvSpPr txBox="1"/>
          <p:nvPr/>
        </p:nvSpPr>
        <p:spPr>
          <a:xfrm>
            <a:off x="640080" y="2514600"/>
            <a:ext cx="1818589" cy="365760"/>
          </a:xfrm>
          <a:prstGeom prst="rect">
            <a:avLst/>
          </a:prstGeom>
          <a:noFill/>
          <a:ln/>
        </p:spPr>
        <p:txBody>
          <a:bodyPr wrap="square" lIns="0" tIns="0" rIns="0" bIns="0" rtlCol="0" anchor="t"/>
          <a:lstStyle/>
          <a:p>
            <a:pPr algn="ctr" indent="0" marL="0">
              <a:buNone/>
            </a:pPr>
            <a:r>
              <a:rPr lang="en-US" sz="2000" b="1" dirty="0">
                <a:solidFill>
                  <a:schemeClr val="tx1"/>
                </a:solidFill>
                <a:latin typeface="Helvetica Neue" pitchFamily="34" charset="0"/>
                <a:ea typeface="Helvetica Neue" pitchFamily="34" charset="-122"/>
                <a:cs typeface="Helvetica Neue" pitchFamily="34" charset="-120"/>
              </a:rPr>
              <a:t>Adopt</a:t>
            </a:r>
            <a:endParaRPr lang="en-US" sz="2000" dirty="0"/>
          </a:p>
        </p:txBody>
      </p:sp>
      <p:sp>
        <p:nvSpPr>
          <p:cNvPr id="7" name="Text 5"/>
          <p:cNvSpPr txBox="1"/>
          <p:nvPr/>
        </p:nvSpPr>
        <p:spPr>
          <a:xfrm>
            <a:off x="731520" y="2926080"/>
            <a:ext cx="1635709" cy="365760"/>
          </a:xfrm>
          <a:prstGeom prst="rect">
            <a:avLst/>
          </a:prstGeom>
          <a:noFill/>
          <a:ln/>
        </p:spPr>
        <p:txBody>
          <a:bodyPr wrap="square" lIns="0" tIns="0" rIns="0" bIns="0" rtlCol="0" anchor="t"/>
          <a:lstStyle/>
          <a:p>
            <a:pPr algn="ctr" indent="0" marL="0">
              <a:buNone/>
            </a:pPr>
            <a:r>
              <a:rPr lang="en-US" sz="1400" dirty="0">
                <a:solidFill>
                  <a:srgbClr val="6E6E73"/>
                </a:solidFill>
                <a:latin typeface="Helvetica Neue" pitchFamily="34" charset="0"/>
                <a:ea typeface="Helvetica Neue" pitchFamily="34" charset="-122"/>
                <a:cs typeface="Helvetica Neue" pitchFamily="34" charset="-120"/>
              </a:rPr>
              <a:t>Picks up earlier plans</a:t>
            </a:r>
            <a:endParaRPr lang="en-US" sz="1400" dirty="0"/>
          </a:p>
        </p:txBody>
      </p:sp>
      <p:sp>
        <p:nvSpPr>
          <p:cNvPr id="8" name="Text 6"/>
          <p:cNvSpPr txBox="1"/>
          <p:nvPr/>
        </p:nvSpPr>
        <p:spPr>
          <a:xfrm>
            <a:off x="2458669" y="1554480"/>
            <a:ext cx="1818589"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P1</a:t>
            </a:r>
            <a:endParaRPr lang="en-US" sz="1300" dirty="0"/>
          </a:p>
        </p:txBody>
      </p:sp>
      <p:sp>
        <p:nvSpPr>
          <p:cNvPr id="9" name="phase P1"/>
          <p:cNvSpPr/>
          <p:nvPr/>
        </p:nvSpPr>
        <p:spPr>
          <a:xfrm>
            <a:off x="3185084" y="1993392"/>
            <a:ext cx="365760" cy="365760"/>
          </a:xfrm>
          <a:prstGeom prst="ellipse">
            <a:avLst/>
          </a:prstGeom>
          <a:solidFill>
            <a:srgbClr val="0071E3"/>
          </a:solidFill>
          <a:ln w="38100">
            <a:solidFill>
              <a:srgbClr val="FFFFFF"/>
            </a:solidFill>
            <a:prstDash val="solid"/>
          </a:ln>
        </p:spPr>
      </p:sp>
      <p:sp>
        <p:nvSpPr>
          <p:cNvPr id="10" name="Text 8"/>
          <p:cNvSpPr txBox="1"/>
          <p:nvPr/>
        </p:nvSpPr>
        <p:spPr>
          <a:xfrm>
            <a:off x="2458669" y="2514600"/>
            <a:ext cx="1818589" cy="365760"/>
          </a:xfrm>
          <a:prstGeom prst="rect">
            <a:avLst/>
          </a:prstGeom>
          <a:noFill/>
          <a:ln/>
        </p:spPr>
        <p:txBody>
          <a:bodyPr wrap="square" lIns="0" tIns="0" rIns="0" bIns="0" rtlCol="0" anchor="t"/>
          <a:lstStyle/>
          <a:p>
            <a:pPr algn="ctr" indent="0" marL="0">
              <a:buNone/>
            </a:pPr>
            <a:r>
              <a:rPr lang="en-US" sz="2000" b="1" dirty="0">
                <a:solidFill>
                  <a:schemeClr val="tx1"/>
                </a:solidFill>
                <a:latin typeface="Helvetica Neue" pitchFamily="34" charset="0"/>
                <a:ea typeface="Helvetica Neue" pitchFamily="34" charset="-122"/>
                <a:cs typeface="Helvetica Neue" pitchFamily="34" charset="-120"/>
              </a:rPr>
              <a:t>Plan</a:t>
            </a:r>
            <a:endParaRPr lang="en-US" sz="2000" dirty="0"/>
          </a:p>
        </p:txBody>
      </p:sp>
      <p:sp>
        <p:nvSpPr>
          <p:cNvPr id="11" name="Text 9"/>
          <p:cNvSpPr txBox="1"/>
          <p:nvPr/>
        </p:nvSpPr>
        <p:spPr>
          <a:xfrm>
            <a:off x="2550109" y="2926080"/>
            <a:ext cx="1635709" cy="365760"/>
          </a:xfrm>
          <a:prstGeom prst="rect">
            <a:avLst/>
          </a:prstGeom>
          <a:noFill/>
          <a:ln/>
        </p:spPr>
        <p:txBody>
          <a:bodyPr wrap="square" lIns="0" tIns="0" rIns="0" bIns="0" rtlCol="0" anchor="t"/>
          <a:lstStyle/>
          <a:p>
            <a:pPr algn="ctr" indent="0" marL="0">
              <a:buNone/>
            </a:pPr>
            <a:r>
              <a:rPr lang="en-US" sz="1400" dirty="0">
                <a:solidFill>
                  <a:srgbClr val="6E6E73"/>
                </a:solidFill>
                <a:latin typeface="Helvetica Neue" pitchFamily="34" charset="0"/>
                <a:ea typeface="Helvetica Neue" pitchFamily="34" charset="-122"/>
                <a:cs typeface="Helvetica Neue" pitchFamily="34" charset="-120"/>
              </a:rPr>
              <a:t>Epics and decisions first</a:t>
            </a:r>
            <a:endParaRPr lang="en-US" sz="1400" dirty="0"/>
          </a:p>
        </p:txBody>
      </p:sp>
      <p:sp>
        <p:nvSpPr>
          <p:cNvPr id="12" name="Text 10"/>
          <p:cNvSpPr txBox="1"/>
          <p:nvPr/>
        </p:nvSpPr>
        <p:spPr>
          <a:xfrm>
            <a:off x="4277258" y="1554480"/>
            <a:ext cx="1818589"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P2</a:t>
            </a:r>
            <a:endParaRPr lang="en-US" sz="1300" dirty="0"/>
          </a:p>
        </p:txBody>
      </p:sp>
      <p:sp>
        <p:nvSpPr>
          <p:cNvPr id="13" name="phase P2"/>
          <p:cNvSpPr/>
          <p:nvPr/>
        </p:nvSpPr>
        <p:spPr>
          <a:xfrm>
            <a:off x="5003673" y="1993392"/>
            <a:ext cx="365760" cy="365760"/>
          </a:xfrm>
          <a:prstGeom prst="ellipse">
            <a:avLst/>
          </a:prstGeom>
          <a:solidFill>
            <a:srgbClr val="0071E3"/>
          </a:solidFill>
          <a:ln w="38100">
            <a:solidFill>
              <a:srgbClr val="FFFFFF"/>
            </a:solidFill>
            <a:prstDash val="solid"/>
          </a:ln>
        </p:spPr>
      </p:sp>
      <p:sp>
        <p:nvSpPr>
          <p:cNvPr id="14" name="Text 12"/>
          <p:cNvSpPr txBox="1"/>
          <p:nvPr/>
        </p:nvSpPr>
        <p:spPr>
          <a:xfrm>
            <a:off x="4277258" y="2514600"/>
            <a:ext cx="1818589" cy="365760"/>
          </a:xfrm>
          <a:prstGeom prst="rect">
            <a:avLst/>
          </a:prstGeom>
          <a:noFill/>
          <a:ln/>
        </p:spPr>
        <p:txBody>
          <a:bodyPr wrap="square" lIns="0" tIns="0" rIns="0" bIns="0" rtlCol="0" anchor="t"/>
          <a:lstStyle/>
          <a:p>
            <a:pPr algn="ctr" indent="0" marL="0">
              <a:buNone/>
            </a:pPr>
            <a:r>
              <a:rPr lang="en-US" sz="2000" b="1" dirty="0">
                <a:solidFill>
                  <a:schemeClr val="tx1"/>
                </a:solidFill>
                <a:latin typeface="Helvetica Neue" pitchFamily="34" charset="0"/>
                <a:ea typeface="Helvetica Neue" pitchFamily="34" charset="-122"/>
                <a:cs typeface="Helvetica Neue" pitchFamily="34" charset="-120"/>
              </a:rPr>
              <a:t>Breakdown</a:t>
            </a:r>
            <a:endParaRPr lang="en-US" sz="2000" dirty="0"/>
          </a:p>
        </p:txBody>
      </p:sp>
      <p:sp>
        <p:nvSpPr>
          <p:cNvPr id="15" name="Text 13"/>
          <p:cNvSpPr txBox="1"/>
          <p:nvPr/>
        </p:nvSpPr>
        <p:spPr>
          <a:xfrm>
            <a:off x="4368698" y="2926080"/>
            <a:ext cx="1635709" cy="365760"/>
          </a:xfrm>
          <a:prstGeom prst="rect">
            <a:avLst/>
          </a:prstGeom>
          <a:noFill/>
          <a:ln/>
        </p:spPr>
        <p:txBody>
          <a:bodyPr wrap="square" lIns="0" tIns="0" rIns="0" bIns="0" rtlCol="0" anchor="t"/>
          <a:lstStyle/>
          <a:p>
            <a:pPr algn="ctr" indent="0" marL="0">
              <a:buNone/>
            </a:pPr>
            <a:r>
              <a:rPr lang="en-US" sz="1400" dirty="0">
                <a:solidFill>
                  <a:srgbClr val="6E6E73"/>
                </a:solidFill>
                <a:latin typeface="Helvetica Neue" pitchFamily="34" charset="0"/>
                <a:ea typeface="Helvetica Neue" pitchFamily="34" charset="-122"/>
                <a:cs typeface="Helvetica Neue" pitchFamily="34" charset="-120"/>
              </a:rPr>
              <a:t>Stories and their models</a:t>
            </a:r>
            <a:endParaRPr lang="en-US" sz="1400" dirty="0"/>
          </a:p>
        </p:txBody>
      </p:sp>
      <p:sp>
        <p:nvSpPr>
          <p:cNvPr id="16" name="Text 14"/>
          <p:cNvSpPr txBox="1"/>
          <p:nvPr/>
        </p:nvSpPr>
        <p:spPr>
          <a:xfrm>
            <a:off x="6095848" y="1554480"/>
            <a:ext cx="1818589"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P3</a:t>
            </a:r>
            <a:endParaRPr lang="en-US" sz="1300" dirty="0"/>
          </a:p>
        </p:txBody>
      </p:sp>
      <p:sp>
        <p:nvSpPr>
          <p:cNvPr id="17" name="phase P3"/>
          <p:cNvSpPr/>
          <p:nvPr/>
        </p:nvSpPr>
        <p:spPr>
          <a:xfrm>
            <a:off x="6822262" y="1993392"/>
            <a:ext cx="365760" cy="365760"/>
          </a:xfrm>
          <a:prstGeom prst="ellipse">
            <a:avLst/>
          </a:prstGeom>
          <a:solidFill>
            <a:srgbClr val="0071E3"/>
          </a:solidFill>
          <a:ln w="38100">
            <a:solidFill>
              <a:srgbClr val="FFFFFF"/>
            </a:solidFill>
            <a:prstDash val="solid"/>
          </a:ln>
        </p:spPr>
      </p:sp>
      <p:sp>
        <p:nvSpPr>
          <p:cNvPr id="18" name="Text 16"/>
          <p:cNvSpPr txBox="1"/>
          <p:nvPr/>
        </p:nvSpPr>
        <p:spPr>
          <a:xfrm>
            <a:off x="6095848" y="2514600"/>
            <a:ext cx="1818589" cy="365760"/>
          </a:xfrm>
          <a:prstGeom prst="rect">
            <a:avLst/>
          </a:prstGeom>
          <a:noFill/>
          <a:ln/>
        </p:spPr>
        <p:txBody>
          <a:bodyPr wrap="square" lIns="0" tIns="0" rIns="0" bIns="0" rtlCol="0" anchor="t"/>
          <a:lstStyle/>
          <a:p>
            <a:pPr algn="ctr" indent="0" marL="0">
              <a:buNone/>
            </a:pPr>
            <a:r>
              <a:rPr lang="en-US" sz="2000" b="1" dirty="0">
                <a:solidFill>
                  <a:schemeClr val="tx1"/>
                </a:solidFill>
                <a:latin typeface="Helvetica Neue" pitchFamily="34" charset="0"/>
                <a:ea typeface="Helvetica Neue" pitchFamily="34" charset="-122"/>
                <a:cs typeface="Helvetica Neue" pitchFamily="34" charset="-120"/>
              </a:rPr>
              <a:t>Build</a:t>
            </a:r>
            <a:endParaRPr lang="en-US" sz="2000" dirty="0"/>
          </a:p>
        </p:txBody>
      </p:sp>
      <p:sp>
        <p:nvSpPr>
          <p:cNvPr id="19" name="Text 17"/>
          <p:cNvSpPr txBox="1"/>
          <p:nvPr/>
        </p:nvSpPr>
        <p:spPr>
          <a:xfrm>
            <a:off x="6187288" y="2926080"/>
            <a:ext cx="1635709" cy="365760"/>
          </a:xfrm>
          <a:prstGeom prst="rect">
            <a:avLst/>
          </a:prstGeom>
          <a:noFill/>
          <a:ln/>
        </p:spPr>
        <p:txBody>
          <a:bodyPr wrap="square" lIns="0" tIns="0" rIns="0" bIns="0" rtlCol="0" anchor="t"/>
          <a:lstStyle/>
          <a:p>
            <a:pPr algn="ctr" indent="0" marL="0">
              <a:buNone/>
            </a:pPr>
            <a:r>
              <a:rPr lang="en-US" sz="1400" dirty="0">
                <a:solidFill>
                  <a:srgbClr val="6E6E73"/>
                </a:solidFill>
                <a:latin typeface="Helvetica Neue" pitchFamily="34" charset="0"/>
                <a:ea typeface="Helvetica Neue" pitchFamily="34" charset="-122"/>
                <a:cs typeface="Helvetica Neue" pitchFamily="34" charset="-120"/>
              </a:rPr>
              <a:t>One agent per story</a:t>
            </a:r>
            <a:endParaRPr lang="en-US" sz="1400" dirty="0"/>
          </a:p>
        </p:txBody>
      </p:sp>
      <p:sp>
        <p:nvSpPr>
          <p:cNvPr id="20" name="Text 18"/>
          <p:cNvSpPr txBox="1"/>
          <p:nvPr/>
        </p:nvSpPr>
        <p:spPr>
          <a:xfrm>
            <a:off x="7914437" y="1554480"/>
            <a:ext cx="1818589"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P4</a:t>
            </a:r>
            <a:endParaRPr lang="en-US" sz="1300" dirty="0"/>
          </a:p>
        </p:txBody>
      </p:sp>
      <p:sp>
        <p:nvSpPr>
          <p:cNvPr id="21" name="phase P4"/>
          <p:cNvSpPr/>
          <p:nvPr/>
        </p:nvSpPr>
        <p:spPr>
          <a:xfrm>
            <a:off x="8640851" y="1993392"/>
            <a:ext cx="365760" cy="365760"/>
          </a:xfrm>
          <a:prstGeom prst="ellipse">
            <a:avLst/>
          </a:prstGeom>
          <a:solidFill>
            <a:srgbClr val="0071E3"/>
          </a:solidFill>
          <a:ln w="38100">
            <a:solidFill>
              <a:srgbClr val="FFFFFF"/>
            </a:solidFill>
            <a:prstDash val="solid"/>
          </a:ln>
        </p:spPr>
      </p:sp>
      <p:sp>
        <p:nvSpPr>
          <p:cNvPr id="22" name="Text 20"/>
          <p:cNvSpPr txBox="1"/>
          <p:nvPr/>
        </p:nvSpPr>
        <p:spPr>
          <a:xfrm>
            <a:off x="7914437" y="2514600"/>
            <a:ext cx="1818589" cy="365760"/>
          </a:xfrm>
          <a:prstGeom prst="rect">
            <a:avLst/>
          </a:prstGeom>
          <a:noFill/>
          <a:ln/>
        </p:spPr>
        <p:txBody>
          <a:bodyPr wrap="square" lIns="0" tIns="0" rIns="0" bIns="0" rtlCol="0" anchor="t"/>
          <a:lstStyle/>
          <a:p>
            <a:pPr algn="ctr" indent="0" marL="0">
              <a:buNone/>
            </a:pPr>
            <a:r>
              <a:rPr lang="en-US" sz="2000" b="1" dirty="0">
                <a:solidFill>
                  <a:schemeClr val="tx1"/>
                </a:solidFill>
                <a:latin typeface="Helvetica Neue" pitchFamily="34" charset="0"/>
                <a:ea typeface="Helvetica Neue" pitchFamily="34" charset="-122"/>
                <a:cs typeface="Helvetica Neue" pitchFamily="34" charset="-120"/>
              </a:rPr>
              <a:t>Handback</a:t>
            </a:r>
            <a:endParaRPr lang="en-US" sz="2000" dirty="0"/>
          </a:p>
        </p:txBody>
      </p:sp>
      <p:sp>
        <p:nvSpPr>
          <p:cNvPr id="23" name="Text 21"/>
          <p:cNvSpPr txBox="1"/>
          <p:nvPr/>
        </p:nvSpPr>
        <p:spPr>
          <a:xfrm>
            <a:off x="8005877" y="2926080"/>
            <a:ext cx="1635709" cy="365760"/>
          </a:xfrm>
          <a:prstGeom prst="rect">
            <a:avLst/>
          </a:prstGeom>
          <a:noFill/>
          <a:ln/>
        </p:spPr>
        <p:txBody>
          <a:bodyPr wrap="square" lIns="0" tIns="0" rIns="0" bIns="0" rtlCol="0" anchor="t"/>
          <a:lstStyle/>
          <a:p>
            <a:pPr algn="ctr" indent="0" marL="0">
              <a:buNone/>
            </a:pPr>
            <a:r>
              <a:rPr lang="en-US" sz="1400" dirty="0">
                <a:solidFill>
                  <a:srgbClr val="6E6E73"/>
                </a:solidFill>
                <a:latin typeface="Helvetica Neue" pitchFamily="34" charset="0"/>
                <a:ea typeface="Helvetica Neue" pitchFamily="34" charset="-122"/>
                <a:cs typeface="Helvetica Neue" pitchFamily="34" charset="-120"/>
              </a:rPr>
              <a:t>Gate, verify and land</a:t>
            </a:r>
            <a:endParaRPr lang="en-US" sz="1400" dirty="0"/>
          </a:p>
        </p:txBody>
      </p:sp>
      <p:sp>
        <p:nvSpPr>
          <p:cNvPr id="24" name="Text 22"/>
          <p:cNvSpPr txBox="1"/>
          <p:nvPr/>
        </p:nvSpPr>
        <p:spPr>
          <a:xfrm>
            <a:off x="9733026" y="1554480"/>
            <a:ext cx="1818589" cy="274320"/>
          </a:xfrm>
          <a:prstGeom prst="rect">
            <a:avLst/>
          </a:prstGeom>
          <a:noFill/>
          <a:ln/>
        </p:spPr>
        <p:txBody>
          <a:bodyPr wrap="square" lIns="0" tIns="0" rIns="0" bIns="0" rtlCol="0" anchor="t"/>
          <a:lstStyle/>
          <a:p>
            <a:pPr algn="ctr" indent="0" marL="0">
              <a:buNone/>
            </a:pPr>
            <a:r>
              <a:rPr lang="en-US" sz="1300" b="1" dirty="0">
                <a:solidFill>
                  <a:srgbClr val="6E6E73"/>
                </a:solidFill>
                <a:latin typeface="Helvetica Neue" pitchFamily="34" charset="0"/>
                <a:ea typeface="Helvetica Neue" pitchFamily="34" charset="-122"/>
                <a:cs typeface="Helvetica Neue" pitchFamily="34" charset="-120"/>
              </a:rPr>
              <a:t>P5</a:t>
            </a:r>
            <a:endParaRPr lang="en-US" sz="1300" dirty="0"/>
          </a:p>
        </p:txBody>
      </p:sp>
      <p:sp>
        <p:nvSpPr>
          <p:cNvPr id="25" name="phase P5"/>
          <p:cNvSpPr/>
          <p:nvPr/>
        </p:nvSpPr>
        <p:spPr>
          <a:xfrm>
            <a:off x="10459441" y="1993392"/>
            <a:ext cx="365760" cy="365760"/>
          </a:xfrm>
          <a:prstGeom prst="ellipse">
            <a:avLst/>
          </a:prstGeom>
          <a:solidFill>
            <a:srgbClr val="FF2D55"/>
          </a:solidFill>
          <a:ln w="38100">
            <a:solidFill>
              <a:srgbClr val="FFFFFF"/>
            </a:solidFill>
            <a:prstDash val="solid"/>
          </a:ln>
        </p:spPr>
      </p:sp>
      <p:sp>
        <p:nvSpPr>
          <p:cNvPr id="26" name="Text 24"/>
          <p:cNvSpPr txBox="1"/>
          <p:nvPr/>
        </p:nvSpPr>
        <p:spPr>
          <a:xfrm>
            <a:off x="9733026" y="2514600"/>
            <a:ext cx="1818589" cy="365760"/>
          </a:xfrm>
          <a:prstGeom prst="rect">
            <a:avLst/>
          </a:prstGeom>
          <a:noFill/>
          <a:ln/>
        </p:spPr>
        <p:txBody>
          <a:bodyPr wrap="square" lIns="0" tIns="0" rIns="0" bIns="0" rtlCol="0" anchor="t"/>
          <a:lstStyle/>
          <a:p>
            <a:pPr algn="ctr" indent="0" marL="0">
              <a:buNone/>
            </a:pPr>
            <a:r>
              <a:rPr lang="en-US" sz="2000" b="1" dirty="0">
                <a:solidFill>
                  <a:schemeClr val="tx1"/>
                </a:solidFill>
                <a:latin typeface="Helvetica Neue" pitchFamily="34" charset="0"/>
                <a:ea typeface="Helvetica Neue" pitchFamily="34" charset="-122"/>
                <a:cs typeface="Helvetica Neue" pitchFamily="34" charset="-120"/>
              </a:rPr>
              <a:t>Retro</a:t>
            </a:r>
            <a:endParaRPr lang="en-US" sz="2000" dirty="0"/>
          </a:p>
        </p:txBody>
      </p:sp>
      <p:sp>
        <p:nvSpPr>
          <p:cNvPr id="27" name="Text 25"/>
          <p:cNvSpPr txBox="1"/>
          <p:nvPr/>
        </p:nvSpPr>
        <p:spPr>
          <a:xfrm>
            <a:off x="9824466" y="2926080"/>
            <a:ext cx="1635709" cy="365760"/>
          </a:xfrm>
          <a:prstGeom prst="rect">
            <a:avLst/>
          </a:prstGeom>
          <a:noFill/>
          <a:ln/>
        </p:spPr>
        <p:txBody>
          <a:bodyPr wrap="square" lIns="0" tIns="0" rIns="0" bIns="0" rtlCol="0" anchor="t"/>
          <a:lstStyle/>
          <a:p>
            <a:pPr algn="ctr" indent="0" marL="0">
              <a:buNone/>
            </a:pPr>
            <a:r>
              <a:rPr lang="en-US" sz="1400" dirty="0">
                <a:solidFill>
                  <a:srgbClr val="6E6E73"/>
                </a:solidFill>
                <a:latin typeface="Helvetica Neue" pitchFamily="34" charset="0"/>
                <a:ea typeface="Helvetica Neue" pitchFamily="34" charset="-122"/>
                <a:cs typeface="Helvetica Neue" pitchFamily="34" charset="-120"/>
              </a:rPr>
              <a:t>Only after friction</a:t>
            </a:r>
            <a:endParaRPr lang="en-US" sz="1400" dirty="0"/>
          </a:p>
        </p:txBody>
      </p:sp>
      <p:sp>
        <p:nvSpPr>
          <p:cNvPr id="28" name="Text 26"/>
          <p:cNvSpPr txBox="1"/>
          <p:nvPr/>
        </p:nvSpPr>
        <p:spPr>
          <a:xfrm>
            <a:off x="640080" y="3840480"/>
            <a:ext cx="10911535" cy="320040"/>
          </a:xfrm>
          <a:prstGeom prst="rect">
            <a:avLst/>
          </a:prstGeom>
          <a:noFill/>
          <a:ln/>
        </p:spPr>
        <p:txBody>
          <a:bodyPr wrap="square" lIns="0" tIns="0" rIns="0" bIns="0" rtlCol="0" anchor="t"/>
          <a:lstStyle/>
          <a:p>
            <a:pPr indent="0" marL="0">
              <a:buNone/>
            </a:pPr>
            <a:r>
              <a:rPr lang="en-US" sz="1500" b="1" dirty="0">
                <a:solidFill>
                  <a:srgbClr val="6E6E73"/>
                </a:solidFill>
                <a:latin typeface="Helvetica Neue" pitchFamily="34" charset="0"/>
                <a:ea typeface="Helvetica Neue" pitchFamily="34" charset="-122"/>
                <a:cs typeface="Helvetica Neue" pitchFamily="34" charset="-120"/>
              </a:rPr>
              <a:t>Inside every milestone</a:t>
            </a:r>
            <a:endParaRPr lang="en-US" sz="1500" dirty="0"/>
          </a:p>
        </p:txBody>
      </p:sp>
      <p:sp>
        <p:nvSpPr>
          <p:cNvPr id="29" name="step R"/>
          <p:cNvSpPr/>
          <p:nvPr/>
        </p:nvSpPr>
        <p:spPr>
          <a:xfrm>
            <a:off x="640080" y="4297680"/>
            <a:ext cx="1203922" cy="1143000"/>
          </a:xfrm>
          <a:prstGeom prst="roundRect">
            <a:avLst>
              <a:gd name="adj" fmla="val 16000"/>
            </a:avLst>
          </a:prstGeom>
          <a:solidFill>
            <a:srgbClr val="F5F5F7"/>
          </a:solidFill>
          <a:ln/>
        </p:spPr>
      </p:sp>
      <p:sp>
        <p:nvSpPr>
          <p:cNvPr id="30" name="Text 28"/>
          <p:cNvSpPr txBox="1"/>
          <p:nvPr/>
        </p:nvSpPr>
        <p:spPr>
          <a:xfrm>
            <a:off x="640080"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R</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recon</a:t>
            </a:r>
            <a:endParaRPr lang="en-US" sz="2800" dirty="0"/>
          </a:p>
        </p:txBody>
      </p:sp>
      <p:sp>
        <p:nvSpPr>
          <p:cNvPr id="31" name="step 0"/>
          <p:cNvSpPr/>
          <p:nvPr/>
        </p:nvSpPr>
        <p:spPr>
          <a:xfrm>
            <a:off x="2026882" y="4297680"/>
            <a:ext cx="1203922" cy="1143000"/>
          </a:xfrm>
          <a:prstGeom prst="roundRect">
            <a:avLst>
              <a:gd name="adj" fmla="val 16000"/>
            </a:avLst>
          </a:prstGeom>
          <a:solidFill>
            <a:srgbClr val="F5F5F7"/>
          </a:solidFill>
          <a:ln/>
        </p:spPr>
      </p:sp>
      <p:sp>
        <p:nvSpPr>
          <p:cNvPr id="32" name="Text 30"/>
          <p:cNvSpPr txBox="1"/>
          <p:nvPr/>
        </p:nvSpPr>
        <p:spPr>
          <a:xfrm>
            <a:off x="2026882"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0</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grill</a:t>
            </a:r>
            <a:endParaRPr lang="en-US" sz="2800" dirty="0"/>
          </a:p>
        </p:txBody>
      </p:sp>
      <p:sp>
        <p:nvSpPr>
          <p:cNvPr id="33" name="step 0.5"/>
          <p:cNvSpPr/>
          <p:nvPr/>
        </p:nvSpPr>
        <p:spPr>
          <a:xfrm>
            <a:off x="3413684" y="4297680"/>
            <a:ext cx="1203922" cy="1143000"/>
          </a:xfrm>
          <a:prstGeom prst="roundRect">
            <a:avLst>
              <a:gd name="adj" fmla="val 16000"/>
            </a:avLst>
          </a:prstGeom>
          <a:solidFill>
            <a:srgbClr val="F5F5F7"/>
          </a:solidFill>
          <a:ln/>
        </p:spPr>
      </p:sp>
      <p:sp>
        <p:nvSpPr>
          <p:cNvPr id="34" name="Text 32"/>
          <p:cNvSpPr txBox="1"/>
          <p:nvPr/>
        </p:nvSpPr>
        <p:spPr>
          <a:xfrm>
            <a:off x="3413684"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0.5</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UI mock</a:t>
            </a:r>
            <a:endParaRPr lang="en-US" sz="2800" dirty="0"/>
          </a:p>
        </p:txBody>
      </p:sp>
      <p:sp>
        <p:nvSpPr>
          <p:cNvPr id="35" name="step 1"/>
          <p:cNvSpPr/>
          <p:nvPr/>
        </p:nvSpPr>
        <p:spPr>
          <a:xfrm>
            <a:off x="4800486" y="4297680"/>
            <a:ext cx="1203922" cy="1143000"/>
          </a:xfrm>
          <a:prstGeom prst="roundRect">
            <a:avLst>
              <a:gd name="adj" fmla="val 16000"/>
            </a:avLst>
          </a:prstGeom>
          <a:solidFill>
            <a:srgbClr val="F5F5F7"/>
          </a:solidFill>
          <a:ln/>
        </p:spPr>
      </p:sp>
      <p:sp>
        <p:nvSpPr>
          <p:cNvPr id="36" name="Text 34"/>
          <p:cNvSpPr txBox="1"/>
          <p:nvPr/>
        </p:nvSpPr>
        <p:spPr>
          <a:xfrm>
            <a:off x="4800486"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1</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architecture</a:t>
            </a:r>
            <a:endParaRPr lang="en-US" sz="2800" dirty="0"/>
          </a:p>
        </p:txBody>
      </p:sp>
      <p:sp>
        <p:nvSpPr>
          <p:cNvPr id="37" name="step 2"/>
          <p:cNvSpPr/>
          <p:nvPr/>
        </p:nvSpPr>
        <p:spPr>
          <a:xfrm>
            <a:off x="6187288" y="4297680"/>
            <a:ext cx="1203922" cy="1143000"/>
          </a:xfrm>
          <a:prstGeom prst="roundRect">
            <a:avLst>
              <a:gd name="adj" fmla="val 16000"/>
            </a:avLst>
          </a:prstGeom>
          <a:solidFill>
            <a:srgbClr val="F5F5F7"/>
          </a:solidFill>
          <a:ln/>
        </p:spPr>
      </p:sp>
      <p:sp>
        <p:nvSpPr>
          <p:cNvPr id="38" name="Text 36"/>
          <p:cNvSpPr txBox="1"/>
          <p:nvPr/>
        </p:nvSpPr>
        <p:spPr>
          <a:xfrm>
            <a:off x="6187288"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2</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spec</a:t>
            </a:r>
            <a:endParaRPr lang="en-US" sz="2800" dirty="0"/>
          </a:p>
        </p:txBody>
      </p:sp>
      <p:sp>
        <p:nvSpPr>
          <p:cNvPr id="39" name="step 3"/>
          <p:cNvSpPr/>
          <p:nvPr/>
        </p:nvSpPr>
        <p:spPr>
          <a:xfrm>
            <a:off x="7574089" y="4297680"/>
            <a:ext cx="1203922" cy="1143000"/>
          </a:xfrm>
          <a:prstGeom prst="roundRect">
            <a:avLst>
              <a:gd name="adj" fmla="val 16000"/>
            </a:avLst>
          </a:prstGeom>
          <a:solidFill>
            <a:srgbClr val="F5F5F7"/>
          </a:solidFill>
          <a:ln/>
        </p:spPr>
      </p:sp>
      <p:sp>
        <p:nvSpPr>
          <p:cNvPr id="40" name="Text 38"/>
          <p:cNvSpPr txBox="1"/>
          <p:nvPr/>
        </p:nvSpPr>
        <p:spPr>
          <a:xfrm>
            <a:off x="7574089"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3</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TDD + gate</a:t>
            </a:r>
            <a:endParaRPr lang="en-US" sz="2800" dirty="0"/>
          </a:p>
        </p:txBody>
      </p:sp>
      <p:sp>
        <p:nvSpPr>
          <p:cNvPr id="41" name="step 4"/>
          <p:cNvSpPr/>
          <p:nvPr/>
        </p:nvSpPr>
        <p:spPr>
          <a:xfrm>
            <a:off x="8960891" y="4297680"/>
            <a:ext cx="1203922" cy="1143000"/>
          </a:xfrm>
          <a:prstGeom prst="roundRect">
            <a:avLst>
              <a:gd name="adj" fmla="val 16000"/>
            </a:avLst>
          </a:prstGeom>
          <a:solidFill>
            <a:srgbClr val="F5F5F7"/>
          </a:solidFill>
          <a:ln/>
        </p:spPr>
      </p:sp>
      <p:sp>
        <p:nvSpPr>
          <p:cNvPr id="42" name="Text 40"/>
          <p:cNvSpPr txBox="1"/>
          <p:nvPr/>
        </p:nvSpPr>
        <p:spPr>
          <a:xfrm>
            <a:off x="8960891"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4</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verify</a:t>
            </a:r>
            <a:endParaRPr lang="en-US" sz="2800" dirty="0"/>
          </a:p>
        </p:txBody>
      </p:sp>
      <p:sp>
        <p:nvSpPr>
          <p:cNvPr id="43" name="step 5–6"/>
          <p:cNvSpPr/>
          <p:nvPr/>
        </p:nvSpPr>
        <p:spPr>
          <a:xfrm>
            <a:off x="10347693" y="4297680"/>
            <a:ext cx="1203922" cy="1143000"/>
          </a:xfrm>
          <a:prstGeom prst="roundRect">
            <a:avLst>
              <a:gd name="adj" fmla="val 16000"/>
            </a:avLst>
          </a:prstGeom>
          <a:solidFill>
            <a:srgbClr val="F5F5F7"/>
          </a:solidFill>
          <a:ln/>
        </p:spPr>
      </p:sp>
      <p:sp>
        <p:nvSpPr>
          <p:cNvPr id="44" name="Text 42"/>
          <p:cNvSpPr txBox="1"/>
          <p:nvPr/>
        </p:nvSpPr>
        <p:spPr>
          <a:xfrm>
            <a:off x="10347693" y="4297680"/>
            <a:ext cx="1203922" cy="1143000"/>
          </a:xfrm>
          <a:prstGeom prst="rect">
            <a:avLst/>
          </a:prstGeom>
          <a:noFill/>
          <a:ln/>
        </p:spPr>
        <p:txBody>
          <a:bodyPr wrap="square" lIns="0" tIns="0" rIns="0" bIns="0" rtlCol="0" anchor="ctr"/>
          <a:lstStyle/>
          <a:p>
            <a:pPr algn="ctr" indent="0" marL="0">
              <a:buNone/>
            </a:pPr>
            <a:r>
              <a:rPr lang="en-US" sz="2800" b="1" dirty="0">
                <a:solidFill>
                  <a:schemeClr val="accent2"/>
                </a:solidFill>
                <a:latin typeface="Helvetica Neue" pitchFamily="34" charset="0"/>
                <a:ea typeface="Helvetica Neue" pitchFamily="34" charset="-122"/>
                <a:cs typeface="Helvetica Neue" pitchFamily="34" charset="-120"/>
              </a:rPr>
              <a:t>5–6</a:t>
            </a:r>
            <a:endParaRPr lang="en-US" sz="2800" dirty="0"/>
          </a:p>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land</a:t>
            </a:r>
            <a:endParaRPr lang="en-US" sz="2800" dirty="0"/>
          </a:p>
        </p:txBody>
      </p:sp>
      <p:sp>
        <p:nvSpPr>
          <p:cNvPr id="45" name="Text 43"/>
          <p:cNvSpPr txBox="1"/>
          <p:nvPr/>
        </p:nvSpPr>
        <p:spPr>
          <a:xfrm>
            <a:off x="640080" y="5669280"/>
            <a:ext cx="10911535" cy="365760"/>
          </a:xfrm>
          <a:prstGeom prst="rect">
            <a:avLst/>
          </a:prstGeom>
          <a:noFill/>
          <a:ln/>
        </p:spPr>
        <p:txBody>
          <a:bodyPr wrap="square" lIns="0" tIns="0" rIns="0" bIns="0" rtlCol="0" anchor="t"/>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Each step ends on a checkpoint, so a fresh context can pick up where the last one stopped.</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The suite as a layer cake.</a:t>
            </a:r>
            <a:endParaRPr lang="en-US" sz="3600" dirty="0"/>
          </a:p>
        </p:txBody>
      </p:sp>
      <p:sp>
        <p:nvSpPr>
          <p:cNvPr id="3" name="Text 1"/>
          <p:cNvSpPr txBox="1"/>
          <p:nvPr/>
        </p:nvSpPr>
        <p:spPr>
          <a:xfrm>
            <a:off x="2377440" y="1371600"/>
            <a:ext cx="1437589" cy="320040"/>
          </a:xfrm>
          <a:prstGeom prst="rect">
            <a:avLst/>
          </a:prstGeom>
          <a:noFill/>
          <a:ln/>
        </p:spPr>
        <p:txBody>
          <a:bodyPr wrap="square" lIns="0" tIns="0" rIns="0" bIns="0" rtlCol="0" anchor="t"/>
          <a:lstStyle/>
          <a:p>
            <a:pPr indent="0" marL="0">
              <a:buNone/>
            </a:pPr>
            <a:r>
              <a:rPr lang="en-US" sz="1400" b="1" dirty="0">
                <a:solidFill>
                  <a:srgbClr val="6E6E73"/>
                </a:solidFill>
                <a:latin typeface="Helvetica Neue" pitchFamily="34" charset="0"/>
                <a:ea typeface="Helvetica Neue" pitchFamily="34" charset="-122"/>
                <a:cs typeface="Helvetica Neue" pitchFamily="34" charset="-120"/>
              </a:rPr>
              <a:t>P0  </a:t>
            </a:r>
            <a:pPr indent="0" marL="0">
              <a:buNone/>
            </a:pPr>
            <a:r>
              <a:rPr lang="en-US" sz="1400" b="1" dirty="0">
                <a:solidFill>
                  <a:schemeClr val="tx1"/>
                </a:solidFill>
                <a:latin typeface="Helvetica Neue" pitchFamily="34" charset="0"/>
                <a:ea typeface="Helvetica Neue" pitchFamily="34" charset="-122"/>
                <a:cs typeface="Helvetica Neue" pitchFamily="34" charset="-120"/>
              </a:rPr>
              <a:t>Adopt</a:t>
            </a:r>
            <a:endParaRPr lang="en-US" sz="1400" dirty="0"/>
          </a:p>
        </p:txBody>
      </p:sp>
      <p:sp>
        <p:nvSpPr>
          <p:cNvPr id="4" name="Text 2"/>
          <p:cNvSpPr txBox="1"/>
          <p:nvPr/>
        </p:nvSpPr>
        <p:spPr>
          <a:xfrm>
            <a:off x="3924757" y="1371600"/>
            <a:ext cx="1437589" cy="320040"/>
          </a:xfrm>
          <a:prstGeom prst="rect">
            <a:avLst/>
          </a:prstGeom>
          <a:noFill/>
          <a:ln/>
        </p:spPr>
        <p:txBody>
          <a:bodyPr wrap="square" lIns="0" tIns="0" rIns="0" bIns="0" rtlCol="0" anchor="t"/>
          <a:lstStyle/>
          <a:p>
            <a:pPr indent="0" marL="0">
              <a:buNone/>
            </a:pPr>
            <a:r>
              <a:rPr lang="en-US" sz="1400" b="1" dirty="0">
                <a:solidFill>
                  <a:srgbClr val="6E6E73"/>
                </a:solidFill>
                <a:latin typeface="Helvetica Neue" pitchFamily="34" charset="0"/>
                <a:ea typeface="Helvetica Neue" pitchFamily="34" charset="-122"/>
                <a:cs typeface="Helvetica Neue" pitchFamily="34" charset="-120"/>
              </a:rPr>
              <a:t>P1  </a:t>
            </a:r>
            <a:pPr indent="0" marL="0">
              <a:buNone/>
            </a:pPr>
            <a:r>
              <a:rPr lang="en-US" sz="1400" b="1" dirty="0">
                <a:solidFill>
                  <a:schemeClr val="tx1"/>
                </a:solidFill>
                <a:latin typeface="Helvetica Neue" pitchFamily="34" charset="0"/>
                <a:ea typeface="Helvetica Neue" pitchFamily="34" charset="-122"/>
                <a:cs typeface="Helvetica Neue" pitchFamily="34" charset="-120"/>
              </a:rPr>
              <a:t>Plan</a:t>
            </a:r>
            <a:endParaRPr lang="en-US" sz="1400" dirty="0"/>
          </a:p>
        </p:txBody>
      </p:sp>
      <p:sp>
        <p:nvSpPr>
          <p:cNvPr id="5" name="Text 3"/>
          <p:cNvSpPr txBox="1"/>
          <p:nvPr/>
        </p:nvSpPr>
        <p:spPr>
          <a:xfrm>
            <a:off x="5472074" y="1371600"/>
            <a:ext cx="1437589" cy="320040"/>
          </a:xfrm>
          <a:prstGeom prst="rect">
            <a:avLst/>
          </a:prstGeom>
          <a:noFill/>
          <a:ln/>
        </p:spPr>
        <p:txBody>
          <a:bodyPr wrap="square" lIns="0" tIns="0" rIns="0" bIns="0" rtlCol="0" anchor="t"/>
          <a:lstStyle/>
          <a:p>
            <a:pPr indent="0" marL="0">
              <a:buNone/>
            </a:pPr>
            <a:r>
              <a:rPr lang="en-US" sz="1400" b="1" dirty="0">
                <a:solidFill>
                  <a:srgbClr val="6E6E73"/>
                </a:solidFill>
                <a:latin typeface="Helvetica Neue" pitchFamily="34" charset="0"/>
                <a:ea typeface="Helvetica Neue" pitchFamily="34" charset="-122"/>
                <a:cs typeface="Helvetica Neue" pitchFamily="34" charset="-120"/>
              </a:rPr>
              <a:t>P2  </a:t>
            </a:r>
            <a:pPr indent="0" marL="0">
              <a:buNone/>
            </a:pPr>
            <a:r>
              <a:rPr lang="en-US" sz="1400" b="1" dirty="0">
                <a:solidFill>
                  <a:schemeClr val="tx1"/>
                </a:solidFill>
                <a:latin typeface="Helvetica Neue" pitchFamily="34" charset="0"/>
                <a:ea typeface="Helvetica Neue" pitchFamily="34" charset="-122"/>
                <a:cs typeface="Helvetica Neue" pitchFamily="34" charset="-120"/>
              </a:rPr>
              <a:t>Breakdown</a:t>
            </a:r>
            <a:endParaRPr lang="en-US" sz="1400" dirty="0"/>
          </a:p>
        </p:txBody>
      </p:sp>
      <p:sp>
        <p:nvSpPr>
          <p:cNvPr id="6" name="Text 4"/>
          <p:cNvSpPr txBox="1"/>
          <p:nvPr/>
        </p:nvSpPr>
        <p:spPr>
          <a:xfrm>
            <a:off x="7019392" y="1371600"/>
            <a:ext cx="1437589" cy="320040"/>
          </a:xfrm>
          <a:prstGeom prst="rect">
            <a:avLst/>
          </a:prstGeom>
          <a:noFill/>
          <a:ln/>
        </p:spPr>
        <p:txBody>
          <a:bodyPr wrap="square" lIns="0" tIns="0" rIns="0" bIns="0" rtlCol="0" anchor="t"/>
          <a:lstStyle/>
          <a:p>
            <a:pPr indent="0" marL="0">
              <a:buNone/>
            </a:pPr>
            <a:r>
              <a:rPr lang="en-US" sz="1400" b="1" dirty="0">
                <a:solidFill>
                  <a:srgbClr val="6E6E73"/>
                </a:solidFill>
                <a:latin typeface="Helvetica Neue" pitchFamily="34" charset="0"/>
                <a:ea typeface="Helvetica Neue" pitchFamily="34" charset="-122"/>
                <a:cs typeface="Helvetica Neue" pitchFamily="34" charset="-120"/>
              </a:rPr>
              <a:t>P3  </a:t>
            </a:r>
            <a:pPr indent="0" marL="0">
              <a:buNone/>
            </a:pPr>
            <a:r>
              <a:rPr lang="en-US" sz="1400" b="1" dirty="0">
                <a:solidFill>
                  <a:schemeClr val="tx1"/>
                </a:solidFill>
                <a:latin typeface="Helvetica Neue" pitchFamily="34" charset="0"/>
                <a:ea typeface="Helvetica Neue" pitchFamily="34" charset="-122"/>
                <a:cs typeface="Helvetica Neue" pitchFamily="34" charset="-120"/>
              </a:rPr>
              <a:t>Build</a:t>
            </a:r>
            <a:endParaRPr lang="en-US" sz="1400" dirty="0"/>
          </a:p>
        </p:txBody>
      </p:sp>
      <p:sp>
        <p:nvSpPr>
          <p:cNvPr id="7" name="Text 5"/>
          <p:cNvSpPr txBox="1"/>
          <p:nvPr/>
        </p:nvSpPr>
        <p:spPr>
          <a:xfrm>
            <a:off x="8566709" y="1371600"/>
            <a:ext cx="1437589" cy="320040"/>
          </a:xfrm>
          <a:prstGeom prst="rect">
            <a:avLst/>
          </a:prstGeom>
          <a:noFill/>
          <a:ln/>
        </p:spPr>
        <p:txBody>
          <a:bodyPr wrap="square" lIns="0" tIns="0" rIns="0" bIns="0" rtlCol="0" anchor="t"/>
          <a:lstStyle/>
          <a:p>
            <a:pPr indent="0" marL="0">
              <a:buNone/>
            </a:pPr>
            <a:r>
              <a:rPr lang="en-US" sz="1400" b="1" dirty="0">
                <a:solidFill>
                  <a:srgbClr val="6E6E73"/>
                </a:solidFill>
                <a:latin typeface="Helvetica Neue" pitchFamily="34" charset="0"/>
                <a:ea typeface="Helvetica Neue" pitchFamily="34" charset="-122"/>
                <a:cs typeface="Helvetica Neue" pitchFamily="34" charset="-120"/>
              </a:rPr>
              <a:t>P4  </a:t>
            </a:r>
            <a:pPr indent="0" marL="0">
              <a:buNone/>
            </a:pPr>
            <a:r>
              <a:rPr lang="en-US" sz="1400" b="1" dirty="0">
                <a:solidFill>
                  <a:schemeClr val="tx1"/>
                </a:solidFill>
                <a:latin typeface="Helvetica Neue" pitchFamily="34" charset="0"/>
                <a:ea typeface="Helvetica Neue" pitchFamily="34" charset="-122"/>
                <a:cs typeface="Helvetica Neue" pitchFamily="34" charset="-120"/>
              </a:rPr>
              <a:t>Handback</a:t>
            </a:r>
            <a:endParaRPr lang="en-US" sz="1400" dirty="0"/>
          </a:p>
        </p:txBody>
      </p:sp>
      <p:sp>
        <p:nvSpPr>
          <p:cNvPr id="8" name="Text 6"/>
          <p:cNvSpPr txBox="1"/>
          <p:nvPr/>
        </p:nvSpPr>
        <p:spPr>
          <a:xfrm>
            <a:off x="10114026" y="1371600"/>
            <a:ext cx="1437589" cy="320040"/>
          </a:xfrm>
          <a:prstGeom prst="rect">
            <a:avLst/>
          </a:prstGeom>
          <a:noFill/>
          <a:ln/>
        </p:spPr>
        <p:txBody>
          <a:bodyPr wrap="square" lIns="0" tIns="0" rIns="0" bIns="0" rtlCol="0" anchor="t"/>
          <a:lstStyle/>
          <a:p>
            <a:pPr indent="0" marL="0">
              <a:buNone/>
            </a:pPr>
            <a:r>
              <a:rPr lang="en-US" sz="1400" b="1" dirty="0">
                <a:solidFill>
                  <a:srgbClr val="6E6E73"/>
                </a:solidFill>
                <a:latin typeface="Helvetica Neue" pitchFamily="34" charset="0"/>
                <a:ea typeface="Helvetica Neue" pitchFamily="34" charset="-122"/>
                <a:cs typeface="Helvetica Neue" pitchFamily="34" charset="-120"/>
              </a:rPr>
              <a:t>P5  </a:t>
            </a:r>
            <a:pPr indent="0" marL="0">
              <a:buNone/>
            </a:pPr>
            <a:r>
              <a:rPr lang="en-US" sz="1400" b="1" dirty="0">
                <a:solidFill>
                  <a:schemeClr val="tx1"/>
                </a:solidFill>
                <a:latin typeface="Helvetica Neue" pitchFamily="34" charset="0"/>
                <a:ea typeface="Helvetica Neue" pitchFamily="34" charset="-122"/>
                <a:cs typeface="Helvetica Neue" pitchFamily="34" charset="-120"/>
              </a:rPr>
              <a:t>Retro</a:t>
            </a:r>
            <a:endParaRPr lang="en-US" sz="1400" dirty="0"/>
          </a:p>
        </p:txBody>
      </p:sp>
      <p:sp>
        <p:nvSpPr>
          <p:cNvPr id="9" name="cake dot Shell"/>
          <p:cNvSpPr/>
          <p:nvPr/>
        </p:nvSpPr>
        <p:spPr>
          <a:xfrm>
            <a:off x="640080" y="1856232"/>
            <a:ext cx="146304" cy="146304"/>
          </a:xfrm>
          <a:prstGeom prst="ellipse">
            <a:avLst/>
          </a:prstGeom>
          <a:solidFill>
            <a:srgbClr val="0071E3"/>
          </a:solidFill>
          <a:ln/>
        </p:spPr>
      </p:sp>
      <p:sp>
        <p:nvSpPr>
          <p:cNvPr id="10" name="Text 8"/>
          <p:cNvSpPr txBox="1"/>
          <p:nvPr/>
        </p:nvSpPr>
        <p:spPr>
          <a:xfrm>
            <a:off x="896112" y="1783080"/>
            <a:ext cx="1417320" cy="640080"/>
          </a:xfrm>
          <a:prstGeom prst="rect">
            <a:avLst/>
          </a:prstGeom>
          <a:noFill/>
          <a:ln/>
        </p:spPr>
        <p:txBody>
          <a:bodyPr wrap="square" lIns="0" tIns="0" rIns="0" bIns="0" rtlCol="0" anchor="t"/>
          <a:lstStyle/>
          <a:p>
            <a:pPr indent="0" marL="0">
              <a:buNone/>
            </a:pPr>
            <a:r>
              <a:rPr lang="en-US" sz="1500" b="1" dirty="0">
                <a:solidFill>
                  <a:schemeClr val="tx1"/>
                </a:solidFill>
                <a:latin typeface="Helvetica Neue" pitchFamily="34" charset="0"/>
                <a:ea typeface="Helvetica Neue" pitchFamily="34" charset="-122"/>
                <a:cs typeface="Helvetica Neue" pitchFamily="34" charset="-120"/>
              </a:rPr>
              <a:t>Shell</a:t>
            </a:r>
            <a:endParaRPr lang="en-US" sz="1500" dirty="0"/>
          </a:p>
          <a:p>
            <a:pPr indent="0" marL="0">
              <a:buNone/>
            </a:pPr>
            <a:r>
              <a:rPr lang="en-US" sz="1100" dirty="0">
                <a:solidFill>
                  <a:srgbClr val="6E6E73"/>
                </a:solidFill>
                <a:latin typeface="Helvetica Neue" pitchFamily="34" charset="0"/>
                <a:ea typeface="Helvetica Neue" pitchFamily="34" charset="-122"/>
                <a:cs typeface="Helvetica Neue" pitchFamily="34" charset="-120"/>
              </a:rPr>
              <a:t>orchestrate-deep-plans</a:t>
            </a:r>
            <a:endParaRPr lang="en-US" sz="1500" dirty="0"/>
          </a:p>
        </p:txBody>
      </p:sp>
      <p:sp>
        <p:nvSpPr>
          <p:cNvPr id="11" name="cake dot Planner"/>
          <p:cNvSpPr/>
          <p:nvPr/>
        </p:nvSpPr>
        <p:spPr>
          <a:xfrm>
            <a:off x="640080" y="2633472"/>
            <a:ext cx="146304" cy="146304"/>
          </a:xfrm>
          <a:prstGeom prst="ellipse">
            <a:avLst/>
          </a:prstGeom>
          <a:solidFill>
            <a:srgbClr val="AF52DE"/>
          </a:solidFill>
          <a:ln/>
        </p:spPr>
      </p:sp>
      <p:sp>
        <p:nvSpPr>
          <p:cNvPr id="12" name="Text 10"/>
          <p:cNvSpPr txBox="1"/>
          <p:nvPr/>
        </p:nvSpPr>
        <p:spPr>
          <a:xfrm>
            <a:off x="896112" y="2560320"/>
            <a:ext cx="1417320" cy="1097280"/>
          </a:xfrm>
          <a:prstGeom prst="rect">
            <a:avLst/>
          </a:prstGeom>
          <a:noFill/>
          <a:ln/>
        </p:spPr>
        <p:txBody>
          <a:bodyPr wrap="square" lIns="0" tIns="0" rIns="0" bIns="0" rtlCol="0" anchor="t"/>
          <a:lstStyle/>
          <a:p>
            <a:pPr indent="0" marL="0">
              <a:buNone/>
            </a:pPr>
            <a:r>
              <a:rPr lang="en-US" sz="1500" b="1" dirty="0">
                <a:solidFill>
                  <a:schemeClr val="tx1"/>
                </a:solidFill>
                <a:latin typeface="Helvetica Neue" pitchFamily="34" charset="0"/>
                <a:ea typeface="Helvetica Neue" pitchFamily="34" charset="-122"/>
                <a:cs typeface="Helvetica Neue" pitchFamily="34" charset="-120"/>
              </a:rPr>
              <a:t>Planner</a:t>
            </a:r>
            <a:endParaRPr lang="en-US" sz="1500" dirty="0"/>
          </a:p>
          <a:p>
            <a:pPr indent="0" marL="0">
              <a:buNone/>
            </a:pPr>
            <a:r>
              <a:rPr lang="en-US" sz="1100" dirty="0">
                <a:solidFill>
                  <a:srgbClr val="6E6E73"/>
                </a:solidFill>
                <a:latin typeface="Helvetica Neue" pitchFamily="34" charset="0"/>
                <a:ea typeface="Helvetica Neue" pitchFamily="34" charset="-122"/>
                <a:cs typeface="Helvetica Neue" pitchFamily="34" charset="-120"/>
              </a:rPr>
              <a:t>deep-plan</a:t>
            </a:r>
            <a:endParaRPr lang="en-US" sz="1500" dirty="0"/>
          </a:p>
        </p:txBody>
      </p:sp>
      <p:sp>
        <p:nvSpPr>
          <p:cNvPr id="13" name="cake dot Leaf skills"/>
          <p:cNvSpPr/>
          <p:nvPr/>
        </p:nvSpPr>
        <p:spPr>
          <a:xfrm>
            <a:off x="640080" y="3867912"/>
            <a:ext cx="146304" cy="146304"/>
          </a:xfrm>
          <a:prstGeom prst="ellipse">
            <a:avLst/>
          </a:prstGeom>
          <a:solidFill>
            <a:srgbClr val="28A745"/>
          </a:solidFill>
          <a:ln/>
        </p:spPr>
      </p:sp>
      <p:sp>
        <p:nvSpPr>
          <p:cNvPr id="14" name="Text 12"/>
          <p:cNvSpPr txBox="1"/>
          <p:nvPr/>
        </p:nvSpPr>
        <p:spPr>
          <a:xfrm>
            <a:off x="896112" y="3794760"/>
            <a:ext cx="1417320" cy="1417320"/>
          </a:xfrm>
          <a:prstGeom prst="rect">
            <a:avLst/>
          </a:prstGeom>
          <a:noFill/>
          <a:ln/>
        </p:spPr>
        <p:txBody>
          <a:bodyPr wrap="square" lIns="0" tIns="0" rIns="0" bIns="0" rtlCol="0" anchor="t"/>
          <a:lstStyle/>
          <a:p>
            <a:pPr indent="0" marL="0">
              <a:buNone/>
            </a:pPr>
            <a:r>
              <a:rPr lang="en-US" sz="1500" b="1" dirty="0">
                <a:solidFill>
                  <a:schemeClr val="tx1"/>
                </a:solidFill>
                <a:latin typeface="Helvetica Neue" pitchFamily="34" charset="0"/>
                <a:ea typeface="Helvetica Neue" pitchFamily="34" charset="-122"/>
                <a:cs typeface="Helvetica Neue" pitchFamily="34" charset="-120"/>
              </a:rPr>
              <a:t>Leaf skills</a:t>
            </a:r>
            <a:endParaRPr lang="en-US" sz="1500" dirty="0"/>
          </a:p>
          <a:p>
            <a:pPr indent="0" marL="0">
              <a:buNone/>
            </a:pPr>
            <a:r>
              <a:rPr lang="en-US" sz="1100" dirty="0">
                <a:solidFill>
                  <a:srgbClr val="6E6E73"/>
                </a:solidFill>
                <a:latin typeface="Helvetica Neue" pitchFamily="34" charset="0"/>
                <a:ea typeface="Helvetica Neue" pitchFamily="34" charset="-122"/>
                <a:cs typeface="Helvetica Neue" pitchFamily="34" charset="-120"/>
              </a:rPr>
              <a:t>swappable one by one</a:t>
            </a:r>
            <a:endParaRPr lang="en-US" sz="1500" dirty="0"/>
          </a:p>
        </p:txBody>
      </p:sp>
      <p:sp>
        <p:nvSpPr>
          <p:cNvPr id="15" name="cake dot Runtime"/>
          <p:cNvSpPr/>
          <p:nvPr/>
        </p:nvSpPr>
        <p:spPr>
          <a:xfrm>
            <a:off x="640080" y="5422392"/>
            <a:ext cx="146304" cy="146304"/>
          </a:xfrm>
          <a:prstGeom prst="ellipse">
            <a:avLst/>
          </a:prstGeom>
          <a:solidFill>
            <a:srgbClr val="FF9500"/>
          </a:solidFill>
          <a:ln/>
        </p:spPr>
      </p:sp>
      <p:sp>
        <p:nvSpPr>
          <p:cNvPr id="16" name="Text 14"/>
          <p:cNvSpPr txBox="1"/>
          <p:nvPr/>
        </p:nvSpPr>
        <p:spPr>
          <a:xfrm>
            <a:off x="896112" y="5349240"/>
            <a:ext cx="1417320" cy="594360"/>
          </a:xfrm>
          <a:prstGeom prst="rect">
            <a:avLst/>
          </a:prstGeom>
          <a:noFill/>
          <a:ln/>
        </p:spPr>
        <p:txBody>
          <a:bodyPr wrap="square" lIns="0" tIns="0" rIns="0" bIns="0" rtlCol="0" anchor="t"/>
          <a:lstStyle/>
          <a:p>
            <a:pPr indent="0" marL="0">
              <a:buNone/>
            </a:pPr>
            <a:r>
              <a:rPr lang="en-US" sz="1500" b="1" dirty="0">
                <a:solidFill>
                  <a:schemeClr val="tx1"/>
                </a:solidFill>
                <a:latin typeface="Helvetica Neue" pitchFamily="34" charset="0"/>
                <a:ea typeface="Helvetica Neue" pitchFamily="34" charset="-122"/>
                <a:cs typeface="Helvetica Neue" pitchFamily="34" charset="-120"/>
              </a:rPr>
              <a:t>Runtime</a:t>
            </a:r>
            <a:endParaRPr lang="en-US" sz="1500" dirty="0"/>
          </a:p>
          <a:p>
            <a:pPr indent="0" marL="0">
              <a:buNone/>
            </a:pPr>
            <a:r>
              <a:rPr lang="en-US" sz="1100" dirty="0">
                <a:solidFill>
                  <a:srgbClr val="6E6E73"/>
                </a:solidFill>
                <a:latin typeface="Helvetica Neue" pitchFamily="34" charset="0"/>
                <a:ea typeface="Helvetica Neue" pitchFamily="34" charset="-122"/>
                <a:cs typeface="Helvetica Neue" pitchFamily="34" charset="-120"/>
              </a:rPr>
              <a:t>under every spawn</a:t>
            </a:r>
            <a:endParaRPr lang="en-US" sz="1500" dirty="0"/>
          </a:p>
        </p:txBody>
      </p:sp>
      <p:sp>
        <p:nvSpPr>
          <p:cNvPr id="17" name="cake shell"/>
          <p:cNvSpPr/>
          <p:nvPr/>
        </p:nvSpPr>
        <p:spPr>
          <a:xfrm>
            <a:off x="2377440" y="1783080"/>
            <a:ext cx="9174175" cy="640080"/>
          </a:xfrm>
          <a:prstGeom prst="roundRect">
            <a:avLst>
              <a:gd name="adj" fmla="val 17143"/>
            </a:avLst>
          </a:prstGeom>
          <a:solidFill>
            <a:srgbClr val="0071E3">
              <a:alpha val="12000"/>
            </a:srgbClr>
          </a:solidFill>
          <a:ln/>
        </p:spPr>
      </p:sp>
      <p:sp>
        <p:nvSpPr>
          <p:cNvPr id="18" name="Text 16"/>
          <p:cNvSpPr txBox="1"/>
          <p:nvPr/>
        </p:nvSpPr>
        <p:spPr>
          <a:xfrm>
            <a:off x="2560320" y="1783080"/>
            <a:ext cx="8808415" cy="640080"/>
          </a:xfrm>
          <a:prstGeom prst="rect">
            <a:avLst/>
          </a:prstGeom>
          <a:noFill/>
          <a:ln/>
        </p:spPr>
        <p:txBody>
          <a:bodyPr wrap="square" lIns="0" tIns="0" rIns="0" bIns="0" rtlCol="0" anchor="ctr"/>
          <a:lstStyle/>
          <a:p>
            <a:pPr indent="0" marL="0">
              <a:buNone/>
            </a:pPr>
            <a:r>
              <a:rPr lang="en-US" sz="1300" dirty="0">
                <a:solidFill>
                  <a:schemeClr val="tx1"/>
                </a:solidFill>
                <a:latin typeface="Helvetica Neue" pitchFamily="34" charset="0"/>
                <a:ea typeface="Helvetica Neue" pitchFamily="34" charset="-122"/>
                <a:cs typeface="Helvetica Neue" pitchFamily="34" charset="-120"/>
              </a:rPr>
              <a:t>Podium CLI and extension · human modes · two milestones at once · epic decisions before the milestone cut</a:t>
            </a:r>
            <a:endParaRPr lang="en-US" sz="1300" dirty="0"/>
          </a:p>
        </p:txBody>
      </p:sp>
      <p:sp>
        <p:nvSpPr>
          <p:cNvPr id="19" name="cake planner 0"/>
          <p:cNvSpPr/>
          <p:nvPr/>
        </p:nvSpPr>
        <p:spPr>
          <a:xfrm>
            <a:off x="2377440" y="2560320"/>
            <a:ext cx="1437589" cy="1097280"/>
          </a:xfrm>
          <a:prstGeom prst="roundRect">
            <a:avLst>
              <a:gd name="adj" fmla="val 10000"/>
            </a:avLst>
          </a:prstGeom>
          <a:solidFill>
            <a:srgbClr val="AF52DE">
              <a:alpha val="12000"/>
            </a:srgbClr>
          </a:solidFill>
          <a:ln/>
        </p:spPr>
      </p:sp>
      <p:sp>
        <p:nvSpPr>
          <p:cNvPr id="20" name="Text 18"/>
          <p:cNvSpPr txBox="1"/>
          <p:nvPr/>
        </p:nvSpPr>
        <p:spPr>
          <a:xfrm>
            <a:off x="2487168" y="2651760"/>
            <a:ext cx="1218133" cy="91440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Reads earlier plan history</a:t>
            </a:r>
            <a:endParaRPr lang="en-US" sz="1200" dirty="0"/>
          </a:p>
        </p:txBody>
      </p:sp>
      <p:sp>
        <p:nvSpPr>
          <p:cNvPr id="21" name="cake planner 1"/>
          <p:cNvSpPr/>
          <p:nvPr/>
        </p:nvSpPr>
        <p:spPr>
          <a:xfrm>
            <a:off x="3924757" y="2560320"/>
            <a:ext cx="1437589" cy="1097280"/>
          </a:xfrm>
          <a:prstGeom prst="roundRect">
            <a:avLst>
              <a:gd name="adj" fmla="val 10000"/>
            </a:avLst>
          </a:prstGeom>
          <a:solidFill>
            <a:srgbClr val="AF52DE">
              <a:alpha val="12000"/>
            </a:srgbClr>
          </a:solidFill>
          <a:ln/>
        </p:spPr>
      </p:sp>
      <p:sp>
        <p:nvSpPr>
          <p:cNvPr id="22" name="Text 20"/>
          <p:cNvSpPr txBox="1"/>
          <p:nvPr/>
        </p:nvSpPr>
        <p:spPr>
          <a:xfrm>
            <a:off x="4034485" y="2651760"/>
            <a:ext cx="1218133" cy="91440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deep-plan: recon, grill, mock, architecture, spec</a:t>
            </a:r>
            <a:endParaRPr lang="en-US" sz="1200" dirty="0"/>
          </a:p>
        </p:txBody>
      </p:sp>
      <p:sp>
        <p:nvSpPr>
          <p:cNvPr id="23" name="cake planner 2"/>
          <p:cNvSpPr/>
          <p:nvPr/>
        </p:nvSpPr>
        <p:spPr>
          <a:xfrm>
            <a:off x="5472074" y="2560320"/>
            <a:ext cx="1437589" cy="1097280"/>
          </a:xfrm>
          <a:prstGeom prst="roundRect">
            <a:avLst>
              <a:gd name="adj" fmla="val 10000"/>
            </a:avLst>
          </a:prstGeom>
          <a:solidFill>
            <a:srgbClr val="AF52DE">
              <a:alpha val="12000"/>
            </a:srgbClr>
          </a:solidFill>
          <a:ln/>
        </p:spPr>
      </p:sp>
      <p:sp>
        <p:nvSpPr>
          <p:cNvPr id="24" name="Text 22"/>
          <p:cNvSpPr txBox="1"/>
          <p:nvPr/>
        </p:nvSpPr>
        <p:spPr>
          <a:xfrm>
            <a:off x="5581802" y="2651760"/>
            <a:ext cx="1218133" cy="91440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Splits tasks into stories</a:t>
            </a:r>
            <a:endParaRPr lang="en-US" sz="1200" dirty="0"/>
          </a:p>
        </p:txBody>
      </p:sp>
      <p:sp>
        <p:nvSpPr>
          <p:cNvPr id="25" name="cake planner 3"/>
          <p:cNvSpPr/>
          <p:nvPr/>
        </p:nvSpPr>
        <p:spPr>
          <a:xfrm>
            <a:off x="7019392" y="2560320"/>
            <a:ext cx="1437589" cy="1097280"/>
          </a:xfrm>
          <a:prstGeom prst="roundRect">
            <a:avLst>
              <a:gd name="adj" fmla="val 10000"/>
            </a:avLst>
          </a:prstGeom>
          <a:solidFill>
            <a:srgbClr val="AF52DE">
              <a:alpha val="6000"/>
            </a:srgbClr>
          </a:solidFill>
          <a:ln/>
        </p:spPr>
      </p:sp>
      <p:sp>
        <p:nvSpPr>
          <p:cNvPr id="26" name="Text 24"/>
          <p:cNvSpPr txBox="1"/>
          <p:nvPr/>
        </p:nvSpPr>
        <p:spPr>
          <a:xfrm>
            <a:off x="7129120" y="2651760"/>
            <a:ext cx="1218133" cy="91440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Parallel story agents replace the serial build</a:t>
            </a:r>
            <a:endParaRPr lang="en-US" sz="1200" dirty="0"/>
          </a:p>
        </p:txBody>
      </p:sp>
      <p:sp>
        <p:nvSpPr>
          <p:cNvPr id="27" name="cake planner 4"/>
          <p:cNvSpPr/>
          <p:nvPr/>
        </p:nvSpPr>
        <p:spPr>
          <a:xfrm>
            <a:off x="8566709" y="2560320"/>
            <a:ext cx="1437589" cy="1097280"/>
          </a:xfrm>
          <a:prstGeom prst="roundRect">
            <a:avLst>
              <a:gd name="adj" fmla="val 10000"/>
            </a:avLst>
          </a:prstGeom>
          <a:solidFill>
            <a:srgbClr val="AF52DE">
              <a:alpha val="12000"/>
            </a:srgbClr>
          </a:solidFill>
          <a:ln/>
        </p:spPr>
      </p:sp>
      <p:sp>
        <p:nvSpPr>
          <p:cNvPr id="28" name="Text 26"/>
          <p:cNvSpPr txBox="1"/>
          <p:nvPr/>
        </p:nvSpPr>
        <p:spPr>
          <a:xfrm>
            <a:off x="8676437" y="2651760"/>
            <a:ext cx="1218133" cy="91440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deep-plan: gate, verify, land</a:t>
            </a:r>
            <a:endParaRPr lang="en-US" sz="1200" dirty="0"/>
          </a:p>
        </p:txBody>
      </p:sp>
      <p:sp>
        <p:nvSpPr>
          <p:cNvPr id="29" name="cake planner 5"/>
          <p:cNvSpPr/>
          <p:nvPr/>
        </p:nvSpPr>
        <p:spPr>
          <a:xfrm>
            <a:off x="10114026" y="2560320"/>
            <a:ext cx="1437589" cy="1097280"/>
          </a:xfrm>
          <a:prstGeom prst="roundRect">
            <a:avLst>
              <a:gd name="adj" fmla="val 10000"/>
            </a:avLst>
          </a:prstGeom>
          <a:solidFill>
            <a:srgbClr val="AF52DE">
              <a:alpha val="12000"/>
            </a:srgbClr>
          </a:solidFill>
          <a:ln/>
        </p:spPr>
      </p:sp>
      <p:sp>
        <p:nvSpPr>
          <p:cNvPr id="30" name="Text 28"/>
          <p:cNvSpPr txBox="1"/>
          <p:nvPr/>
        </p:nvSpPr>
        <p:spPr>
          <a:xfrm>
            <a:off x="10223754" y="2651760"/>
            <a:ext cx="1218133" cy="91440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A fresh subagent reads the milestone's friction</a:t>
            </a:r>
            <a:endParaRPr lang="en-US" sz="1200" dirty="0"/>
          </a:p>
        </p:txBody>
      </p:sp>
      <p:sp>
        <p:nvSpPr>
          <p:cNvPr id="31" name="cake leaf 0"/>
          <p:cNvSpPr/>
          <p:nvPr/>
        </p:nvSpPr>
        <p:spPr>
          <a:xfrm>
            <a:off x="2377440" y="3794760"/>
            <a:ext cx="1437589" cy="1417320"/>
          </a:xfrm>
          <a:prstGeom prst="roundRect">
            <a:avLst>
              <a:gd name="adj" fmla="val 7742"/>
            </a:avLst>
          </a:prstGeom>
          <a:solidFill>
            <a:srgbClr val="28A745">
              <a:alpha val="12000"/>
            </a:srgbClr>
          </a:solidFill>
          <a:ln/>
        </p:spPr>
      </p:sp>
      <p:sp>
        <p:nvSpPr>
          <p:cNvPr id="32" name="Text 30"/>
          <p:cNvSpPr txBox="1"/>
          <p:nvPr/>
        </p:nvSpPr>
        <p:spPr>
          <a:xfrm>
            <a:off x="2487168" y="3886200"/>
            <a:ext cx="1218133" cy="123444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Explore</a:t>
            </a:r>
            <a:endParaRPr lang="en-US" sz="1200" dirty="0"/>
          </a:p>
        </p:txBody>
      </p:sp>
      <p:sp>
        <p:nvSpPr>
          <p:cNvPr id="33" name="cake leaf 1"/>
          <p:cNvSpPr/>
          <p:nvPr/>
        </p:nvSpPr>
        <p:spPr>
          <a:xfrm>
            <a:off x="3924757" y="3794760"/>
            <a:ext cx="1437589" cy="1417320"/>
          </a:xfrm>
          <a:prstGeom prst="roundRect">
            <a:avLst>
              <a:gd name="adj" fmla="val 7742"/>
            </a:avLst>
          </a:prstGeom>
          <a:solidFill>
            <a:srgbClr val="28A745">
              <a:alpha val="12000"/>
            </a:srgbClr>
          </a:solidFill>
          <a:ln/>
        </p:spPr>
      </p:sp>
      <p:sp>
        <p:nvSpPr>
          <p:cNvPr id="34" name="Text 32"/>
          <p:cNvSpPr txBox="1"/>
          <p:nvPr/>
        </p:nvSpPr>
        <p:spPr>
          <a:xfrm>
            <a:off x="4034485" y="3886200"/>
            <a:ext cx="1218133" cy="123444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grilling</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research</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prototype</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domain-modeling</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codebase-design</a:t>
            </a:r>
            <a:endParaRPr lang="en-US" sz="1200" dirty="0"/>
          </a:p>
        </p:txBody>
      </p:sp>
      <p:sp>
        <p:nvSpPr>
          <p:cNvPr id="35" name="cake leaf 2"/>
          <p:cNvSpPr/>
          <p:nvPr/>
        </p:nvSpPr>
        <p:spPr>
          <a:xfrm>
            <a:off x="5472074" y="3794760"/>
            <a:ext cx="1437589" cy="1417320"/>
          </a:xfrm>
          <a:prstGeom prst="roundRect">
            <a:avLst>
              <a:gd name="adj" fmla="val 7742"/>
            </a:avLst>
          </a:prstGeom>
          <a:solidFill>
            <a:srgbClr val="28A745">
              <a:alpha val="12000"/>
            </a:srgbClr>
          </a:solidFill>
          <a:ln/>
        </p:spPr>
      </p:sp>
      <p:sp>
        <p:nvSpPr>
          <p:cNvPr id="36" name="Text 34"/>
          <p:cNvSpPr txBox="1"/>
          <p:nvPr/>
        </p:nvSpPr>
        <p:spPr>
          <a:xfrm>
            <a:off x="5581802" y="3886200"/>
            <a:ext cx="1218133" cy="123444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a:t>
            </a:r>
            <a:endParaRPr lang="en-US" sz="1200" dirty="0"/>
          </a:p>
        </p:txBody>
      </p:sp>
      <p:sp>
        <p:nvSpPr>
          <p:cNvPr id="37" name="cake leaf 3"/>
          <p:cNvSpPr/>
          <p:nvPr/>
        </p:nvSpPr>
        <p:spPr>
          <a:xfrm>
            <a:off x="7019392" y="3794760"/>
            <a:ext cx="1437589" cy="1417320"/>
          </a:xfrm>
          <a:prstGeom prst="roundRect">
            <a:avLst>
              <a:gd name="adj" fmla="val 7742"/>
            </a:avLst>
          </a:prstGeom>
          <a:solidFill>
            <a:srgbClr val="28A745">
              <a:alpha val="12000"/>
            </a:srgbClr>
          </a:solidFill>
          <a:ln/>
        </p:spPr>
      </p:sp>
      <p:sp>
        <p:nvSpPr>
          <p:cNvPr id="38" name="Text 36"/>
          <p:cNvSpPr txBox="1"/>
          <p:nvPr/>
        </p:nvSpPr>
        <p:spPr>
          <a:xfrm>
            <a:off x="7129120" y="3886200"/>
            <a:ext cx="1218133" cy="123444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tdd in every story prompt</a:t>
            </a:r>
            <a:endParaRPr lang="en-US" sz="1200" dirty="0"/>
          </a:p>
        </p:txBody>
      </p:sp>
      <p:sp>
        <p:nvSpPr>
          <p:cNvPr id="39" name="cake leaf 4"/>
          <p:cNvSpPr/>
          <p:nvPr/>
        </p:nvSpPr>
        <p:spPr>
          <a:xfrm>
            <a:off x="8566709" y="3794760"/>
            <a:ext cx="1437589" cy="1417320"/>
          </a:xfrm>
          <a:prstGeom prst="roundRect">
            <a:avLst>
              <a:gd name="adj" fmla="val 7742"/>
            </a:avLst>
          </a:prstGeom>
          <a:solidFill>
            <a:srgbClr val="28A745">
              <a:alpha val="12000"/>
            </a:srgbClr>
          </a:solidFill>
          <a:ln/>
        </p:spPr>
      </p:sp>
      <p:sp>
        <p:nvSpPr>
          <p:cNvPr id="40" name="Text 38"/>
          <p:cNvSpPr txBox="1"/>
          <p:nvPr/>
        </p:nvSpPr>
        <p:spPr>
          <a:xfrm>
            <a:off x="8676437" y="3886200"/>
            <a:ext cx="1218133" cy="123444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deep-qa</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code-review</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security-review</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diagnosing-bugs</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create-deep-pr</a:t>
            </a:r>
            <a:endParaRPr lang="en-US" sz="1200" dirty="0"/>
          </a:p>
        </p:txBody>
      </p:sp>
      <p:sp>
        <p:nvSpPr>
          <p:cNvPr id="41" name="cake leaf 5"/>
          <p:cNvSpPr/>
          <p:nvPr/>
        </p:nvSpPr>
        <p:spPr>
          <a:xfrm>
            <a:off x="10114026" y="3794760"/>
            <a:ext cx="1437589" cy="1417320"/>
          </a:xfrm>
          <a:prstGeom prst="roundRect">
            <a:avLst>
              <a:gd name="adj" fmla="val 7742"/>
            </a:avLst>
          </a:prstGeom>
          <a:solidFill>
            <a:srgbClr val="28A745">
              <a:alpha val="12000"/>
            </a:srgbClr>
          </a:solidFill>
          <a:ln/>
        </p:spPr>
      </p:sp>
      <p:sp>
        <p:nvSpPr>
          <p:cNvPr id="42" name="Text 40"/>
          <p:cNvSpPr txBox="1"/>
          <p:nvPr/>
        </p:nvSpPr>
        <p:spPr>
          <a:xfrm>
            <a:off x="10223754" y="3886200"/>
            <a:ext cx="1218133" cy="1234440"/>
          </a:xfrm>
          <a:prstGeom prst="rect">
            <a:avLst/>
          </a:prstGeom>
          <a:noFill/>
          <a:ln/>
        </p:spPr>
        <p:txBody>
          <a:bodyPr wrap="square" lIns="0" tIns="0" rIns="0" bIns="0" rtlCol="0" anchor="t"/>
          <a:lstStyle/>
          <a:p>
            <a:pPr indent="0" marL="0">
              <a:buNone/>
            </a:pPr>
            <a:r>
              <a:rPr lang="en-US" sz="1200" dirty="0">
                <a:solidFill>
                  <a:schemeClr val="tx1"/>
                </a:solidFill>
                <a:latin typeface="Helvetica Neue" pitchFamily="34" charset="0"/>
                <a:ea typeface="Helvetica Neue" pitchFamily="34" charset="-122"/>
                <a:cs typeface="Helvetica Neue" pitchFamily="34" charset="-120"/>
              </a:rPr>
              <a:t>retro rules</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podium tokens</a:t>
            </a:r>
            <a:endParaRPr lang="en-US" sz="1200" dirty="0"/>
          </a:p>
          <a:p>
            <a:pPr indent="0" marL="0">
              <a:buNone/>
            </a:pPr>
            <a:r>
              <a:rPr lang="en-US" sz="1200" dirty="0">
                <a:solidFill>
                  <a:schemeClr val="tx1"/>
                </a:solidFill>
                <a:latin typeface="Helvetica Neue" pitchFamily="34" charset="0"/>
                <a:ea typeface="Helvetica Neue" pitchFamily="34" charset="-122"/>
                <a:cs typeface="Helvetica Neue" pitchFamily="34" charset="-120"/>
              </a:rPr>
              <a:t>podium finding</a:t>
            </a:r>
            <a:endParaRPr lang="en-US" sz="1200" dirty="0"/>
          </a:p>
        </p:txBody>
      </p:sp>
      <p:sp>
        <p:nvSpPr>
          <p:cNvPr id="43" name="cake runtime"/>
          <p:cNvSpPr/>
          <p:nvPr/>
        </p:nvSpPr>
        <p:spPr>
          <a:xfrm>
            <a:off x="2377440" y="5349240"/>
            <a:ext cx="9174175" cy="594360"/>
          </a:xfrm>
          <a:prstGeom prst="roundRect">
            <a:avLst>
              <a:gd name="adj" fmla="val 18462"/>
            </a:avLst>
          </a:prstGeom>
          <a:solidFill>
            <a:srgbClr val="FF9500">
              <a:alpha val="12000"/>
            </a:srgbClr>
          </a:solidFill>
          <a:ln/>
        </p:spPr>
      </p:sp>
      <p:sp>
        <p:nvSpPr>
          <p:cNvPr id="44" name="Text 42"/>
          <p:cNvSpPr txBox="1"/>
          <p:nvPr/>
        </p:nvSpPr>
        <p:spPr>
          <a:xfrm>
            <a:off x="2560320" y="5349240"/>
            <a:ext cx="8808415" cy="594360"/>
          </a:xfrm>
          <a:prstGeom prst="rect">
            <a:avLst/>
          </a:prstGeom>
          <a:noFill/>
          <a:ln/>
        </p:spPr>
        <p:txBody>
          <a:bodyPr wrap="square" lIns="0" tIns="0" rIns="0" bIns="0" rtlCol="0" anchor="ctr"/>
          <a:lstStyle/>
          <a:p>
            <a:pPr indent="0" marL="0">
              <a:buNone/>
            </a:pPr>
            <a:r>
              <a:rPr lang="en-US" sz="1300" dirty="0">
                <a:solidFill>
                  <a:schemeClr val="tx1"/>
                </a:solidFill>
                <a:latin typeface="Helvetica Neue" pitchFamily="34" charset="0"/>
                <a:ea typeface="Helvetica Neue" pitchFamily="34" charset="-122"/>
                <a:cs typeface="Helvetica Neue" pitchFamily="34" charset="-120"/>
              </a:rPr>
              <a:t>subagent protocol · Paseo or Agent · Opus for critical work, Sonnet for the rest · a contract of commands per repo</a:t>
            </a:r>
            <a:endParaRPr lang="en-US" sz="13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Built on ideas that work.</a:t>
            </a:r>
            <a:endParaRPr lang="en-US" sz="3600" dirty="0"/>
          </a:p>
        </p:txBody>
      </p:sp>
      <p:sp>
        <p:nvSpPr>
          <p:cNvPr id="3" name="idea 1"/>
          <p:cNvSpPr/>
          <p:nvPr/>
        </p:nvSpPr>
        <p:spPr>
          <a:xfrm>
            <a:off x="640080" y="1417320"/>
            <a:ext cx="3484778" cy="1463040"/>
          </a:xfrm>
          <a:prstGeom prst="roundRect">
            <a:avLst>
              <a:gd name="adj" fmla="val 12500"/>
            </a:avLst>
          </a:prstGeom>
          <a:solidFill>
            <a:srgbClr val="F5F5F7"/>
          </a:solidFill>
          <a:ln/>
        </p:spPr>
      </p:sp>
      <p:sp>
        <p:nvSpPr>
          <p:cNvPr id="4" name="Text 2"/>
          <p:cNvSpPr txBox="1"/>
          <p:nvPr/>
        </p:nvSpPr>
        <p:spPr>
          <a:xfrm>
            <a:off x="868680" y="158191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grilling · Matt Pocock</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Grill before you build</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A spec brief with numbered assumptions you confirm before any code.</a:t>
            </a:r>
            <a:endParaRPr lang="en-US" sz="1100" dirty="0"/>
          </a:p>
        </p:txBody>
      </p:sp>
      <p:sp>
        <p:nvSpPr>
          <p:cNvPr id="5" name="idea 2"/>
          <p:cNvSpPr/>
          <p:nvPr/>
        </p:nvSpPr>
        <p:spPr>
          <a:xfrm>
            <a:off x="4353458" y="1417320"/>
            <a:ext cx="3484778" cy="1463040"/>
          </a:xfrm>
          <a:prstGeom prst="roundRect">
            <a:avLst>
              <a:gd name="adj" fmla="val 12500"/>
            </a:avLst>
          </a:prstGeom>
          <a:solidFill>
            <a:srgbClr val="F5F5F7"/>
          </a:solidFill>
          <a:ln/>
        </p:spPr>
      </p:sp>
      <p:sp>
        <p:nvSpPr>
          <p:cNvPr id="6" name="Text 4"/>
          <p:cNvSpPr txBox="1"/>
          <p:nvPr/>
        </p:nvSpPr>
        <p:spPr>
          <a:xfrm>
            <a:off x="4582058" y="158191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wayfinder · Matt Pocock</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Map decisions, then build</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Questions spanning milestones are settled first; work too big gets re-cut.</a:t>
            </a:r>
            <a:endParaRPr lang="en-US" sz="1100" dirty="0"/>
          </a:p>
        </p:txBody>
      </p:sp>
      <p:sp>
        <p:nvSpPr>
          <p:cNvPr id="7" name="idea 3"/>
          <p:cNvSpPr/>
          <p:nvPr/>
        </p:nvSpPr>
        <p:spPr>
          <a:xfrm>
            <a:off x="8066837" y="1417320"/>
            <a:ext cx="3484778" cy="1463040"/>
          </a:xfrm>
          <a:prstGeom prst="roundRect">
            <a:avLst>
              <a:gd name="adj" fmla="val 12500"/>
            </a:avLst>
          </a:prstGeom>
          <a:solidFill>
            <a:srgbClr val="F5F5F7"/>
          </a:solidFill>
          <a:ln/>
        </p:spPr>
      </p:sp>
      <p:sp>
        <p:nvSpPr>
          <p:cNvPr id="8" name="Text 6"/>
          <p:cNvSpPr txBox="1"/>
          <p:nvPr/>
        </p:nvSpPr>
        <p:spPr>
          <a:xfrm>
            <a:off x="8295437" y="158191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epic-breakdown-advisor · Dean Peters</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Thin vertical slices</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Milestones cut with Humanizing Work's splitting patterns and a Valuable check.</a:t>
            </a:r>
            <a:endParaRPr lang="en-US" sz="1100" dirty="0"/>
          </a:p>
        </p:txBody>
      </p:sp>
      <p:sp>
        <p:nvSpPr>
          <p:cNvPr id="9" name="idea 4"/>
          <p:cNvSpPr/>
          <p:nvPr/>
        </p:nvSpPr>
        <p:spPr>
          <a:xfrm>
            <a:off x="640080" y="3063240"/>
            <a:ext cx="3484778" cy="1463040"/>
          </a:xfrm>
          <a:prstGeom prst="roundRect">
            <a:avLst>
              <a:gd name="adj" fmla="val 12500"/>
            </a:avLst>
          </a:prstGeom>
          <a:solidFill>
            <a:srgbClr val="F5F5F7"/>
          </a:solidFill>
          <a:ln/>
        </p:spPr>
      </p:sp>
      <p:sp>
        <p:nvSpPr>
          <p:cNvPr id="10" name="Text 8"/>
          <p:cNvSpPr txBox="1"/>
          <p:nvPr/>
        </p:nvSpPr>
        <p:spPr>
          <a:xfrm>
            <a:off x="868680" y="322783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prototype · Matt Pocock</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Prototype to decide</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A clickable mock is signed off before a single story is built.</a:t>
            </a:r>
            <a:endParaRPr lang="en-US" sz="1100" dirty="0"/>
          </a:p>
        </p:txBody>
      </p:sp>
      <p:sp>
        <p:nvSpPr>
          <p:cNvPr id="11" name="idea 5"/>
          <p:cNvSpPr/>
          <p:nvPr/>
        </p:nvSpPr>
        <p:spPr>
          <a:xfrm>
            <a:off x="4353458" y="3063240"/>
            <a:ext cx="3484778" cy="1463040"/>
          </a:xfrm>
          <a:prstGeom prst="roundRect">
            <a:avLst>
              <a:gd name="adj" fmla="val 12500"/>
            </a:avLst>
          </a:prstGeom>
          <a:solidFill>
            <a:srgbClr val="F5F5F7"/>
          </a:solidFill>
          <a:ln/>
        </p:spPr>
      </p:sp>
      <p:sp>
        <p:nvSpPr>
          <p:cNvPr id="12" name="Text 10"/>
          <p:cNvSpPr txBox="1"/>
          <p:nvPr/>
        </p:nvSpPr>
        <p:spPr>
          <a:xfrm>
            <a:off x="4582058" y="322783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tdd · Matt Pocock</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Red, green, refactor</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One commit per green slice, and a contract that must pass.</a:t>
            </a:r>
            <a:endParaRPr lang="en-US" sz="1100" dirty="0"/>
          </a:p>
        </p:txBody>
      </p:sp>
      <p:sp>
        <p:nvSpPr>
          <p:cNvPr id="13" name="idea 6"/>
          <p:cNvSpPr/>
          <p:nvPr/>
        </p:nvSpPr>
        <p:spPr>
          <a:xfrm>
            <a:off x="8066837" y="3063240"/>
            <a:ext cx="3484778" cy="1463040"/>
          </a:xfrm>
          <a:prstGeom prst="roundRect">
            <a:avLst>
              <a:gd name="adj" fmla="val 12500"/>
            </a:avLst>
          </a:prstGeom>
          <a:solidFill>
            <a:srgbClr val="F5F5F7"/>
          </a:solidFill>
          <a:ln/>
        </p:spPr>
      </p:sp>
      <p:sp>
        <p:nvSpPr>
          <p:cNvPr id="14" name="Text 12"/>
          <p:cNvSpPr txBox="1"/>
          <p:nvPr/>
        </p:nvSpPr>
        <p:spPr>
          <a:xfrm>
            <a:off x="8295437" y="322783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code-review · Matt Pocock</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Review on two axes</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Standards and spec reviewed by parallel subagents at every gate.</a:t>
            </a:r>
            <a:endParaRPr lang="en-US" sz="1100" dirty="0"/>
          </a:p>
        </p:txBody>
      </p:sp>
      <p:sp>
        <p:nvSpPr>
          <p:cNvPr id="15" name="idea 7"/>
          <p:cNvSpPr/>
          <p:nvPr/>
        </p:nvSpPr>
        <p:spPr>
          <a:xfrm>
            <a:off x="640080" y="4709160"/>
            <a:ext cx="3484778" cy="1463040"/>
          </a:xfrm>
          <a:prstGeom prst="roundRect">
            <a:avLst>
              <a:gd name="adj" fmla="val 12500"/>
            </a:avLst>
          </a:prstGeom>
          <a:solidFill>
            <a:srgbClr val="F5F5F7"/>
          </a:solidFill>
          <a:ln/>
        </p:spPr>
      </p:sp>
      <p:sp>
        <p:nvSpPr>
          <p:cNvPr id="16" name="Text 14"/>
          <p:cNvSpPr txBox="1"/>
          <p:nvPr/>
        </p:nvSpPr>
        <p:spPr>
          <a:xfrm>
            <a:off x="868680" y="487375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codebase-design · after John Ousterhout</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Deep modules</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Interfaces are pinned before stories split, so agents don't collide.</a:t>
            </a:r>
            <a:endParaRPr lang="en-US" sz="1100" dirty="0"/>
          </a:p>
        </p:txBody>
      </p:sp>
      <p:sp>
        <p:nvSpPr>
          <p:cNvPr id="17" name="idea 8"/>
          <p:cNvSpPr/>
          <p:nvPr/>
        </p:nvSpPr>
        <p:spPr>
          <a:xfrm>
            <a:off x="4353458" y="4709160"/>
            <a:ext cx="3484778" cy="1463040"/>
          </a:xfrm>
          <a:prstGeom prst="roundRect">
            <a:avLst>
              <a:gd name="adj" fmla="val 12500"/>
            </a:avLst>
          </a:prstGeom>
          <a:solidFill>
            <a:srgbClr val="F5F5F7"/>
          </a:solidFill>
          <a:ln/>
        </p:spPr>
      </p:sp>
      <p:sp>
        <p:nvSpPr>
          <p:cNvPr id="18" name="Text 16"/>
          <p:cNvSpPr txBox="1"/>
          <p:nvPr/>
        </p:nvSpPr>
        <p:spPr>
          <a:xfrm>
            <a:off x="4582058" y="487375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retro · Matt Pocock</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Learn from every run</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Friction becomes findings, and findings become next week's fixes.</a:t>
            </a:r>
            <a:endParaRPr lang="en-US" sz="1100" dirty="0"/>
          </a:p>
        </p:txBody>
      </p:sp>
      <p:sp>
        <p:nvSpPr>
          <p:cNvPr id="19" name="idea 9"/>
          <p:cNvSpPr/>
          <p:nvPr/>
        </p:nvSpPr>
        <p:spPr>
          <a:xfrm>
            <a:off x="8066837" y="4709160"/>
            <a:ext cx="3484778" cy="1463040"/>
          </a:xfrm>
          <a:prstGeom prst="roundRect">
            <a:avLst>
              <a:gd name="adj" fmla="val 12500"/>
            </a:avLst>
          </a:prstGeom>
          <a:solidFill>
            <a:srgbClr val="F5F5F7"/>
          </a:solidFill>
          <a:ln/>
        </p:spPr>
      </p:sp>
      <p:sp>
        <p:nvSpPr>
          <p:cNvPr id="20" name="Text 18"/>
          <p:cNvSpPr txBox="1"/>
          <p:nvPr/>
        </p:nvSpPr>
        <p:spPr>
          <a:xfrm>
            <a:off x="8295437" y="4873752"/>
            <a:ext cx="3027578" cy="1188720"/>
          </a:xfrm>
          <a:prstGeom prst="rect">
            <a:avLst/>
          </a:prstGeom>
          <a:noFill/>
          <a:ln/>
        </p:spPr>
        <p:txBody>
          <a:bodyPr wrap="square" lIns="0" tIns="0" rIns="0" bIns="0" rtlCol="0" anchor="t"/>
          <a:lstStyle/>
          <a:p>
            <a:pPr indent="0" marL="0">
              <a:spcAft>
                <a:spcPts val="300"/>
              </a:spcAft>
              <a:buNone/>
            </a:pPr>
            <a:r>
              <a:rPr lang="en-US" sz="1100" b="1" dirty="0">
                <a:solidFill>
                  <a:srgbClr val="0071E3"/>
                </a:solidFill>
                <a:latin typeface="Helvetica Neue" pitchFamily="34" charset="0"/>
                <a:ea typeface="Helvetica Neue" pitchFamily="34" charset="-122"/>
                <a:cs typeface="Helvetica Neue" pitchFamily="34" charset="-120"/>
              </a:rPr>
              <a:t>writing-for-agents · Matt Pocock</a:t>
            </a:r>
            <a:endParaRPr lang="en-US" sz="1100" dirty="0"/>
          </a:p>
          <a:p>
            <a:pPr indent="0" marL="0">
              <a:spcAft>
                <a:spcPts val="300"/>
              </a:spcAft>
              <a:buNone/>
            </a:pPr>
            <a:r>
              <a:rPr lang="en-US" sz="1700" b="1" dirty="0">
                <a:solidFill>
                  <a:schemeClr val="tx1"/>
                </a:solidFill>
                <a:latin typeface="Helvetica Neue" pitchFamily="34" charset="0"/>
                <a:ea typeface="Helvetica Neue" pitchFamily="34" charset="-122"/>
                <a:cs typeface="Helvetica Neue" pitchFamily="34" charset="-120"/>
              </a:rPr>
              <a:t>Checkable instructions</a:t>
            </a:r>
            <a:endParaRPr lang="en-US" sz="1100" dirty="0"/>
          </a:p>
          <a:p>
            <a:pPr indent="0" marL="0">
              <a:spcAft>
                <a:spcPts val="300"/>
              </a:spcAft>
              <a:buNone/>
            </a:pPr>
            <a:r>
              <a:rPr lang="en-US" sz="1300" dirty="0">
                <a:solidFill>
                  <a:srgbClr val="6E6E73"/>
                </a:solidFill>
                <a:latin typeface="Helvetica Neue" pitchFamily="34" charset="0"/>
                <a:ea typeface="Helvetica Neue" pitchFamily="34" charset="-122"/>
                <a:cs typeface="Helvetica Neue" pitchFamily="34" charset="-120"/>
              </a:rPr>
              <a:t>Every step ends on a completion criterion an agent can verify.</a:t>
            </a:r>
            <a:endParaRPr lang="en-US" sz="11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See every agent. Steer from one screen.</a:t>
            </a:r>
            <a:endParaRPr lang="en-US" sz="3600" dirty="0"/>
          </a:p>
        </p:txBody>
      </p:sp>
      <p:pic>
        <p:nvPicPr>
          <p:cNvPr id="3" name="Podium screenshot" descr="Podium dashboard: pipeline stepper, a Needs you panel, decisions made while away, stories in progress and the activity feed">    </p:cNvPr>
          <p:cNvPicPr>
            <a:picLocks noChangeAspect="1"/>
          </p:cNvPicPr>
          <p:nvPr/>
        </p:nvPicPr>
        <p:blipFill>
          <a:blip r:embed="rId1"/>
          <a:stretch>
            <a:fillRect/>
          </a:stretch>
        </p:blipFill>
        <p:spPr>
          <a:xfrm>
            <a:off x="640080" y="1463040"/>
            <a:ext cx="7772400" cy="4857750"/>
          </a:xfrm>
          <a:prstGeom prst="rect">
            <a:avLst/>
          </a:prstGeom>
          <a:effectLst>
            <a:outerShdw sx="100000" sy="100000" kx="0" ky="0" algn="bl" rotWithShape="0" blurRad="228600" dist="76200" dir="5400000">
              <a:srgbClr val="000000">
                <a:alpha val="18000"/>
              </a:srgbClr>
            </a:outerShdw>
          </a:effectLst>
        </p:spPr>
      </p:pic>
      <p:sp>
        <p:nvSpPr>
          <p:cNvPr id="4" name="podium dot 1"/>
          <p:cNvSpPr/>
          <p:nvPr/>
        </p:nvSpPr>
        <p:spPr>
          <a:xfrm>
            <a:off x="8823960" y="1673352"/>
            <a:ext cx="182880" cy="182880"/>
          </a:xfrm>
          <a:prstGeom prst="ellipse">
            <a:avLst/>
          </a:prstGeom>
          <a:solidFill>
            <a:srgbClr val="FF9500"/>
          </a:solidFill>
          <a:ln/>
        </p:spPr>
      </p:sp>
      <p:sp>
        <p:nvSpPr>
          <p:cNvPr id="5" name="Text 2"/>
          <p:cNvSpPr txBox="1"/>
          <p:nvPr/>
        </p:nvSpPr>
        <p:spPr>
          <a:xfrm>
            <a:off x="9171432" y="1600200"/>
            <a:ext cx="2361895" cy="1051560"/>
          </a:xfrm>
          <a:prstGeom prst="rect">
            <a:avLst/>
          </a:prstGeom>
          <a:noFill/>
          <a:ln/>
        </p:spPr>
        <p:txBody>
          <a:bodyPr wrap="square" lIns="0" tIns="0" rIns="0" bIns="0" rtlCol="0" anchor="t"/>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Needs you</a:t>
            </a:r>
            <a:endParaRPr lang="en-US" sz="1700" dirty="0"/>
          </a:p>
          <a:p>
            <a:pPr indent="0" marL="0">
              <a:buNone/>
            </a:pPr>
            <a:r>
              <a:rPr lang="en-US" sz="1400" dirty="0">
                <a:solidFill>
                  <a:srgbClr val="6E6E73"/>
                </a:solidFill>
                <a:latin typeface="Helvetica Neue" pitchFamily="34" charset="0"/>
                <a:ea typeface="Helvetica Neue" pitchFamily="34" charset="-122"/>
                <a:cs typeface="Helvetica Neue" pitchFamily="34" charset="-120"/>
              </a:rPr>
              <a:t>A draft PR or a story waiting for your approval.</a:t>
            </a:r>
            <a:endParaRPr lang="en-US" sz="1700" dirty="0"/>
          </a:p>
        </p:txBody>
      </p:sp>
      <p:sp>
        <p:nvSpPr>
          <p:cNvPr id="6" name="podium dot 2"/>
          <p:cNvSpPr/>
          <p:nvPr/>
        </p:nvSpPr>
        <p:spPr>
          <a:xfrm>
            <a:off x="8823960" y="2862072"/>
            <a:ext cx="182880" cy="182880"/>
          </a:xfrm>
          <a:prstGeom prst="ellipse">
            <a:avLst/>
          </a:prstGeom>
          <a:solidFill>
            <a:srgbClr val="0071E3"/>
          </a:solidFill>
          <a:ln/>
        </p:spPr>
      </p:sp>
      <p:sp>
        <p:nvSpPr>
          <p:cNvPr id="7" name="Text 4"/>
          <p:cNvSpPr txBox="1"/>
          <p:nvPr/>
        </p:nvSpPr>
        <p:spPr>
          <a:xfrm>
            <a:off x="9171432" y="2788920"/>
            <a:ext cx="2361895" cy="1051560"/>
          </a:xfrm>
          <a:prstGeom prst="rect">
            <a:avLst/>
          </a:prstGeom>
          <a:noFill/>
          <a:ln/>
        </p:spPr>
        <p:txBody>
          <a:bodyPr wrap="square" lIns="0" tIns="0" rIns="0" bIns="0" rtlCol="0" anchor="t"/>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Decided while away</a:t>
            </a:r>
            <a:endParaRPr lang="en-US" sz="1700" dirty="0"/>
          </a:p>
          <a:p>
            <a:pPr indent="0" marL="0">
              <a:buNone/>
            </a:pPr>
            <a:r>
              <a:rPr lang="en-US" sz="1400" dirty="0">
                <a:solidFill>
                  <a:srgbClr val="6E6E73"/>
                </a:solidFill>
                <a:latin typeface="Helvetica Neue" pitchFamily="34" charset="0"/>
                <a:ea typeface="Helvetica Neue" pitchFamily="34" charset="-122"/>
                <a:cs typeface="Helvetica Neue" pitchFamily="34" charset="-120"/>
              </a:rPr>
              <a:t>Assumptions the run made. Confirm or reverse.</a:t>
            </a:r>
            <a:endParaRPr lang="en-US" sz="1700" dirty="0"/>
          </a:p>
        </p:txBody>
      </p:sp>
      <p:sp>
        <p:nvSpPr>
          <p:cNvPr id="8" name="podium dot 3"/>
          <p:cNvSpPr/>
          <p:nvPr/>
        </p:nvSpPr>
        <p:spPr>
          <a:xfrm>
            <a:off x="8823960" y="4050792"/>
            <a:ext cx="182880" cy="182880"/>
          </a:xfrm>
          <a:prstGeom prst="ellipse">
            <a:avLst/>
          </a:prstGeom>
          <a:solidFill>
            <a:srgbClr val="28A745"/>
          </a:solidFill>
          <a:ln/>
        </p:spPr>
      </p:sp>
      <p:sp>
        <p:nvSpPr>
          <p:cNvPr id="9" name="Text 6"/>
          <p:cNvSpPr txBox="1"/>
          <p:nvPr/>
        </p:nvSpPr>
        <p:spPr>
          <a:xfrm>
            <a:off x="9171432" y="3977640"/>
            <a:ext cx="2361895" cy="1051560"/>
          </a:xfrm>
          <a:prstGeom prst="rect">
            <a:avLst/>
          </a:prstGeom>
          <a:noFill/>
          <a:ln/>
        </p:spPr>
        <p:txBody>
          <a:bodyPr wrap="square" lIns="0" tIns="0" rIns="0" bIns="0" rtlCol="0" anchor="t"/>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Working now</a:t>
            </a:r>
            <a:endParaRPr lang="en-US" sz="1700" dirty="0"/>
          </a:p>
          <a:p>
            <a:pPr indent="0" marL="0">
              <a:buNone/>
            </a:pPr>
            <a:r>
              <a:rPr lang="en-US" sz="1400" dirty="0">
                <a:solidFill>
                  <a:srgbClr val="6E6E73"/>
                </a:solidFill>
                <a:latin typeface="Helvetica Neue" pitchFamily="34" charset="0"/>
                <a:ea typeface="Helvetica Neue" pitchFamily="34" charset="-122"/>
                <a:cs typeface="Helvetica Neue" pitchFamily="34" charset="-120"/>
              </a:rPr>
              <a:t>Every story agent and what it is doing.</a:t>
            </a:r>
            <a:endParaRPr lang="en-US" sz="1700" dirty="0"/>
          </a:p>
        </p:txBody>
      </p:sp>
      <p:sp>
        <p:nvSpPr>
          <p:cNvPr id="10" name="podium dot 4"/>
          <p:cNvSpPr/>
          <p:nvPr/>
        </p:nvSpPr>
        <p:spPr>
          <a:xfrm>
            <a:off x="8823960" y="5239512"/>
            <a:ext cx="182880" cy="182880"/>
          </a:xfrm>
          <a:prstGeom prst="ellipse">
            <a:avLst/>
          </a:prstGeom>
          <a:solidFill>
            <a:srgbClr val="6E6E73"/>
          </a:solidFill>
          <a:ln/>
        </p:spPr>
      </p:sp>
      <p:sp>
        <p:nvSpPr>
          <p:cNvPr id="11" name="Text 8"/>
          <p:cNvSpPr txBox="1"/>
          <p:nvPr/>
        </p:nvSpPr>
        <p:spPr>
          <a:xfrm>
            <a:off x="9171432" y="5166360"/>
            <a:ext cx="2361895" cy="1051560"/>
          </a:xfrm>
          <a:prstGeom prst="rect">
            <a:avLst/>
          </a:prstGeom>
          <a:noFill/>
          <a:ln/>
        </p:spPr>
        <p:txBody>
          <a:bodyPr wrap="square" lIns="0" tIns="0" rIns="0" bIns="0" rtlCol="0" anchor="t"/>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Two Macs, one run</a:t>
            </a:r>
            <a:endParaRPr lang="en-US" sz="1700" dirty="0"/>
          </a:p>
          <a:p>
            <a:pPr indent="0" marL="0">
              <a:buNone/>
            </a:pPr>
            <a:r>
              <a:rPr lang="en-US" sz="1400" dirty="0">
                <a:solidFill>
                  <a:srgbClr val="6E6E73"/>
                </a:solidFill>
                <a:latin typeface="Helvetica Neue" pitchFamily="34" charset="0"/>
                <a:ea typeface="Helvetica Neue" pitchFamily="34" charset="-122"/>
                <a:cs typeface="Helvetica Neue" pitchFamily="34" charset="-120"/>
              </a:rPr>
              <a:t>State syncs through a git ref. Each claims milestones.</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bg1"/>
                </a:solidFill>
                <a:latin typeface="Helvetica Neue" pitchFamily="34" charset="0"/>
                <a:ea typeface="Helvetica Neue" pitchFamily="34" charset="-122"/>
                <a:cs typeface="Helvetica Neue" pitchFamily="34" charset="-120"/>
              </a:rPr>
              <a:t>Nothing loops forever.</a:t>
            </a:r>
            <a:endParaRPr lang="en-US" sz="3600" dirty="0"/>
          </a:p>
        </p:txBody>
      </p:sp>
      <p:sp>
        <p:nvSpPr>
          <p:cNvPr id="3" name="Text 1"/>
          <p:cNvSpPr txBox="1"/>
          <p:nvPr/>
        </p:nvSpPr>
        <p:spPr>
          <a:xfrm>
            <a:off x="640080" y="1600200"/>
            <a:ext cx="3383280" cy="1097280"/>
          </a:xfrm>
          <a:prstGeom prst="rect">
            <a:avLst/>
          </a:prstGeom>
          <a:noFill/>
          <a:ln/>
        </p:spPr>
        <p:txBody>
          <a:bodyPr wrap="square" lIns="0" tIns="0" rIns="0" bIns="0" rtlCol="0" anchor="ctr"/>
          <a:lstStyle/>
          <a:p>
            <a:pPr indent="0" marL="0">
              <a:buNone/>
            </a:pPr>
            <a:r>
              <a:rPr lang="en-US" sz="8000" b="1" dirty="0">
                <a:solidFill>
                  <a:srgbClr val="2997FF"/>
                </a:solidFill>
                <a:latin typeface="Helvetica Neue" pitchFamily="34" charset="0"/>
                <a:ea typeface="Helvetica Neue" pitchFamily="34" charset="-122"/>
                <a:cs typeface="Helvetica Neue" pitchFamily="34" charset="-120"/>
              </a:rPr>
              <a:t>3</a:t>
            </a:r>
            <a:endParaRPr lang="en-US" sz="8000" dirty="0"/>
          </a:p>
        </p:txBody>
      </p:sp>
      <p:sp>
        <p:nvSpPr>
          <p:cNvPr id="4" name="Text 2"/>
          <p:cNvSpPr txBox="1"/>
          <p:nvPr/>
        </p:nvSpPr>
        <p:spPr>
          <a:xfrm>
            <a:off x="640080" y="2788920"/>
            <a:ext cx="3383280" cy="365760"/>
          </a:xfrm>
          <a:prstGeom prst="rect">
            <a:avLst/>
          </a:prstGeom>
          <a:noFill/>
          <a:ln/>
        </p:spPr>
        <p:txBody>
          <a:bodyPr wrap="square" lIns="0" tIns="0" rIns="0" bIns="0" rtlCol="0" anchor="t"/>
          <a:lstStyle/>
          <a:p>
            <a:pPr indent="0" marL="0">
              <a:buNone/>
            </a:pPr>
            <a:r>
              <a:rPr lang="en-US" sz="1900" b="1" dirty="0">
                <a:solidFill>
                  <a:schemeClr val="bg1"/>
                </a:solidFill>
                <a:latin typeface="Helvetica Neue" pitchFamily="34" charset="0"/>
                <a:ea typeface="Helvetica Neue" pitchFamily="34" charset="-122"/>
                <a:cs typeface="Helvetica Neue" pitchFamily="34" charset="-120"/>
              </a:rPr>
              <a:t>tries per failure</a:t>
            </a:r>
            <a:endParaRPr lang="en-US" sz="1900" dirty="0"/>
          </a:p>
        </p:txBody>
      </p:sp>
      <p:sp>
        <p:nvSpPr>
          <p:cNvPr id="5" name="Text 3"/>
          <p:cNvSpPr txBox="1"/>
          <p:nvPr/>
        </p:nvSpPr>
        <p:spPr>
          <a:xfrm>
            <a:off x="640080" y="3172968"/>
            <a:ext cx="3383280" cy="3657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Then it stops and reports.</a:t>
            </a:r>
            <a:endParaRPr lang="en-US" sz="1500" dirty="0"/>
          </a:p>
        </p:txBody>
      </p:sp>
      <p:sp>
        <p:nvSpPr>
          <p:cNvPr id="6" name="Text 4"/>
          <p:cNvSpPr txBox="1"/>
          <p:nvPr/>
        </p:nvSpPr>
        <p:spPr>
          <a:xfrm>
            <a:off x="4343400" y="1600200"/>
            <a:ext cx="3383280" cy="1097280"/>
          </a:xfrm>
          <a:prstGeom prst="rect">
            <a:avLst/>
          </a:prstGeom>
          <a:noFill/>
          <a:ln/>
        </p:spPr>
        <p:txBody>
          <a:bodyPr wrap="square" lIns="0" tIns="0" rIns="0" bIns="0" rtlCol="0" anchor="ctr"/>
          <a:lstStyle/>
          <a:p>
            <a:pPr indent="0" marL="0">
              <a:buNone/>
            </a:pPr>
            <a:r>
              <a:rPr lang="en-US" sz="8000" b="1" dirty="0">
                <a:solidFill>
                  <a:srgbClr val="BF5AF2"/>
                </a:solidFill>
                <a:latin typeface="Helvetica Neue" pitchFamily="34" charset="0"/>
                <a:ea typeface="Helvetica Neue" pitchFamily="34" charset="-122"/>
                <a:cs typeface="Helvetica Neue" pitchFamily="34" charset="-120"/>
              </a:rPr>
              <a:t>2</a:t>
            </a:r>
            <a:endParaRPr lang="en-US" sz="8000" dirty="0"/>
          </a:p>
        </p:txBody>
      </p:sp>
      <p:sp>
        <p:nvSpPr>
          <p:cNvPr id="7" name="Text 5"/>
          <p:cNvSpPr txBox="1"/>
          <p:nvPr/>
        </p:nvSpPr>
        <p:spPr>
          <a:xfrm>
            <a:off x="4343400" y="2788920"/>
            <a:ext cx="3383280" cy="365760"/>
          </a:xfrm>
          <a:prstGeom prst="rect">
            <a:avLst/>
          </a:prstGeom>
          <a:noFill/>
          <a:ln/>
        </p:spPr>
        <p:txBody>
          <a:bodyPr wrap="square" lIns="0" tIns="0" rIns="0" bIns="0" rtlCol="0" anchor="t"/>
          <a:lstStyle/>
          <a:p>
            <a:pPr indent="0" marL="0">
              <a:buNone/>
            </a:pPr>
            <a:r>
              <a:rPr lang="en-US" sz="1900" b="1" dirty="0">
                <a:solidFill>
                  <a:schemeClr val="bg1"/>
                </a:solidFill>
                <a:latin typeface="Helvetica Neue" pitchFamily="34" charset="0"/>
                <a:ea typeface="Helvetica Neue" pitchFamily="34" charset="-122"/>
                <a:cs typeface="Helvetica Neue" pitchFamily="34" charset="-120"/>
              </a:rPr>
              <a:t>attempts per story</a:t>
            </a:r>
            <a:endParaRPr lang="en-US" sz="1900" dirty="0"/>
          </a:p>
        </p:txBody>
      </p:sp>
      <p:sp>
        <p:nvSpPr>
          <p:cNvPr id="8" name="Text 6"/>
          <p:cNvSpPr txBox="1"/>
          <p:nvPr/>
        </p:nvSpPr>
        <p:spPr>
          <a:xfrm>
            <a:off x="4343400" y="3172968"/>
            <a:ext cx="3383280" cy="3657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Then it blocks dependants and asks.</a:t>
            </a:r>
            <a:endParaRPr lang="en-US" sz="1500" dirty="0"/>
          </a:p>
        </p:txBody>
      </p:sp>
      <p:sp>
        <p:nvSpPr>
          <p:cNvPr id="9" name="Text 7"/>
          <p:cNvSpPr txBox="1"/>
          <p:nvPr/>
        </p:nvSpPr>
        <p:spPr>
          <a:xfrm>
            <a:off x="8046720" y="1600200"/>
            <a:ext cx="3383280" cy="1097280"/>
          </a:xfrm>
          <a:prstGeom prst="rect">
            <a:avLst/>
          </a:prstGeom>
          <a:noFill/>
          <a:ln/>
        </p:spPr>
        <p:txBody>
          <a:bodyPr wrap="square" lIns="0" tIns="0" rIns="0" bIns="0" rtlCol="0" anchor="ctr"/>
          <a:lstStyle/>
          <a:p>
            <a:pPr indent="0" marL="0">
              <a:buNone/>
            </a:pPr>
            <a:r>
              <a:rPr lang="en-US" sz="8000" b="1" dirty="0">
                <a:solidFill>
                  <a:srgbClr val="30D158"/>
                </a:solidFill>
                <a:latin typeface="Helvetica Neue" pitchFamily="34" charset="0"/>
                <a:ea typeface="Helvetica Neue" pitchFamily="34" charset="-122"/>
                <a:cs typeface="Helvetica Neue" pitchFamily="34" charset="-120"/>
              </a:rPr>
              <a:t>2</a:t>
            </a:r>
            <a:endParaRPr lang="en-US" sz="8000" dirty="0"/>
          </a:p>
        </p:txBody>
      </p:sp>
      <p:sp>
        <p:nvSpPr>
          <p:cNvPr id="10" name="Text 8"/>
          <p:cNvSpPr txBox="1"/>
          <p:nvPr/>
        </p:nvSpPr>
        <p:spPr>
          <a:xfrm>
            <a:off x="8046720" y="2788920"/>
            <a:ext cx="3383280" cy="365760"/>
          </a:xfrm>
          <a:prstGeom prst="rect">
            <a:avLst/>
          </a:prstGeom>
          <a:noFill/>
          <a:ln/>
        </p:spPr>
        <p:txBody>
          <a:bodyPr wrap="square" lIns="0" tIns="0" rIns="0" bIns="0" rtlCol="0" anchor="t"/>
          <a:lstStyle/>
          <a:p>
            <a:pPr indent="0" marL="0">
              <a:buNone/>
            </a:pPr>
            <a:r>
              <a:rPr lang="en-US" sz="1900" b="1" dirty="0">
                <a:solidFill>
                  <a:schemeClr val="bg1"/>
                </a:solidFill>
                <a:latin typeface="Helvetica Neue" pitchFamily="34" charset="0"/>
                <a:ea typeface="Helvetica Neue" pitchFamily="34" charset="-122"/>
                <a:cs typeface="Helvetica Neue" pitchFamily="34" charset="-120"/>
              </a:rPr>
              <a:t>rounds of gate churn</a:t>
            </a:r>
            <a:endParaRPr lang="en-US" sz="1900" dirty="0"/>
          </a:p>
        </p:txBody>
      </p:sp>
      <p:sp>
        <p:nvSpPr>
          <p:cNvPr id="11" name="Text 9"/>
          <p:cNvSpPr txBox="1"/>
          <p:nvPr/>
        </p:nvSpPr>
        <p:spPr>
          <a:xfrm>
            <a:off x="8046720" y="3172968"/>
            <a:ext cx="3383280" cy="3657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Then the verify loop stops and reports.</a:t>
            </a:r>
            <a:endParaRPr lang="en-US" sz="1500" dirty="0"/>
          </a:p>
        </p:txBody>
      </p:sp>
      <p:sp>
        <p:nvSpPr>
          <p:cNvPr id="12" name="Text 10"/>
          <p:cNvSpPr txBox="1"/>
          <p:nvPr/>
        </p:nvSpPr>
        <p:spPr>
          <a:xfrm>
            <a:off x="640080" y="3977640"/>
            <a:ext cx="3383280" cy="1097280"/>
          </a:xfrm>
          <a:prstGeom prst="rect">
            <a:avLst/>
          </a:prstGeom>
          <a:noFill/>
          <a:ln/>
        </p:spPr>
        <p:txBody>
          <a:bodyPr wrap="square" lIns="0" tIns="0" rIns="0" bIns="0" rtlCol="0" anchor="ctr"/>
          <a:lstStyle/>
          <a:p>
            <a:pPr indent="0" marL="0">
              <a:buNone/>
            </a:pPr>
            <a:r>
              <a:rPr lang="en-US" sz="8000" b="1" dirty="0">
                <a:solidFill>
                  <a:srgbClr val="FF9F0A"/>
                </a:solidFill>
                <a:latin typeface="Helvetica Neue" pitchFamily="34" charset="0"/>
                <a:ea typeface="Helvetica Neue" pitchFamily="34" charset="-122"/>
                <a:cs typeface="Helvetica Neue" pitchFamily="34" charset="-120"/>
              </a:rPr>
              <a:t>8</a:t>
            </a:r>
            <a:endParaRPr lang="en-US" sz="8000" dirty="0"/>
          </a:p>
        </p:txBody>
      </p:sp>
      <p:sp>
        <p:nvSpPr>
          <p:cNvPr id="13" name="Text 11"/>
          <p:cNvSpPr txBox="1"/>
          <p:nvPr/>
        </p:nvSpPr>
        <p:spPr>
          <a:xfrm>
            <a:off x="640080" y="5166360"/>
            <a:ext cx="3383280" cy="365760"/>
          </a:xfrm>
          <a:prstGeom prst="rect">
            <a:avLst/>
          </a:prstGeom>
          <a:noFill/>
          <a:ln/>
        </p:spPr>
        <p:txBody>
          <a:bodyPr wrap="square" lIns="0" tIns="0" rIns="0" bIns="0" rtlCol="0" anchor="t"/>
          <a:lstStyle/>
          <a:p>
            <a:pPr indent="0" marL="0">
              <a:buNone/>
            </a:pPr>
            <a:r>
              <a:rPr lang="en-US" sz="1900" b="1" dirty="0">
                <a:solidFill>
                  <a:schemeClr val="bg1"/>
                </a:solidFill>
                <a:latin typeface="Helvetica Neue" pitchFamily="34" charset="0"/>
                <a:ea typeface="Helvetica Neue" pitchFamily="34" charset="-122"/>
                <a:cs typeface="Helvetica Neue" pitchFamily="34" charset="-120"/>
              </a:rPr>
              <a:t>lines per subagent reply</a:t>
            </a:r>
            <a:endParaRPr lang="en-US" sz="1900" dirty="0"/>
          </a:p>
        </p:txBody>
      </p:sp>
      <p:sp>
        <p:nvSpPr>
          <p:cNvPr id="14" name="Text 12"/>
          <p:cNvSpPr txBox="1"/>
          <p:nvPr/>
        </p:nvSpPr>
        <p:spPr>
          <a:xfrm>
            <a:off x="640080" y="5550408"/>
            <a:ext cx="3383280" cy="3657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Or one: COMMITTED or FAILED.</a:t>
            </a:r>
            <a:endParaRPr lang="en-US" sz="1500" dirty="0"/>
          </a:p>
        </p:txBody>
      </p:sp>
      <p:sp>
        <p:nvSpPr>
          <p:cNvPr id="15" name="Text 13"/>
          <p:cNvSpPr txBox="1"/>
          <p:nvPr/>
        </p:nvSpPr>
        <p:spPr>
          <a:xfrm>
            <a:off x="4343400" y="3977640"/>
            <a:ext cx="3383280" cy="1097280"/>
          </a:xfrm>
          <a:prstGeom prst="rect">
            <a:avLst/>
          </a:prstGeom>
          <a:noFill/>
          <a:ln/>
        </p:spPr>
        <p:txBody>
          <a:bodyPr wrap="square" lIns="0" tIns="0" rIns="0" bIns="0" rtlCol="0" anchor="ctr"/>
          <a:lstStyle/>
          <a:p>
            <a:pPr indent="0" marL="0">
              <a:buNone/>
            </a:pPr>
            <a:r>
              <a:rPr lang="en-US" sz="8000" b="1" dirty="0">
                <a:solidFill>
                  <a:srgbClr val="FF375F"/>
                </a:solidFill>
                <a:latin typeface="Helvetica Neue" pitchFamily="34" charset="0"/>
                <a:ea typeface="Helvetica Neue" pitchFamily="34" charset="-122"/>
                <a:cs typeface="Helvetica Neue" pitchFamily="34" charset="-120"/>
              </a:rPr>
              <a:t>6</a:t>
            </a:r>
            <a:endParaRPr lang="en-US" sz="8000" dirty="0"/>
          </a:p>
        </p:txBody>
      </p:sp>
      <p:sp>
        <p:nvSpPr>
          <p:cNvPr id="16" name="Text 14"/>
          <p:cNvSpPr txBox="1"/>
          <p:nvPr/>
        </p:nvSpPr>
        <p:spPr>
          <a:xfrm>
            <a:off x="4343400" y="5166360"/>
            <a:ext cx="3383280" cy="365760"/>
          </a:xfrm>
          <a:prstGeom prst="rect">
            <a:avLst/>
          </a:prstGeom>
          <a:noFill/>
          <a:ln/>
        </p:spPr>
        <p:txBody>
          <a:bodyPr wrap="square" lIns="0" tIns="0" rIns="0" bIns="0" rtlCol="0" anchor="t"/>
          <a:lstStyle/>
          <a:p>
            <a:pPr indent="0" marL="0">
              <a:buNone/>
            </a:pPr>
            <a:r>
              <a:rPr lang="en-US" sz="1900" b="1" dirty="0">
                <a:solidFill>
                  <a:schemeClr val="bg1"/>
                </a:solidFill>
                <a:latin typeface="Helvetica Neue" pitchFamily="34" charset="0"/>
                <a:ea typeface="Helvetica Neue" pitchFamily="34" charset="-122"/>
                <a:cs typeface="Helvetica Neue" pitchFamily="34" charset="-120"/>
              </a:rPr>
              <a:t>open decisions per epic</a:t>
            </a:r>
            <a:endParaRPr lang="en-US" sz="1900" dirty="0"/>
          </a:p>
        </p:txBody>
      </p:sp>
      <p:sp>
        <p:nvSpPr>
          <p:cNvPr id="17" name="Text 15"/>
          <p:cNvSpPr txBox="1"/>
          <p:nvPr/>
        </p:nvSpPr>
        <p:spPr>
          <a:xfrm>
            <a:off x="4343400" y="5550408"/>
            <a:ext cx="3383280" cy="3657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Settled before the build starts.</a:t>
            </a:r>
            <a:endParaRPr lang="en-US" sz="1500" dirty="0"/>
          </a:p>
        </p:txBody>
      </p:sp>
      <p:sp>
        <p:nvSpPr>
          <p:cNvPr id="18" name="Text 16"/>
          <p:cNvSpPr txBox="1"/>
          <p:nvPr/>
        </p:nvSpPr>
        <p:spPr>
          <a:xfrm>
            <a:off x="8046720" y="3977640"/>
            <a:ext cx="3383280" cy="1097280"/>
          </a:xfrm>
          <a:prstGeom prst="rect">
            <a:avLst/>
          </a:prstGeom>
          <a:noFill/>
          <a:ln/>
        </p:spPr>
        <p:txBody>
          <a:bodyPr wrap="square" lIns="0" tIns="0" rIns="0" bIns="0" rtlCol="0" anchor="ctr"/>
          <a:lstStyle/>
          <a:p>
            <a:pPr indent="0" marL="0">
              <a:buNone/>
            </a:pPr>
            <a:r>
              <a:rPr lang="en-US" sz="8000" b="1" dirty="0">
                <a:solidFill>
                  <a:srgbClr val="64D2FF"/>
                </a:solidFill>
                <a:latin typeface="Helvetica Neue" pitchFamily="34" charset="0"/>
                <a:ea typeface="Helvetica Neue" pitchFamily="34" charset="-122"/>
                <a:cs typeface="Helvetica Neue" pitchFamily="34" charset="-120"/>
              </a:rPr>
              <a:t>1h</a:t>
            </a:r>
            <a:endParaRPr lang="en-US" sz="8000" dirty="0"/>
          </a:p>
        </p:txBody>
      </p:sp>
      <p:sp>
        <p:nvSpPr>
          <p:cNvPr id="19" name="Text 17"/>
          <p:cNvSpPr txBox="1"/>
          <p:nvPr/>
        </p:nvSpPr>
        <p:spPr>
          <a:xfrm>
            <a:off x="8046720" y="5166360"/>
            <a:ext cx="3383280" cy="365760"/>
          </a:xfrm>
          <a:prstGeom prst="rect">
            <a:avLst/>
          </a:prstGeom>
          <a:noFill/>
          <a:ln/>
        </p:spPr>
        <p:txBody>
          <a:bodyPr wrap="square" lIns="0" tIns="0" rIns="0" bIns="0" rtlCol="0" anchor="t"/>
          <a:lstStyle/>
          <a:p>
            <a:pPr indent="0" marL="0">
              <a:buNone/>
            </a:pPr>
            <a:r>
              <a:rPr lang="en-US" sz="1900" b="1" dirty="0">
                <a:solidFill>
                  <a:schemeClr val="bg1"/>
                </a:solidFill>
                <a:latin typeface="Helvetica Neue" pitchFamily="34" charset="0"/>
                <a:ea typeface="Helvetica Neue" pitchFamily="34" charset="-122"/>
                <a:cs typeface="Helvetica Neue" pitchFamily="34" charset="-120"/>
              </a:rPr>
              <a:t>idle and Podium stops</a:t>
            </a:r>
            <a:endParaRPr lang="en-US" sz="1900" dirty="0"/>
          </a:p>
        </p:txBody>
      </p:sp>
      <p:sp>
        <p:nvSpPr>
          <p:cNvPr id="20" name="Text 18"/>
          <p:cNvSpPr txBox="1"/>
          <p:nvPr/>
        </p:nvSpPr>
        <p:spPr>
          <a:xfrm>
            <a:off x="8046720" y="5550408"/>
            <a:ext cx="3383280" cy="3657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No one around, nothing running.</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The right model for every job.</a:t>
            </a:r>
            <a:endParaRPr lang="en-US" sz="3600" dirty="0"/>
          </a:p>
        </p:txBody>
      </p:sp>
      <p:sp>
        <p:nvSpPr>
          <p:cNvPr id="3" name="tier Haiku"/>
          <p:cNvSpPr/>
          <p:nvPr/>
        </p:nvSpPr>
        <p:spPr>
          <a:xfrm>
            <a:off x="1681429" y="2606040"/>
            <a:ext cx="1554480" cy="1554480"/>
          </a:xfrm>
          <a:prstGeom prst="ellipse">
            <a:avLst/>
          </a:prstGeom>
          <a:solidFill>
            <a:srgbClr val="28A745">
              <a:alpha val="18000"/>
            </a:srgbClr>
          </a:solidFill>
          <a:ln/>
        </p:spPr>
      </p:sp>
      <p:sp>
        <p:nvSpPr>
          <p:cNvPr id="4" name="Text 2"/>
          <p:cNvSpPr txBox="1"/>
          <p:nvPr/>
        </p:nvSpPr>
        <p:spPr>
          <a:xfrm>
            <a:off x="1681429" y="2606040"/>
            <a:ext cx="1554480" cy="1554480"/>
          </a:xfrm>
          <a:prstGeom prst="rect">
            <a:avLst/>
          </a:prstGeom>
          <a:noFill/>
          <a:ln/>
        </p:spPr>
        <p:txBody>
          <a:bodyPr wrap="square" lIns="0" tIns="0" rIns="0" bIns="0" rtlCol="0" anchor="ctr"/>
          <a:lstStyle/>
          <a:p>
            <a:pPr algn="ctr" indent="0" marL="0">
              <a:buNone/>
            </a:pPr>
            <a:r>
              <a:rPr lang="en-US" sz="1800" b="1" dirty="0">
                <a:solidFill>
                  <a:srgbClr val="28A745"/>
                </a:solidFill>
                <a:latin typeface="Helvetica Neue" pitchFamily="34" charset="0"/>
                <a:ea typeface="Helvetica Neue" pitchFamily="34" charset="-122"/>
                <a:cs typeface="Helvetica Neue" pitchFamily="34" charset="-120"/>
              </a:rPr>
              <a:t>Haiku</a:t>
            </a:r>
            <a:endParaRPr lang="en-US" sz="1800" dirty="0"/>
          </a:p>
        </p:txBody>
      </p:sp>
      <p:sp>
        <p:nvSpPr>
          <p:cNvPr id="5" name="Text 3"/>
          <p:cNvSpPr txBox="1"/>
          <p:nvPr/>
        </p:nvSpPr>
        <p:spPr>
          <a:xfrm>
            <a:off x="629869" y="4389120"/>
            <a:ext cx="3657600" cy="640080"/>
          </a:xfrm>
          <a:prstGeom prst="rect">
            <a:avLst/>
          </a:prstGeom>
          <a:noFill/>
          <a:ln/>
        </p:spPr>
        <p:txBody>
          <a:bodyPr wrap="square" lIns="0" tIns="0" rIns="0" bIns="0" rtlCol="0" anchor="t"/>
          <a:lstStyle/>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Recon, security pass,</a:t>
            </a:r>
            <a:endParaRPr lang="en-US" sz="1500" dirty="0"/>
          </a:p>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screenshot checks</a:t>
            </a:r>
            <a:endParaRPr lang="en-US" sz="1500" dirty="0"/>
          </a:p>
        </p:txBody>
      </p:sp>
      <p:sp>
        <p:nvSpPr>
          <p:cNvPr id="6" name="tier Sonnet"/>
          <p:cNvSpPr/>
          <p:nvPr/>
        </p:nvSpPr>
        <p:spPr>
          <a:xfrm>
            <a:off x="5044288" y="2057400"/>
            <a:ext cx="2103120" cy="2103120"/>
          </a:xfrm>
          <a:prstGeom prst="ellipse">
            <a:avLst/>
          </a:prstGeom>
          <a:solidFill>
            <a:srgbClr val="0071E3">
              <a:alpha val="18000"/>
            </a:srgbClr>
          </a:solidFill>
          <a:ln/>
        </p:spPr>
      </p:sp>
      <p:sp>
        <p:nvSpPr>
          <p:cNvPr id="7" name="Text 5"/>
          <p:cNvSpPr txBox="1"/>
          <p:nvPr/>
        </p:nvSpPr>
        <p:spPr>
          <a:xfrm>
            <a:off x="5044288" y="2057400"/>
            <a:ext cx="2103120" cy="2103120"/>
          </a:xfrm>
          <a:prstGeom prst="rect">
            <a:avLst/>
          </a:prstGeom>
          <a:noFill/>
          <a:ln/>
        </p:spPr>
        <p:txBody>
          <a:bodyPr wrap="square" lIns="0" tIns="0" rIns="0" bIns="0" rtlCol="0" anchor="ctr"/>
          <a:lstStyle/>
          <a:p>
            <a:pPr algn="ctr" indent="0" marL="0">
              <a:buNone/>
            </a:pPr>
            <a:r>
              <a:rPr lang="en-US" sz="2200" b="1" dirty="0">
                <a:solidFill>
                  <a:srgbClr val="0071E3"/>
                </a:solidFill>
                <a:latin typeface="Helvetica Neue" pitchFamily="34" charset="0"/>
                <a:ea typeface="Helvetica Neue" pitchFamily="34" charset="-122"/>
                <a:cs typeface="Helvetica Neue" pitchFamily="34" charset="-120"/>
              </a:rPr>
              <a:t>Sonnet</a:t>
            </a:r>
            <a:endParaRPr lang="en-US" sz="2200" dirty="0"/>
          </a:p>
        </p:txBody>
      </p:sp>
      <p:sp>
        <p:nvSpPr>
          <p:cNvPr id="8" name="Text 6"/>
          <p:cNvSpPr txBox="1"/>
          <p:nvPr/>
        </p:nvSpPr>
        <p:spPr>
          <a:xfrm>
            <a:off x="4267048" y="4389120"/>
            <a:ext cx="3657600" cy="640080"/>
          </a:xfrm>
          <a:prstGeom prst="rect">
            <a:avLst/>
          </a:prstGeom>
          <a:noFill/>
          <a:ln/>
        </p:spPr>
        <p:txBody>
          <a:bodyPr wrap="square" lIns="0" tIns="0" rIns="0" bIns="0" rtlCol="0" anchor="t"/>
          <a:lstStyle/>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Story builders,</a:t>
            </a:r>
            <a:endParaRPr lang="en-US" sz="1500" dirty="0"/>
          </a:p>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background drafts</a:t>
            </a:r>
            <a:endParaRPr lang="en-US" sz="1500" dirty="0"/>
          </a:p>
        </p:txBody>
      </p:sp>
      <p:sp>
        <p:nvSpPr>
          <p:cNvPr id="9" name="tier Opus"/>
          <p:cNvSpPr/>
          <p:nvPr/>
        </p:nvSpPr>
        <p:spPr>
          <a:xfrm>
            <a:off x="8407146" y="1508760"/>
            <a:ext cx="2651760" cy="2651760"/>
          </a:xfrm>
          <a:prstGeom prst="ellipse">
            <a:avLst/>
          </a:prstGeom>
          <a:solidFill>
            <a:srgbClr val="AF52DE">
              <a:alpha val="18000"/>
            </a:srgbClr>
          </a:solidFill>
          <a:ln/>
        </p:spPr>
      </p:sp>
      <p:sp>
        <p:nvSpPr>
          <p:cNvPr id="10" name="Text 8"/>
          <p:cNvSpPr txBox="1"/>
          <p:nvPr/>
        </p:nvSpPr>
        <p:spPr>
          <a:xfrm>
            <a:off x="8407146" y="1508760"/>
            <a:ext cx="2651760" cy="2651760"/>
          </a:xfrm>
          <a:prstGeom prst="rect">
            <a:avLst/>
          </a:prstGeom>
          <a:noFill/>
          <a:ln/>
        </p:spPr>
        <p:txBody>
          <a:bodyPr wrap="square" lIns="0" tIns="0" rIns="0" bIns="0" rtlCol="0" anchor="ctr"/>
          <a:lstStyle/>
          <a:p>
            <a:pPr algn="ctr" indent="0" marL="0">
              <a:buNone/>
            </a:pPr>
            <a:r>
              <a:rPr lang="en-US" sz="2600" b="1" dirty="0">
                <a:solidFill>
                  <a:srgbClr val="AF52DE"/>
                </a:solidFill>
                <a:latin typeface="Helvetica Neue" pitchFamily="34" charset="0"/>
                <a:ea typeface="Helvetica Neue" pitchFamily="34" charset="-122"/>
                <a:cs typeface="Helvetica Neue" pitchFamily="34" charset="-120"/>
              </a:rPr>
              <a:t>Opus</a:t>
            </a:r>
            <a:endParaRPr lang="en-US" sz="2600" dirty="0"/>
          </a:p>
        </p:txBody>
      </p:sp>
      <p:sp>
        <p:nvSpPr>
          <p:cNvPr id="11" name="Text 9"/>
          <p:cNvSpPr txBox="1"/>
          <p:nvPr/>
        </p:nvSpPr>
        <p:spPr>
          <a:xfrm>
            <a:off x="7904226" y="4389120"/>
            <a:ext cx="3657600" cy="640080"/>
          </a:xfrm>
          <a:prstGeom prst="rect">
            <a:avLst/>
          </a:prstGeom>
          <a:noFill/>
          <a:ln/>
        </p:spPr>
        <p:txBody>
          <a:bodyPr wrap="square" lIns="0" tIns="0" rIns="0" bIns="0" rtlCol="0" anchor="t"/>
          <a:lstStyle/>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Review gates, bug diagnosis,</a:t>
            </a:r>
            <a:endParaRPr lang="en-US" sz="1500" dirty="0"/>
          </a:p>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money, dates, auth</a:t>
            </a:r>
            <a:endParaRPr lang="en-US" sz="1500" dirty="0"/>
          </a:p>
        </p:txBody>
      </p:sp>
      <p:sp>
        <p:nvSpPr>
          <p:cNvPr id="12" name="context rules"/>
          <p:cNvSpPr/>
          <p:nvPr/>
        </p:nvSpPr>
        <p:spPr>
          <a:xfrm>
            <a:off x="640080" y="5257800"/>
            <a:ext cx="10911535" cy="777240"/>
          </a:xfrm>
          <a:prstGeom prst="roundRect">
            <a:avLst>
              <a:gd name="adj" fmla="val 23529"/>
            </a:avLst>
          </a:prstGeom>
          <a:solidFill>
            <a:srgbClr val="F5F5F7"/>
          </a:solidFill>
          <a:ln/>
        </p:spPr>
      </p:sp>
      <p:sp>
        <p:nvSpPr>
          <p:cNvPr id="13" name="Text 11"/>
          <p:cNvSpPr txBox="1"/>
          <p:nvPr/>
        </p:nvSpPr>
        <p:spPr>
          <a:xfrm>
            <a:off x="960120" y="5257800"/>
            <a:ext cx="10271455" cy="777240"/>
          </a:xfrm>
          <a:prstGeom prst="rect">
            <a:avLst/>
          </a:prstGeom>
          <a:noFill/>
          <a:ln/>
        </p:spPr>
        <p:txBody>
          <a:bodyPr wrap="square" lIns="0" tIns="0" rIns="0" bIns="0" rtlCol="0" anchor="ctr"/>
          <a:lstStyle/>
          <a:p>
            <a:pPr indent="0" marL="0">
              <a:buNone/>
            </a:pPr>
            <a:r>
              <a:rPr lang="en-US" sz="1600" b="1" dirty="0">
                <a:solidFill>
                  <a:schemeClr val="tx1"/>
                </a:solidFill>
                <a:latin typeface="Helvetica Neue" pitchFamily="34" charset="0"/>
                <a:ea typeface="Helvetica Neue" pitchFamily="34" charset="-122"/>
                <a:cs typeface="Helvetica Neue" pitchFamily="34" charset="-120"/>
              </a:rPr>
              <a:t>And a small context.  </a:t>
            </a:r>
            <a:pPr indent="0" marL="0">
              <a:buNone/>
            </a:pPr>
            <a:r>
              <a:rPr lang="en-US" sz="1600" dirty="0">
                <a:solidFill>
                  <a:srgbClr val="6E6E73"/>
                </a:solidFill>
                <a:latin typeface="Helvetica Neue" pitchFamily="34" charset="0"/>
                <a:ea typeface="Helvetica Neue" pitchFamily="34" charset="-122"/>
                <a:cs typeface="Helvetica Neue" pitchFamily="34" charset="-120"/>
              </a:rPr>
              <a:t>Every spawn names its model, late phases start fresh, briefs share a cache prefix.</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bg1"/>
                </a:solidFill>
                <a:latin typeface="Helvetica Neue" pitchFamily="34" charset="0"/>
                <a:ea typeface="Helvetica Neue" pitchFamily="34" charset="-122"/>
                <a:cs typeface="Helvetica Neue" pitchFamily="34" charset="-120"/>
              </a:rPr>
              <a:t>RTK shrinks what the model reads.</a:t>
            </a:r>
            <a:endParaRPr lang="en-US" sz="3600" dirty="0"/>
          </a:p>
        </p:txBody>
      </p:sp>
      <p:sp>
        <p:nvSpPr>
          <p:cNvPr id="3" name="Text 1"/>
          <p:cNvSpPr txBox="1"/>
          <p:nvPr/>
        </p:nvSpPr>
        <p:spPr>
          <a:xfrm>
            <a:off x="640080" y="1600200"/>
            <a:ext cx="4754880" cy="1463040"/>
          </a:xfrm>
          <a:prstGeom prst="rect">
            <a:avLst/>
          </a:prstGeom>
          <a:noFill/>
          <a:ln/>
        </p:spPr>
        <p:txBody>
          <a:bodyPr wrap="square" lIns="0" tIns="0" rIns="0" bIns="0" rtlCol="0" anchor="ctr"/>
          <a:lstStyle/>
          <a:p>
            <a:pPr indent="0" marL="0">
              <a:buNone/>
            </a:pPr>
            <a:r>
              <a:rPr lang="en-US" sz="11000" b="1" dirty="0">
                <a:solidFill>
                  <a:srgbClr val="64D2FF"/>
                </a:solidFill>
                <a:latin typeface="Helvetica Neue" pitchFamily="34" charset="0"/>
                <a:ea typeface="Helvetica Neue" pitchFamily="34" charset="-122"/>
                <a:cs typeface="Helvetica Neue" pitchFamily="34" charset="-120"/>
              </a:rPr>
              <a:t>−71%</a:t>
            </a:r>
            <a:endParaRPr lang="en-US" sz="11000" dirty="0"/>
          </a:p>
        </p:txBody>
      </p:sp>
      <p:sp>
        <p:nvSpPr>
          <p:cNvPr id="4" name="Text 2"/>
          <p:cNvSpPr txBox="1"/>
          <p:nvPr/>
        </p:nvSpPr>
        <p:spPr>
          <a:xfrm>
            <a:off x="640080" y="3154680"/>
            <a:ext cx="4754880" cy="411480"/>
          </a:xfrm>
          <a:prstGeom prst="rect">
            <a:avLst/>
          </a:prstGeom>
          <a:noFill/>
          <a:ln/>
        </p:spPr>
        <p:txBody>
          <a:bodyPr wrap="square" lIns="0" tIns="0" rIns="0" bIns="0" rtlCol="0" anchor="t"/>
          <a:lstStyle/>
          <a:p>
            <a:pPr indent="0" marL="0">
              <a:buNone/>
            </a:pPr>
            <a:r>
              <a:rPr lang="en-US" sz="1900" b="1" dirty="0">
                <a:solidFill>
                  <a:schemeClr val="bg1"/>
                </a:solidFill>
                <a:latin typeface="Helvetica Neue" pitchFamily="34" charset="0"/>
                <a:ea typeface="Helvetica Neue" pitchFamily="34" charset="-122"/>
                <a:cs typeface="Helvetica Neue" pitchFamily="34" charset="-120"/>
              </a:rPr>
              <a:t>output on ls -la. −48% on git log.</a:t>
            </a:r>
            <a:endParaRPr lang="en-US" sz="1900" dirty="0"/>
          </a:p>
        </p:txBody>
      </p:sp>
      <p:sp>
        <p:nvSpPr>
          <p:cNvPr id="5" name="Text 3"/>
          <p:cNvSpPr txBox="1"/>
          <p:nvPr/>
        </p:nvSpPr>
        <p:spPr>
          <a:xfrm>
            <a:off x="640080" y="3794760"/>
            <a:ext cx="4389120" cy="12801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Tests show only failures. Truncated output tells the model how to get the rest. Already-tight output, like a single diff, barely shrinks.</a:t>
            </a:r>
            <a:endParaRPr lang="en-US" sz="1500" dirty="0"/>
          </a:p>
        </p:txBody>
      </p:sp>
      <p:graphicFrame>
        <p:nvGraphicFramePr>
          <p:cNvPr id="6" name="Chart 0" descr=""/>
          <p:cNvGraphicFramePr/>
          <p:nvPr/>
        </p:nvGraphicFramePr>
        <p:xfrm>
          <a:off x="5852160" y="1554480"/>
          <a:ext cx="5699455"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Quality is gated, not hoped for.</a:t>
            </a:r>
            <a:endParaRPr lang="en-US" sz="3600" dirty="0"/>
          </a:p>
        </p:txBody>
      </p:sp>
      <p:sp>
        <p:nvSpPr>
          <p:cNvPr id="3" name="gate line"/>
          <p:cNvSpPr/>
          <p:nvPr/>
        </p:nvSpPr>
        <p:spPr>
          <a:xfrm>
            <a:off x="1419475" y="1965960"/>
            <a:ext cx="9352744" cy="0"/>
          </a:xfrm>
          <a:prstGeom prst="line">
            <a:avLst/>
          </a:prstGeom>
          <a:noFill/>
          <a:ln w="25400">
            <a:solidFill>
              <a:srgbClr val="D2D2D7"/>
            </a:solidFill>
            <a:prstDash val="solid"/>
          </a:ln>
        </p:spPr>
      </p:sp>
      <p:sp>
        <p:nvSpPr>
          <p:cNvPr id="4" name="gate Grill"/>
          <p:cNvSpPr/>
          <p:nvPr/>
        </p:nvSpPr>
        <p:spPr>
          <a:xfrm>
            <a:off x="1053715" y="1600200"/>
            <a:ext cx="731520" cy="731520"/>
          </a:xfrm>
          <a:prstGeom prst="ellipse">
            <a:avLst/>
          </a:prstGeom>
          <a:solidFill>
            <a:srgbClr val="28A745"/>
          </a:solidFill>
          <a:ln w="38100">
            <a:solidFill>
              <a:srgbClr val="FFFFFF"/>
            </a:solidFill>
            <a:prstDash val="solid"/>
          </a:ln>
        </p:spPr>
      </p:sp>
      <p:pic>
        <p:nvPicPr>
          <p:cNvPr id="5" name="gate Grill icon" descr="gate Grill">    </p:cNvPr>
          <p:cNvPicPr>
            <a:picLocks noChangeAspect="1"/>
          </p:cNvPicPr>
          <p:nvPr/>
        </p:nvPicPr>
        <p:blipFill>
          <a:blip r:embed="rId1"/>
          <a:stretch>
            <a:fillRect/>
          </a:stretch>
        </p:blipFill>
        <p:spPr>
          <a:xfrm>
            <a:off x="1245739" y="1792224"/>
            <a:ext cx="347472" cy="347472"/>
          </a:xfrm>
          <a:prstGeom prst="rect">
            <a:avLst/>
          </a:prstGeom>
        </p:spPr>
      </p:pic>
      <p:sp>
        <p:nvSpPr>
          <p:cNvPr id="6" name="Text 3"/>
          <p:cNvSpPr txBox="1"/>
          <p:nvPr/>
        </p:nvSpPr>
        <p:spPr>
          <a:xfrm>
            <a:off x="640080" y="2468880"/>
            <a:ext cx="1558791" cy="365760"/>
          </a:xfrm>
          <a:prstGeom prst="rect">
            <a:avLst/>
          </a:prstGeom>
          <a:noFill/>
          <a:ln/>
        </p:spPr>
        <p:txBody>
          <a:bodyPr wrap="square" lIns="0" tIns="0" rIns="0" bIns="0" rtlCol="0" anchor="t"/>
          <a:lstStyle/>
          <a:p>
            <a:pPr algn="ctr" indent="0" marL="0">
              <a:buNone/>
            </a:pPr>
            <a:r>
              <a:rPr lang="en-US" sz="1800" b="1" dirty="0">
                <a:solidFill>
                  <a:schemeClr val="tx1"/>
                </a:solidFill>
                <a:latin typeface="Helvetica Neue" pitchFamily="34" charset="0"/>
                <a:ea typeface="Helvetica Neue" pitchFamily="34" charset="-122"/>
                <a:cs typeface="Helvetica Neue" pitchFamily="34" charset="-120"/>
              </a:rPr>
              <a:t>Grill</a:t>
            </a:r>
            <a:endParaRPr lang="en-US" sz="1800" dirty="0"/>
          </a:p>
        </p:txBody>
      </p:sp>
      <p:sp>
        <p:nvSpPr>
          <p:cNvPr id="7" name="Text 4"/>
          <p:cNvSpPr txBox="1"/>
          <p:nvPr/>
        </p:nvSpPr>
        <p:spPr>
          <a:xfrm>
            <a:off x="685800" y="2852928"/>
            <a:ext cx="1467351"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Assumptions confirmed</a:t>
            </a:r>
            <a:endParaRPr lang="en-US" sz="1300" dirty="0"/>
          </a:p>
        </p:txBody>
      </p:sp>
      <p:sp>
        <p:nvSpPr>
          <p:cNvPr id="8" name="gate Mock"/>
          <p:cNvSpPr/>
          <p:nvPr/>
        </p:nvSpPr>
        <p:spPr>
          <a:xfrm>
            <a:off x="2612506" y="1600200"/>
            <a:ext cx="731520" cy="731520"/>
          </a:xfrm>
          <a:prstGeom prst="ellipse">
            <a:avLst/>
          </a:prstGeom>
          <a:solidFill>
            <a:srgbClr val="28A745"/>
          </a:solidFill>
          <a:ln w="38100">
            <a:solidFill>
              <a:srgbClr val="FFFFFF"/>
            </a:solidFill>
            <a:prstDash val="solid"/>
          </a:ln>
        </p:spPr>
      </p:sp>
      <p:pic>
        <p:nvPicPr>
          <p:cNvPr id="9" name="gate Mock icon" descr="gate Mock">    </p:cNvPr>
          <p:cNvPicPr>
            <a:picLocks noChangeAspect="1"/>
          </p:cNvPicPr>
          <p:nvPr/>
        </p:nvPicPr>
        <p:blipFill>
          <a:blip r:embed="rId2"/>
          <a:stretch>
            <a:fillRect/>
          </a:stretch>
        </p:blipFill>
        <p:spPr>
          <a:xfrm>
            <a:off x="2804530" y="1792224"/>
            <a:ext cx="347472" cy="347472"/>
          </a:xfrm>
          <a:prstGeom prst="rect">
            <a:avLst/>
          </a:prstGeom>
        </p:spPr>
      </p:pic>
      <p:sp>
        <p:nvSpPr>
          <p:cNvPr id="10" name="Text 6"/>
          <p:cNvSpPr txBox="1"/>
          <p:nvPr/>
        </p:nvSpPr>
        <p:spPr>
          <a:xfrm>
            <a:off x="2198871" y="2468880"/>
            <a:ext cx="1558791" cy="365760"/>
          </a:xfrm>
          <a:prstGeom prst="rect">
            <a:avLst/>
          </a:prstGeom>
          <a:noFill/>
          <a:ln/>
        </p:spPr>
        <p:txBody>
          <a:bodyPr wrap="square" lIns="0" tIns="0" rIns="0" bIns="0" rtlCol="0" anchor="t"/>
          <a:lstStyle/>
          <a:p>
            <a:pPr algn="ctr" indent="0" marL="0">
              <a:buNone/>
            </a:pPr>
            <a:r>
              <a:rPr lang="en-US" sz="1800" b="1" dirty="0">
                <a:solidFill>
                  <a:schemeClr val="tx1"/>
                </a:solidFill>
                <a:latin typeface="Helvetica Neue" pitchFamily="34" charset="0"/>
                <a:ea typeface="Helvetica Neue" pitchFamily="34" charset="-122"/>
                <a:cs typeface="Helvetica Neue" pitchFamily="34" charset="-120"/>
              </a:rPr>
              <a:t>Mock</a:t>
            </a:r>
            <a:endParaRPr lang="en-US" sz="1800" dirty="0"/>
          </a:p>
        </p:txBody>
      </p:sp>
      <p:sp>
        <p:nvSpPr>
          <p:cNvPr id="11" name="Text 7"/>
          <p:cNvSpPr txBox="1"/>
          <p:nvPr/>
        </p:nvSpPr>
        <p:spPr>
          <a:xfrm>
            <a:off x="2244591" y="2852928"/>
            <a:ext cx="1467351"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UI signed off first</a:t>
            </a:r>
            <a:endParaRPr lang="en-US" sz="1300" dirty="0"/>
          </a:p>
        </p:txBody>
      </p:sp>
      <p:sp>
        <p:nvSpPr>
          <p:cNvPr id="12" name="gate TDD"/>
          <p:cNvSpPr/>
          <p:nvPr/>
        </p:nvSpPr>
        <p:spPr>
          <a:xfrm>
            <a:off x="4171297" y="1600200"/>
            <a:ext cx="731520" cy="731520"/>
          </a:xfrm>
          <a:prstGeom prst="ellipse">
            <a:avLst/>
          </a:prstGeom>
          <a:solidFill>
            <a:srgbClr val="28A745"/>
          </a:solidFill>
          <a:ln w="38100">
            <a:solidFill>
              <a:srgbClr val="FFFFFF"/>
            </a:solidFill>
            <a:prstDash val="solid"/>
          </a:ln>
        </p:spPr>
      </p:sp>
      <p:pic>
        <p:nvPicPr>
          <p:cNvPr id="13" name="gate TDD icon" descr="gate TDD">    </p:cNvPr>
          <p:cNvPicPr>
            <a:picLocks noChangeAspect="1"/>
          </p:cNvPicPr>
          <p:nvPr/>
        </p:nvPicPr>
        <p:blipFill>
          <a:blip r:embed="rId3"/>
          <a:stretch>
            <a:fillRect/>
          </a:stretch>
        </p:blipFill>
        <p:spPr>
          <a:xfrm>
            <a:off x="4363321" y="1792224"/>
            <a:ext cx="347472" cy="347472"/>
          </a:xfrm>
          <a:prstGeom prst="rect">
            <a:avLst/>
          </a:prstGeom>
        </p:spPr>
      </p:pic>
      <p:sp>
        <p:nvSpPr>
          <p:cNvPr id="14" name="Text 9"/>
          <p:cNvSpPr txBox="1"/>
          <p:nvPr/>
        </p:nvSpPr>
        <p:spPr>
          <a:xfrm>
            <a:off x="3757661" y="2468880"/>
            <a:ext cx="1558791" cy="365760"/>
          </a:xfrm>
          <a:prstGeom prst="rect">
            <a:avLst/>
          </a:prstGeom>
          <a:noFill/>
          <a:ln/>
        </p:spPr>
        <p:txBody>
          <a:bodyPr wrap="square" lIns="0" tIns="0" rIns="0" bIns="0" rtlCol="0" anchor="t"/>
          <a:lstStyle/>
          <a:p>
            <a:pPr algn="ctr" indent="0" marL="0">
              <a:buNone/>
            </a:pPr>
            <a:r>
              <a:rPr lang="en-US" sz="1800" b="1" dirty="0">
                <a:solidFill>
                  <a:schemeClr val="tx1"/>
                </a:solidFill>
                <a:latin typeface="Helvetica Neue" pitchFamily="34" charset="0"/>
                <a:ea typeface="Helvetica Neue" pitchFamily="34" charset="-122"/>
                <a:cs typeface="Helvetica Neue" pitchFamily="34" charset="-120"/>
              </a:rPr>
              <a:t>TDD</a:t>
            </a:r>
            <a:endParaRPr lang="en-US" sz="1800" dirty="0"/>
          </a:p>
        </p:txBody>
      </p:sp>
      <p:sp>
        <p:nvSpPr>
          <p:cNvPr id="15" name="Text 10"/>
          <p:cNvSpPr txBox="1"/>
          <p:nvPr/>
        </p:nvSpPr>
        <p:spPr>
          <a:xfrm>
            <a:off x="3803381" y="2852928"/>
            <a:ext cx="1467351"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Red, green, commit</a:t>
            </a:r>
            <a:endParaRPr lang="en-US" sz="1300" dirty="0"/>
          </a:p>
        </p:txBody>
      </p:sp>
      <p:sp>
        <p:nvSpPr>
          <p:cNvPr id="16" name="gate Gate"/>
          <p:cNvSpPr/>
          <p:nvPr/>
        </p:nvSpPr>
        <p:spPr>
          <a:xfrm>
            <a:off x="5730088" y="1600200"/>
            <a:ext cx="731520" cy="731520"/>
          </a:xfrm>
          <a:prstGeom prst="ellipse">
            <a:avLst/>
          </a:prstGeom>
          <a:solidFill>
            <a:srgbClr val="28A745"/>
          </a:solidFill>
          <a:ln w="38100">
            <a:solidFill>
              <a:srgbClr val="FFFFFF"/>
            </a:solidFill>
            <a:prstDash val="solid"/>
          </a:ln>
        </p:spPr>
      </p:sp>
      <p:pic>
        <p:nvPicPr>
          <p:cNvPr id="17" name="gate Gate icon" descr="gate Gate">    </p:cNvPr>
          <p:cNvPicPr>
            <a:picLocks noChangeAspect="1"/>
          </p:cNvPicPr>
          <p:nvPr/>
        </p:nvPicPr>
        <p:blipFill>
          <a:blip r:embed="rId4"/>
          <a:stretch>
            <a:fillRect/>
          </a:stretch>
        </p:blipFill>
        <p:spPr>
          <a:xfrm>
            <a:off x="5922112" y="1792224"/>
            <a:ext cx="347472" cy="347472"/>
          </a:xfrm>
          <a:prstGeom prst="rect">
            <a:avLst/>
          </a:prstGeom>
        </p:spPr>
      </p:pic>
      <p:sp>
        <p:nvSpPr>
          <p:cNvPr id="18" name="Text 12"/>
          <p:cNvSpPr txBox="1"/>
          <p:nvPr/>
        </p:nvSpPr>
        <p:spPr>
          <a:xfrm>
            <a:off x="5316452" y="2468880"/>
            <a:ext cx="1558791" cy="365760"/>
          </a:xfrm>
          <a:prstGeom prst="rect">
            <a:avLst/>
          </a:prstGeom>
          <a:noFill/>
          <a:ln/>
        </p:spPr>
        <p:txBody>
          <a:bodyPr wrap="square" lIns="0" tIns="0" rIns="0" bIns="0" rtlCol="0" anchor="t"/>
          <a:lstStyle/>
          <a:p>
            <a:pPr algn="ctr" indent="0" marL="0">
              <a:buNone/>
            </a:pPr>
            <a:r>
              <a:rPr lang="en-US" sz="1800" b="1" dirty="0">
                <a:solidFill>
                  <a:schemeClr val="tx1"/>
                </a:solidFill>
                <a:latin typeface="Helvetica Neue" pitchFamily="34" charset="0"/>
                <a:ea typeface="Helvetica Neue" pitchFamily="34" charset="-122"/>
                <a:cs typeface="Helvetica Neue" pitchFamily="34" charset="-120"/>
              </a:rPr>
              <a:t>Gate</a:t>
            </a:r>
            <a:endParaRPr lang="en-US" sz="1800" dirty="0"/>
          </a:p>
        </p:txBody>
      </p:sp>
      <p:sp>
        <p:nvSpPr>
          <p:cNvPr id="19" name="Text 13"/>
          <p:cNvSpPr txBox="1"/>
          <p:nvPr/>
        </p:nvSpPr>
        <p:spPr>
          <a:xfrm>
            <a:off x="5362172" y="2852928"/>
            <a:ext cx="1467351"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Opus review, contract</a:t>
            </a:r>
            <a:endParaRPr lang="en-US" sz="1300" dirty="0"/>
          </a:p>
        </p:txBody>
      </p:sp>
      <p:sp>
        <p:nvSpPr>
          <p:cNvPr id="20" name="gate Verify"/>
          <p:cNvSpPr/>
          <p:nvPr/>
        </p:nvSpPr>
        <p:spPr>
          <a:xfrm>
            <a:off x="7288878" y="1600200"/>
            <a:ext cx="731520" cy="731520"/>
          </a:xfrm>
          <a:prstGeom prst="ellipse">
            <a:avLst/>
          </a:prstGeom>
          <a:solidFill>
            <a:srgbClr val="28A745"/>
          </a:solidFill>
          <a:ln w="38100">
            <a:solidFill>
              <a:srgbClr val="FFFFFF"/>
            </a:solidFill>
            <a:prstDash val="solid"/>
          </a:ln>
        </p:spPr>
      </p:sp>
      <p:pic>
        <p:nvPicPr>
          <p:cNvPr id="21" name="gate Verify icon" descr="gate Verify">    </p:cNvPr>
          <p:cNvPicPr>
            <a:picLocks noChangeAspect="1"/>
          </p:cNvPicPr>
          <p:nvPr/>
        </p:nvPicPr>
        <p:blipFill>
          <a:blip r:embed="rId5"/>
          <a:stretch>
            <a:fillRect/>
          </a:stretch>
        </p:blipFill>
        <p:spPr>
          <a:xfrm>
            <a:off x="7480902" y="1792224"/>
            <a:ext cx="347472" cy="347472"/>
          </a:xfrm>
          <a:prstGeom prst="rect">
            <a:avLst/>
          </a:prstGeom>
        </p:spPr>
      </p:pic>
      <p:sp>
        <p:nvSpPr>
          <p:cNvPr id="22" name="Text 15"/>
          <p:cNvSpPr txBox="1"/>
          <p:nvPr/>
        </p:nvSpPr>
        <p:spPr>
          <a:xfrm>
            <a:off x="6875243" y="2468880"/>
            <a:ext cx="1558791" cy="365760"/>
          </a:xfrm>
          <a:prstGeom prst="rect">
            <a:avLst/>
          </a:prstGeom>
          <a:noFill/>
          <a:ln/>
        </p:spPr>
        <p:txBody>
          <a:bodyPr wrap="square" lIns="0" tIns="0" rIns="0" bIns="0" rtlCol="0" anchor="t"/>
          <a:lstStyle/>
          <a:p>
            <a:pPr algn="ctr" indent="0" marL="0">
              <a:buNone/>
            </a:pPr>
            <a:r>
              <a:rPr lang="en-US" sz="1800" b="1" dirty="0">
                <a:solidFill>
                  <a:schemeClr val="tx1"/>
                </a:solidFill>
                <a:latin typeface="Helvetica Neue" pitchFamily="34" charset="0"/>
                <a:ea typeface="Helvetica Neue" pitchFamily="34" charset="-122"/>
                <a:cs typeface="Helvetica Neue" pitchFamily="34" charset="-120"/>
              </a:rPr>
              <a:t>Verify</a:t>
            </a:r>
            <a:endParaRPr lang="en-US" sz="1800" dirty="0"/>
          </a:p>
        </p:txBody>
      </p:sp>
      <p:sp>
        <p:nvSpPr>
          <p:cNvPr id="23" name="Text 16"/>
          <p:cNvSpPr txBox="1"/>
          <p:nvPr/>
        </p:nvSpPr>
        <p:spPr>
          <a:xfrm>
            <a:off x="6920963" y="2852928"/>
            <a:ext cx="1467351"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deep-qa on the real app</a:t>
            </a:r>
            <a:endParaRPr lang="en-US" sz="1300" dirty="0"/>
          </a:p>
        </p:txBody>
      </p:sp>
      <p:sp>
        <p:nvSpPr>
          <p:cNvPr id="24" name="gate PR"/>
          <p:cNvSpPr/>
          <p:nvPr/>
        </p:nvSpPr>
        <p:spPr>
          <a:xfrm>
            <a:off x="8847669" y="1600200"/>
            <a:ext cx="731520" cy="731520"/>
          </a:xfrm>
          <a:prstGeom prst="ellipse">
            <a:avLst/>
          </a:prstGeom>
          <a:solidFill>
            <a:srgbClr val="28A745"/>
          </a:solidFill>
          <a:ln w="38100">
            <a:solidFill>
              <a:srgbClr val="FFFFFF"/>
            </a:solidFill>
            <a:prstDash val="solid"/>
          </a:ln>
        </p:spPr>
      </p:sp>
      <p:pic>
        <p:nvPicPr>
          <p:cNvPr id="25" name="gate PR icon" descr="gate PR">    </p:cNvPr>
          <p:cNvPicPr>
            <a:picLocks noChangeAspect="1"/>
          </p:cNvPicPr>
          <p:nvPr/>
        </p:nvPicPr>
        <p:blipFill>
          <a:blip r:embed="rId6"/>
          <a:stretch>
            <a:fillRect/>
          </a:stretch>
        </p:blipFill>
        <p:spPr>
          <a:xfrm>
            <a:off x="9039693" y="1792224"/>
            <a:ext cx="347472" cy="347472"/>
          </a:xfrm>
          <a:prstGeom prst="rect">
            <a:avLst/>
          </a:prstGeom>
        </p:spPr>
      </p:pic>
      <p:sp>
        <p:nvSpPr>
          <p:cNvPr id="26" name="Text 18"/>
          <p:cNvSpPr txBox="1"/>
          <p:nvPr/>
        </p:nvSpPr>
        <p:spPr>
          <a:xfrm>
            <a:off x="8434034" y="2468880"/>
            <a:ext cx="1558791" cy="365760"/>
          </a:xfrm>
          <a:prstGeom prst="rect">
            <a:avLst/>
          </a:prstGeom>
          <a:noFill/>
          <a:ln/>
        </p:spPr>
        <p:txBody>
          <a:bodyPr wrap="square" lIns="0" tIns="0" rIns="0" bIns="0" rtlCol="0" anchor="t"/>
          <a:lstStyle/>
          <a:p>
            <a:pPr algn="ctr" indent="0" marL="0">
              <a:buNone/>
            </a:pPr>
            <a:r>
              <a:rPr lang="en-US" sz="1800" b="1" dirty="0">
                <a:solidFill>
                  <a:schemeClr val="tx1"/>
                </a:solidFill>
                <a:latin typeface="Helvetica Neue" pitchFamily="34" charset="0"/>
                <a:ea typeface="Helvetica Neue" pitchFamily="34" charset="-122"/>
                <a:cs typeface="Helvetica Neue" pitchFamily="34" charset="-120"/>
              </a:rPr>
              <a:t>PR</a:t>
            </a:r>
            <a:endParaRPr lang="en-US" sz="1800" dirty="0"/>
          </a:p>
        </p:txBody>
      </p:sp>
      <p:sp>
        <p:nvSpPr>
          <p:cNvPr id="27" name="Text 19"/>
          <p:cNvSpPr txBox="1"/>
          <p:nvPr/>
        </p:nvSpPr>
        <p:spPr>
          <a:xfrm>
            <a:off x="8479754" y="2852928"/>
            <a:ext cx="1467351"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Agent, Copilot, shots</a:t>
            </a:r>
            <a:endParaRPr lang="en-US" sz="1300" dirty="0"/>
          </a:p>
        </p:txBody>
      </p:sp>
      <p:sp>
        <p:nvSpPr>
          <p:cNvPr id="28" name="gate You"/>
          <p:cNvSpPr/>
          <p:nvPr/>
        </p:nvSpPr>
        <p:spPr>
          <a:xfrm>
            <a:off x="10406460" y="1600200"/>
            <a:ext cx="731520" cy="731520"/>
          </a:xfrm>
          <a:prstGeom prst="ellipse">
            <a:avLst/>
          </a:prstGeom>
          <a:solidFill>
            <a:srgbClr val="FF2D55"/>
          </a:solidFill>
          <a:ln w="38100">
            <a:solidFill>
              <a:srgbClr val="FFFFFF"/>
            </a:solidFill>
            <a:prstDash val="solid"/>
          </a:ln>
        </p:spPr>
      </p:sp>
      <p:pic>
        <p:nvPicPr>
          <p:cNvPr id="29" name="gate You icon" descr="gate You">    </p:cNvPr>
          <p:cNvPicPr>
            <a:picLocks noChangeAspect="1"/>
          </p:cNvPicPr>
          <p:nvPr/>
        </p:nvPicPr>
        <p:blipFill>
          <a:blip r:embed="rId7"/>
          <a:stretch>
            <a:fillRect/>
          </a:stretch>
        </p:blipFill>
        <p:spPr>
          <a:xfrm>
            <a:off x="10598484" y="1792224"/>
            <a:ext cx="347472" cy="347472"/>
          </a:xfrm>
          <a:prstGeom prst="rect">
            <a:avLst/>
          </a:prstGeom>
        </p:spPr>
      </p:pic>
      <p:sp>
        <p:nvSpPr>
          <p:cNvPr id="30" name="Text 21"/>
          <p:cNvSpPr txBox="1"/>
          <p:nvPr/>
        </p:nvSpPr>
        <p:spPr>
          <a:xfrm>
            <a:off x="9992824" y="2468880"/>
            <a:ext cx="1558791" cy="365760"/>
          </a:xfrm>
          <a:prstGeom prst="rect">
            <a:avLst/>
          </a:prstGeom>
          <a:noFill/>
          <a:ln/>
        </p:spPr>
        <p:txBody>
          <a:bodyPr wrap="square" lIns="0" tIns="0" rIns="0" bIns="0" rtlCol="0" anchor="t"/>
          <a:lstStyle/>
          <a:p>
            <a:pPr algn="ctr" indent="0" marL="0">
              <a:buNone/>
            </a:pPr>
            <a:r>
              <a:rPr lang="en-US" sz="1800" b="1" dirty="0">
                <a:solidFill>
                  <a:schemeClr val="tx1"/>
                </a:solidFill>
                <a:latin typeface="Helvetica Neue" pitchFamily="34" charset="0"/>
                <a:ea typeface="Helvetica Neue" pitchFamily="34" charset="-122"/>
                <a:cs typeface="Helvetica Neue" pitchFamily="34" charset="-120"/>
              </a:rPr>
              <a:t>You</a:t>
            </a:r>
            <a:endParaRPr lang="en-US" sz="1800" dirty="0"/>
          </a:p>
        </p:txBody>
      </p:sp>
      <p:sp>
        <p:nvSpPr>
          <p:cNvPr id="31" name="Text 22"/>
          <p:cNvSpPr txBox="1"/>
          <p:nvPr/>
        </p:nvSpPr>
        <p:spPr>
          <a:xfrm>
            <a:off x="10038544" y="2852928"/>
            <a:ext cx="1467351"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Push preview first</a:t>
            </a:r>
            <a:endParaRPr lang="en-US" sz="1300" dirty="0"/>
          </a:p>
        </p:txBody>
      </p:sp>
      <p:sp>
        <p:nvSpPr>
          <p:cNvPr id="32" name="Text 23"/>
          <p:cNvSpPr txBox="1"/>
          <p:nvPr/>
        </p:nvSpPr>
        <p:spPr>
          <a:xfrm>
            <a:off x="640080" y="3611880"/>
            <a:ext cx="10911535" cy="320040"/>
          </a:xfrm>
          <a:prstGeom prst="rect">
            <a:avLst/>
          </a:prstGeom>
          <a:noFill/>
          <a:ln/>
        </p:spPr>
        <p:txBody>
          <a:bodyPr wrap="square" lIns="0" tIns="0" rIns="0" bIns="0" rtlCol="0" anchor="t"/>
          <a:lstStyle/>
          <a:p>
            <a:pPr indent="0" marL="0">
              <a:buNone/>
            </a:pPr>
            <a:r>
              <a:rPr lang="en-US" sz="1500" b="1" dirty="0">
                <a:solidFill>
                  <a:srgbClr val="6E6E73"/>
                </a:solidFill>
                <a:latin typeface="Helvetica Neue" pitchFamily="34" charset="0"/>
                <a:ea typeface="Helvetica Neue" pitchFamily="34" charset="-122"/>
                <a:cs typeface="Helvetica Neue" pitchFamily="34" charset="-120"/>
              </a:rPr>
              <a:t>Eight QA lenses. A verdict, never a silent skip.</a:t>
            </a:r>
            <a:endParaRPr lang="en-US" sz="1500" dirty="0"/>
          </a:p>
        </p:txBody>
      </p:sp>
      <p:sp>
        <p:nvSpPr>
          <p:cNvPr id="33" name="lens Defects"/>
          <p:cNvSpPr/>
          <p:nvPr/>
        </p:nvSpPr>
        <p:spPr>
          <a:xfrm>
            <a:off x="640080" y="4069080"/>
            <a:ext cx="2556434" cy="868680"/>
          </a:xfrm>
          <a:prstGeom prst="roundRect">
            <a:avLst>
              <a:gd name="adj" fmla="val 21053"/>
            </a:avLst>
          </a:prstGeom>
          <a:solidFill>
            <a:srgbClr val="F5F5F7"/>
          </a:solidFill>
          <a:ln/>
        </p:spPr>
      </p:sp>
      <p:pic>
        <p:nvPicPr>
          <p:cNvPr id="34" name="lens Defects icon" descr="lens Defects">    </p:cNvPr>
          <p:cNvPicPr>
            <a:picLocks noChangeAspect="1"/>
          </p:cNvPicPr>
          <p:nvPr/>
        </p:nvPicPr>
        <p:blipFill>
          <a:blip r:embed="rId8"/>
          <a:stretch>
            <a:fillRect/>
          </a:stretch>
        </p:blipFill>
        <p:spPr>
          <a:xfrm>
            <a:off x="914400" y="4297680"/>
            <a:ext cx="411480" cy="411480"/>
          </a:xfrm>
          <a:prstGeom prst="rect">
            <a:avLst/>
          </a:prstGeom>
        </p:spPr>
      </p:pic>
      <p:sp>
        <p:nvSpPr>
          <p:cNvPr id="35" name="Text 25"/>
          <p:cNvSpPr txBox="1"/>
          <p:nvPr/>
        </p:nvSpPr>
        <p:spPr>
          <a:xfrm>
            <a:off x="1554480" y="406908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Defects</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static</a:t>
            </a:r>
            <a:endParaRPr lang="en-US" sz="1700" dirty="0"/>
          </a:p>
        </p:txBody>
      </p:sp>
      <p:sp>
        <p:nvSpPr>
          <p:cNvPr id="36" name="lens Spec"/>
          <p:cNvSpPr/>
          <p:nvPr/>
        </p:nvSpPr>
        <p:spPr>
          <a:xfrm>
            <a:off x="3425114" y="4069080"/>
            <a:ext cx="2556434" cy="868680"/>
          </a:xfrm>
          <a:prstGeom prst="roundRect">
            <a:avLst>
              <a:gd name="adj" fmla="val 21053"/>
            </a:avLst>
          </a:prstGeom>
          <a:solidFill>
            <a:srgbClr val="F5F5F7"/>
          </a:solidFill>
          <a:ln/>
        </p:spPr>
      </p:sp>
      <p:pic>
        <p:nvPicPr>
          <p:cNvPr id="37" name="lens Spec icon" descr="lens Spec">    </p:cNvPr>
          <p:cNvPicPr>
            <a:picLocks noChangeAspect="1"/>
          </p:cNvPicPr>
          <p:nvPr/>
        </p:nvPicPr>
        <p:blipFill>
          <a:blip r:embed="rId9"/>
          <a:stretch>
            <a:fillRect/>
          </a:stretch>
        </p:blipFill>
        <p:spPr>
          <a:xfrm>
            <a:off x="3699434" y="4297680"/>
            <a:ext cx="411480" cy="411480"/>
          </a:xfrm>
          <a:prstGeom prst="rect">
            <a:avLst/>
          </a:prstGeom>
        </p:spPr>
      </p:pic>
      <p:sp>
        <p:nvSpPr>
          <p:cNvPr id="38" name="Text 27"/>
          <p:cNvSpPr txBox="1"/>
          <p:nvPr/>
        </p:nvSpPr>
        <p:spPr>
          <a:xfrm>
            <a:off x="4339514" y="406908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Spec</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static</a:t>
            </a:r>
            <a:endParaRPr lang="en-US" sz="1700" dirty="0"/>
          </a:p>
        </p:txBody>
      </p:sp>
      <p:sp>
        <p:nvSpPr>
          <p:cNvPr id="39" name="lens Design"/>
          <p:cNvSpPr/>
          <p:nvPr/>
        </p:nvSpPr>
        <p:spPr>
          <a:xfrm>
            <a:off x="6210148" y="4069080"/>
            <a:ext cx="2556434" cy="868680"/>
          </a:xfrm>
          <a:prstGeom prst="roundRect">
            <a:avLst>
              <a:gd name="adj" fmla="val 21053"/>
            </a:avLst>
          </a:prstGeom>
          <a:solidFill>
            <a:srgbClr val="F5F5F7"/>
          </a:solidFill>
          <a:ln/>
        </p:spPr>
      </p:sp>
      <p:pic>
        <p:nvPicPr>
          <p:cNvPr id="40" name="lens Design icon" descr="lens Design">    </p:cNvPr>
          <p:cNvPicPr>
            <a:picLocks noChangeAspect="1"/>
          </p:cNvPicPr>
          <p:nvPr/>
        </p:nvPicPr>
        <p:blipFill>
          <a:blip r:embed="rId10"/>
          <a:stretch>
            <a:fillRect/>
          </a:stretch>
        </p:blipFill>
        <p:spPr>
          <a:xfrm>
            <a:off x="6484468" y="4297680"/>
            <a:ext cx="411480" cy="411480"/>
          </a:xfrm>
          <a:prstGeom prst="rect">
            <a:avLst/>
          </a:prstGeom>
        </p:spPr>
      </p:pic>
      <p:sp>
        <p:nvSpPr>
          <p:cNvPr id="41" name="Text 29"/>
          <p:cNvSpPr txBox="1"/>
          <p:nvPr/>
        </p:nvSpPr>
        <p:spPr>
          <a:xfrm>
            <a:off x="7124548" y="406908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Design</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static</a:t>
            </a:r>
            <a:endParaRPr lang="en-US" sz="1700" dirty="0"/>
          </a:p>
        </p:txBody>
      </p:sp>
      <p:sp>
        <p:nvSpPr>
          <p:cNvPr id="42" name="lens Security"/>
          <p:cNvSpPr/>
          <p:nvPr/>
        </p:nvSpPr>
        <p:spPr>
          <a:xfrm>
            <a:off x="8995181" y="4069080"/>
            <a:ext cx="2556434" cy="868680"/>
          </a:xfrm>
          <a:prstGeom prst="roundRect">
            <a:avLst>
              <a:gd name="adj" fmla="val 21053"/>
            </a:avLst>
          </a:prstGeom>
          <a:solidFill>
            <a:srgbClr val="F5F5F7"/>
          </a:solidFill>
          <a:ln/>
        </p:spPr>
      </p:sp>
      <p:pic>
        <p:nvPicPr>
          <p:cNvPr id="43" name="lens Security icon" descr="lens Security">    </p:cNvPr>
          <p:cNvPicPr>
            <a:picLocks noChangeAspect="1"/>
          </p:cNvPicPr>
          <p:nvPr/>
        </p:nvPicPr>
        <p:blipFill>
          <a:blip r:embed="rId11"/>
          <a:stretch>
            <a:fillRect/>
          </a:stretch>
        </p:blipFill>
        <p:spPr>
          <a:xfrm>
            <a:off x="9269501" y="4297680"/>
            <a:ext cx="411480" cy="411480"/>
          </a:xfrm>
          <a:prstGeom prst="rect">
            <a:avLst/>
          </a:prstGeom>
        </p:spPr>
      </p:pic>
      <p:sp>
        <p:nvSpPr>
          <p:cNvPr id="44" name="Text 31"/>
          <p:cNvSpPr txBox="1"/>
          <p:nvPr/>
        </p:nvSpPr>
        <p:spPr>
          <a:xfrm>
            <a:off x="9909581" y="406908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Security</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static</a:t>
            </a:r>
            <a:endParaRPr lang="en-US" sz="1700" dirty="0"/>
          </a:p>
        </p:txBody>
      </p:sp>
      <p:sp>
        <p:nvSpPr>
          <p:cNvPr id="45" name="lens Contract"/>
          <p:cNvSpPr/>
          <p:nvPr/>
        </p:nvSpPr>
        <p:spPr>
          <a:xfrm>
            <a:off x="640080" y="5120640"/>
            <a:ext cx="2556434" cy="868680"/>
          </a:xfrm>
          <a:prstGeom prst="roundRect">
            <a:avLst>
              <a:gd name="adj" fmla="val 21053"/>
            </a:avLst>
          </a:prstGeom>
          <a:solidFill>
            <a:srgbClr val="F5F5F7"/>
          </a:solidFill>
          <a:ln/>
        </p:spPr>
      </p:sp>
      <p:pic>
        <p:nvPicPr>
          <p:cNvPr id="46" name="lens Contract icon" descr="lens Contract">    </p:cNvPr>
          <p:cNvPicPr>
            <a:picLocks noChangeAspect="1"/>
          </p:cNvPicPr>
          <p:nvPr/>
        </p:nvPicPr>
        <p:blipFill>
          <a:blip r:embed="rId12"/>
          <a:stretch>
            <a:fillRect/>
          </a:stretch>
        </p:blipFill>
        <p:spPr>
          <a:xfrm>
            <a:off x="914400" y="5349240"/>
            <a:ext cx="411480" cy="411480"/>
          </a:xfrm>
          <a:prstGeom prst="rect">
            <a:avLst/>
          </a:prstGeom>
        </p:spPr>
      </p:pic>
      <p:sp>
        <p:nvSpPr>
          <p:cNvPr id="47" name="Text 33"/>
          <p:cNvSpPr txBox="1"/>
          <p:nvPr/>
        </p:nvSpPr>
        <p:spPr>
          <a:xfrm>
            <a:off x="1554480" y="512064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Contract</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running app</a:t>
            </a:r>
            <a:endParaRPr lang="en-US" sz="1700" dirty="0"/>
          </a:p>
        </p:txBody>
      </p:sp>
      <p:sp>
        <p:nvSpPr>
          <p:cNvPr id="48" name="lens Journeys"/>
          <p:cNvSpPr/>
          <p:nvPr/>
        </p:nvSpPr>
        <p:spPr>
          <a:xfrm>
            <a:off x="3425114" y="5120640"/>
            <a:ext cx="2556434" cy="868680"/>
          </a:xfrm>
          <a:prstGeom prst="roundRect">
            <a:avLst>
              <a:gd name="adj" fmla="val 21053"/>
            </a:avLst>
          </a:prstGeom>
          <a:solidFill>
            <a:srgbClr val="F5F5F7"/>
          </a:solidFill>
          <a:ln/>
        </p:spPr>
      </p:sp>
      <p:pic>
        <p:nvPicPr>
          <p:cNvPr id="49" name="lens Journeys icon" descr="lens Journeys">    </p:cNvPr>
          <p:cNvPicPr>
            <a:picLocks noChangeAspect="1"/>
          </p:cNvPicPr>
          <p:nvPr/>
        </p:nvPicPr>
        <p:blipFill>
          <a:blip r:embed="rId13"/>
          <a:stretch>
            <a:fillRect/>
          </a:stretch>
        </p:blipFill>
        <p:spPr>
          <a:xfrm>
            <a:off x="3699434" y="5349240"/>
            <a:ext cx="411480" cy="411480"/>
          </a:xfrm>
          <a:prstGeom prst="rect">
            <a:avLst/>
          </a:prstGeom>
        </p:spPr>
      </p:pic>
      <p:sp>
        <p:nvSpPr>
          <p:cNvPr id="50" name="Text 35"/>
          <p:cNvSpPr txBox="1"/>
          <p:nvPr/>
        </p:nvSpPr>
        <p:spPr>
          <a:xfrm>
            <a:off x="4339514" y="512064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Journeys</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running app</a:t>
            </a:r>
            <a:endParaRPr lang="en-US" sz="1700" dirty="0"/>
          </a:p>
        </p:txBody>
      </p:sp>
      <p:sp>
        <p:nvSpPr>
          <p:cNvPr id="51" name="lens Accessibility"/>
          <p:cNvSpPr/>
          <p:nvPr/>
        </p:nvSpPr>
        <p:spPr>
          <a:xfrm>
            <a:off x="6210148" y="5120640"/>
            <a:ext cx="2556434" cy="868680"/>
          </a:xfrm>
          <a:prstGeom prst="roundRect">
            <a:avLst>
              <a:gd name="adj" fmla="val 21053"/>
            </a:avLst>
          </a:prstGeom>
          <a:solidFill>
            <a:srgbClr val="F5F5F7"/>
          </a:solidFill>
          <a:ln/>
        </p:spPr>
      </p:sp>
      <p:pic>
        <p:nvPicPr>
          <p:cNvPr id="52" name="lens Accessibility icon" descr="lens Accessibility">    </p:cNvPr>
          <p:cNvPicPr>
            <a:picLocks noChangeAspect="1"/>
          </p:cNvPicPr>
          <p:nvPr/>
        </p:nvPicPr>
        <p:blipFill>
          <a:blip r:embed="rId14"/>
          <a:stretch>
            <a:fillRect/>
          </a:stretch>
        </p:blipFill>
        <p:spPr>
          <a:xfrm>
            <a:off x="6484468" y="5349240"/>
            <a:ext cx="411480" cy="411480"/>
          </a:xfrm>
          <a:prstGeom prst="rect">
            <a:avLst/>
          </a:prstGeom>
        </p:spPr>
      </p:pic>
      <p:sp>
        <p:nvSpPr>
          <p:cNvPr id="53" name="Text 37"/>
          <p:cNvSpPr txBox="1"/>
          <p:nvPr/>
        </p:nvSpPr>
        <p:spPr>
          <a:xfrm>
            <a:off x="7124548" y="512064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Accessibility</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running app</a:t>
            </a:r>
            <a:endParaRPr lang="en-US" sz="1700" dirty="0"/>
          </a:p>
        </p:txBody>
      </p:sp>
      <p:sp>
        <p:nvSpPr>
          <p:cNvPr id="54" name="lens Performance"/>
          <p:cNvSpPr/>
          <p:nvPr/>
        </p:nvSpPr>
        <p:spPr>
          <a:xfrm>
            <a:off x="8995181" y="5120640"/>
            <a:ext cx="2556434" cy="868680"/>
          </a:xfrm>
          <a:prstGeom prst="roundRect">
            <a:avLst>
              <a:gd name="adj" fmla="val 21053"/>
            </a:avLst>
          </a:prstGeom>
          <a:solidFill>
            <a:srgbClr val="F5F5F7"/>
          </a:solidFill>
          <a:ln/>
        </p:spPr>
      </p:sp>
      <p:pic>
        <p:nvPicPr>
          <p:cNvPr id="55" name="lens Performance icon" descr="lens Performance">    </p:cNvPr>
          <p:cNvPicPr>
            <a:picLocks noChangeAspect="1"/>
          </p:cNvPicPr>
          <p:nvPr/>
        </p:nvPicPr>
        <p:blipFill>
          <a:blip r:embed="rId15"/>
          <a:stretch>
            <a:fillRect/>
          </a:stretch>
        </p:blipFill>
        <p:spPr>
          <a:xfrm>
            <a:off x="9269501" y="5349240"/>
            <a:ext cx="411480" cy="411480"/>
          </a:xfrm>
          <a:prstGeom prst="rect">
            <a:avLst/>
          </a:prstGeom>
        </p:spPr>
      </p:pic>
      <p:sp>
        <p:nvSpPr>
          <p:cNvPr id="56" name="Text 39"/>
          <p:cNvSpPr txBox="1"/>
          <p:nvPr/>
        </p:nvSpPr>
        <p:spPr>
          <a:xfrm>
            <a:off x="9909581" y="5120640"/>
            <a:ext cx="1504874" cy="868680"/>
          </a:xfrm>
          <a:prstGeom prst="rect">
            <a:avLst/>
          </a:prstGeom>
          <a:noFill/>
          <a:ln/>
        </p:spPr>
        <p:txBody>
          <a:bodyPr wrap="square" lIns="0" tIns="0" rIns="0" bIns="0" rtlCol="0" anchor="ctr"/>
          <a:lstStyle/>
          <a:p>
            <a:pPr indent="0" marL="0">
              <a:buNone/>
            </a:pPr>
            <a:r>
              <a:rPr lang="en-US" sz="1700" b="1" dirty="0">
                <a:solidFill>
                  <a:schemeClr val="tx1"/>
                </a:solidFill>
                <a:latin typeface="Helvetica Neue" pitchFamily="34" charset="0"/>
                <a:ea typeface="Helvetica Neue" pitchFamily="34" charset="-122"/>
                <a:cs typeface="Helvetica Neue" pitchFamily="34" charset="-120"/>
              </a:rPr>
              <a:t>Performance</a:t>
            </a:r>
            <a:endParaRPr lang="en-US" sz="1700" dirty="0"/>
          </a:p>
          <a:p>
            <a:pPr indent="0" marL="0">
              <a:buNone/>
            </a:pPr>
            <a:r>
              <a:rPr lang="en-US" sz="1200" dirty="0">
                <a:solidFill>
                  <a:srgbClr val="6E6E73"/>
                </a:solidFill>
                <a:latin typeface="Helvetica Neue" pitchFamily="34" charset="0"/>
                <a:ea typeface="Helvetica Neue" pitchFamily="34" charset="-122"/>
                <a:cs typeface="Helvetica Neue" pitchFamily="34" charset="-120"/>
              </a:rPr>
              <a:t>running app</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bg1"/>
                </a:solidFill>
                <a:latin typeface="Helvetica Neue" pitchFamily="34" charset="0"/>
                <a:ea typeface="Helvetica Neue" pitchFamily="34" charset="-122"/>
                <a:cs typeface="Helvetica Neue" pitchFamily="34" charset="-120"/>
              </a:rPr>
              <a:t>You stay in charge. Even while away.</a:t>
            </a:r>
            <a:endParaRPr lang="en-US" sz="3600" dirty="0"/>
          </a:p>
        </p:txBody>
      </p:sp>
      <p:pic>
        <p:nvPicPr>
          <p:cNvPr id="3" name="control 1 icon" descr="control 1">    </p:cNvPr>
          <p:cNvPicPr>
            <a:picLocks noChangeAspect="1"/>
          </p:cNvPicPr>
          <p:nvPr/>
        </p:nvPicPr>
        <p:blipFill>
          <a:blip r:embed="rId1"/>
          <a:stretch>
            <a:fillRect/>
          </a:stretch>
        </p:blipFill>
        <p:spPr>
          <a:xfrm>
            <a:off x="640080" y="2377440"/>
            <a:ext cx="777240" cy="777240"/>
          </a:xfrm>
          <a:prstGeom prst="rect">
            <a:avLst/>
          </a:prstGeom>
        </p:spPr>
      </p:pic>
      <p:sp>
        <p:nvSpPr>
          <p:cNvPr id="4" name="Text 1"/>
          <p:cNvSpPr txBox="1"/>
          <p:nvPr/>
        </p:nvSpPr>
        <p:spPr>
          <a:xfrm>
            <a:off x="640080" y="3474720"/>
            <a:ext cx="2453564" cy="822960"/>
          </a:xfrm>
          <a:prstGeom prst="rect">
            <a:avLst/>
          </a:prstGeom>
          <a:noFill/>
          <a:ln/>
        </p:spPr>
        <p:txBody>
          <a:bodyPr wrap="square" lIns="0" tIns="0" rIns="0" bIns="0" rtlCol="0" anchor="t"/>
          <a:lstStyle/>
          <a:p>
            <a:pPr indent="0" marL="0">
              <a:buNone/>
            </a:pPr>
            <a:r>
              <a:rPr lang="en-US" sz="2100" b="1" dirty="0">
                <a:solidFill>
                  <a:schemeClr val="bg1"/>
                </a:solidFill>
                <a:latin typeface="Helvetica Neue" pitchFamily="34" charset="0"/>
                <a:ea typeface="Helvetica Neue" pitchFamily="34" charset="-122"/>
                <a:cs typeface="Helvetica Neue" pitchFamily="34" charset="-120"/>
              </a:rPr>
              <a:t>Nothing leaves without a yes</a:t>
            </a:r>
            <a:endParaRPr lang="en-US" sz="2100" dirty="0"/>
          </a:p>
        </p:txBody>
      </p:sp>
      <p:sp>
        <p:nvSpPr>
          <p:cNvPr id="5" name="Text 2"/>
          <p:cNvSpPr txBox="1"/>
          <p:nvPr/>
        </p:nvSpPr>
        <p:spPr>
          <a:xfrm>
            <a:off x="640080" y="4389120"/>
            <a:ext cx="2453564" cy="118872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Every push starts with a preview you see. PRs open as drafts.</a:t>
            </a:r>
            <a:endParaRPr lang="en-US" sz="1500" dirty="0"/>
          </a:p>
        </p:txBody>
      </p:sp>
      <p:pic>
        <p:nvPicPr>
          <p:cNvPr id="6" name="control 2 icon" descr="control 2">    </p:cNvPr>
          <p:cNvPicPr>
            <a:picLocks noChangeAspect="1"/>
          </p:cNvPicPr>
          <p:nvPr/>
        </p:nvPicPr>
        <p:blipFill>
          <a:blip r:embed="rId2"/>
          <a:stretch>
            <a:fillRect/>
          </a:stretch>
        </p:blipFill>
        <p:spPr>
          <a:xfrm>
            <a:off x="3459404" y="2377440"/>
            <a:ext cx="777240" cy="777240"/>
          </a:xfrm>
          <a:prstGeom prst="rect">
            <a:avLst/>
          </a:prstGeom>
        </p:spPr>
      </p:pic>
      <p:sp>
        <p:nvSpPr>
          <p:cNvPr id="7" name="Text 3"/>
          <p:cNvSpPr txBox="1"/>
          <p:nvPr/>
        </p:nvSpPr>
        <p:spPr>
          <a:xfrm>
            <a:off x="3459404" y="3474720"/>
            <a:ext cx="2453564" cy="822960"/>
          </a:xfrm>
          <a:prstGeom prst="rect">
            <a:avLst/>
          </a:prstGeom>
          <a:noFill/>
          <a:ln/>
        </p:spPr>
        <p:txBody>
          <a:bodyPr wrap="square" lIns="0" tIns="0" rIns="0" bIns="0" rtlCol="0" anchor="t"/>
          <a:lstStyle/>
          <a:p>
            <a:pPr indent="0" marL="0">
              <a:buNone/>
            </a:pPr>
            <a:r>
              <a:rPr lang="en-US" sz="2100" b="1" dirty="0">
                <a:solidFill>
                  <a:schemeClr val="bg1"/>
                </a:solidFill>
                <a:latin typeface="Helvetica Neue" pitchFamily="34" charset="0"/>
                <a:ea typeface="Helvetica Neue" pitchFamily="34" charset="-122"/>
                <a:cs typeface="Helvetica Neue" pitchFamily="34" charset="-120"/>
              </a:rPr>
              <a:t>Away mode keeps work moving</a:t>
            </a:r>
            <a:endParaRPr lang="en-US" sz="2100" dirty="0"/>
          </a:p>
        </p:txBody>
      </p:sp>
      <p:sp>
        <p:nvSpPr>
          <p:cNvPr id="8" name="Text 4"/>
          <p:cNvSpPr txBox="1"/>
          <p:nvPr/>
        </p:nvSpPr>
        <p:spPr>
          <a:xfrm>
            <a:off x="3459404" y="4389120"/>
            <a:ext cx="2453564" cy="118872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Agents log their assumptions. You confirm or reverse each.</a:t>
            </a:r>
            <a:endParaRPr lang="en-US" sz="1500" dirty="0"/>
          </a:p>
        </p:txBody>
      </p:sp>
      <p:pic>
        <p:nvPicPr>
          <p:cNvPr id="9" name="control 3 icon" descr="control 3">    </p:cNvPr>
          <p:cNvPicPr>
            <a:picLocks noChangeAspect="1"/>
          </p:cNvPicPr>
          <p:nvPr/>
        </p:nvPicPr>
        <p:blipFill>
          <a:blip r:embed="rId3"/>
          <a:stretch>
            <a:fillRect/>
          </a:stretch>
        </p:blipFill>
        <p:spPr>
          <a:xfrm>
            <a:off x="6278728" y="2377440"/>
            <a:ext cx="777240" cy="777240"/>
          </a:xfrm>
          <a:prstGeom prst="rect">
            <a:avLst/>
          </a:prstGeom>
        </p:spPr>
      </p:pic>
      <p:sp>
        <p:nvSpPr>
          <p:cNvPr id="10" name="Text 5"/>
          <p:cNvSpPr txBox="1"/>
          <p:nvPr/>
        </p:nvSpPr>
        <p:spPr>
          <a:xfrm>
            <a:off x="6278728" y="3474720"/>
            <a:ext cx="2453564" cy="822960"/>
          </a:xfrm>
          <a:prstGeom prst="rect">
            <a:avLst/>
          </a:prstGeom>
          <a:noFill/>
          <a:ln/>
        </p:spPr>
        <p:txBody>
          <a:bodyPr wrap="square" lIns="0" tIns="0" rIns="0" bIns="0" rtlCol="0" anchor="t"/>
          <a:lstStyle/>
          <a:p>
            <a:pPr indent="0" marL="0">
              <a:buNone/>
            </a:pPr>
            <a:r>
              <a:rPr lang="en-US" sz="2100" b="1" dirty="0">
                <a:solidFill>
                  <a:schemeClr val="bg1"/>
                </a:solidFill>
                <a:latin typeface="Helvetica Neue" pitchFamily="34" charset="0"/>
                <a:ea typeface="Helvetica Neue" pitchFamily="34" charset="-122"/>
                <a:cs typeface="Helvetica Neue" pitchFamily="34" charset="-120"/>
              </a:rPr>
              <a:t>Caps hand control back</a:t>
            </a:r>
            <a:endParaRPr lang="en-US" sz="2100" dirty="0"/>
          </a:p>
        </p:txBody>
      </p:sp>
      <p:sp>
        <p:nvSpPr>
          <p:cNvPr id="11" name="Text 6"/>
          <p:cNvSpPr txBox="1"/>
          <p:nvPr/>
        </p:nvSpPr>
        <p:spPr>
          <a:xfrm>
            <a:off x="6278728" y="4389120"/>
            <a:ext cx="2453564" cy="118872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A story failing twice stops and asks you.</a:t>
            </a:r>
            <a:endParaRPr lang="en-US" sz="1500" dirty="0"/>
          </a:p>
        </p:txBody>
      </p:sp>
      <p:pic>
        <p:nvPicPr>
          <p:cNvPr id="12" name="control 4 icon" descr="control 4">    </p:cNvPr>
          <p:cNvPicPr>
            <a:picLocks noChangeAspect="1"/>
          </p:cNvPicPr>
          <p:nvPr/>
        </p:nvPicPr>
        <p:blipFill>
          <a:blip r:embed="rId4"/>
          <a:stretch>
            <a:fillRect/>
          </a:stretch>
        </p:blipFill>
        <p:spPr>
          <a:xfrm>
            <a:off x="9098051" y="2377440"/>
            <a:ext cx="777240" cy="777240"/>
          </a:xfrm>
          <a:prstGeom prst="rect">
            <a:avLst/>
          </a:prstGeom>
        </p:spPr>
      </p:pic>
      <p:sp>
        <p:nvSpPr>
          <p:cNvPr id="13" name="Text 7"/>
          <p:cNvSpPr txBox="1"/>
          <p:nvPr/>
        </p:nvSpPr>
        <p:spPr>
          <a:xfrm>
            <a:off x="9098051" y="3474720"/>
            <a:ext cx="2453564" cy="822960"/>
          </a:xfrm>
          <a:prstGeom prst="rect">
            <a:avLst/>
          </a:prstGeom>
          <a:noFill/>
          <a:ln/>
        </p:spPr>
        <p:txBody>
          <a:bodyPr wrap="square" lIns="0" tIns="0" rIns="0" bIns="0" rtlCol="0" anchor="t"/>
          <a:lstStyle/>
          <a:p>
            <a:pPr indent="0" marL="0">
              <a:buNone/>
            </a:pPr>
            <a:r>
              <a:rPr lang="en-US" sz="2100" b="1" dirty="0">
                <a:solidFill>
                  <a:schemeClr val="bg1"/>
                </a:solidFill>
                <a:latin typeface="Helvetica Neue" pitchFamily="34" charset="0"/>
                <a:ea typeface="Helvetica Neue" pitchFamily="34" charset="-122"/>
                <a:cs typeface="Helvetica Neue" pitchFamily="34" charset="-120"/>
              </a:rPr>
              <a:t>Shared runs can't run code</a:t>
            </a:r>
            <a:endParaRPr lang="en-US" sz="2100" dirty="0"/>
          </a:p>
        </p:txBody>
      </p:sp>
      <p:sp>
        <p:nvSpPr>
          <p:cNvPr id="14" name="Text 8"/>
          <p:cNvSpPr txBox="1"/>
          <p:nvPr/>
        </p:nvSpPr>
        <p:spPr>
          <a:xfrm>
            <a:off x="9098051" y="4389120"/>
            <a:ext cx="2453564" cy="118872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A pull never executes anything. Commands are approved by digest.</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tx1"/>
                </a:solidFill>
                <a:latin typeface="Helvetica Neue" pitchFamily="34" charset="0"/>
                <a:ea typeface="Helvetica Neue" pitchFamily="34" charset="-122"/>
                <a:cs typeface="Helvetica Neue" pitchFamily="34" charset="-120"/>
              </a:rPr>
              <a:t>It gets better every week.</a:t>
            </a:r>
            <a:endParaRPr lang="en-US" sz="3600" dirty="0"/>
          </a:p>
        </p:txBody>
      </p:sp>
      <p:sp>
        <p:nvSpPr>
          <p:cNvPr id="3" name="loop ring"/>
          <p:cNvSpPr/>
          <p:nvPr/>
        </p:nvSpPr>
        <p:spPr>
          <a:xfrm>
            <a:off x="1005840" y="2057400"/>
            <a:ext cx="3657600" cy="3657600"/>
          </a:xfrm>
          <a:prstGeom prst="ellipse">
            <a:avLst/>
          </a:prstGeom>
          <a:ln w="38100">
            <a:solidFill>
              <a:srgbClr val="D2D2D7"/>
            </a:solidFill>
            <a:prstDash val="solid"/>
          </a:ln>
        </p:spPr>
      </p:sp>
      <p:sp>
        <p:nvSpPr>
          <p:cNvPr id="4" name="Text 2"/>
          <p:cNvSpPr txBox="1"/>
          <p:nvPr/>
        </p:nvSpPr>
        <p:spPr>
          <a:xfrm>
            <a:off x="1737360" y="3383280"/>
            <a:ext cx="2194560" cy="1005840"/>
          </a:xfrm>
          <a:prstGeom prst="rect">
            <a:avLst/>
          </a:prstGeom>
          <a:noFill/>
          <a:ln/>
        </p:spPr>
        <p:txBody>
          <a:bodyPr wrap="square" lIns="0" tIns="0" rIns="0" bIns="0" rtlCol="0" anchor="ctr"/>
          <a:lstStyle/>
          <a:p>
            <a:pPr algn="ctr" indent="0" marL="0">
              <a:buNone/>
            </a:pPr>
            <a:r>
              <a:rPr lang="en-US" sz="2400" b="1" dirty="0">
                <a:solidFill>
                  <a:schemeClr val="tx1"/>
                </a:solidFill>
                <a:latin typeface="Helvetica Neue" pitchFamily="34" charset="0"/>
                <a:ea typeface="Helvetica Neue" pitchFamily="34" charset="-122"/>
                <a:cs typeface="Helvetica Neue" pitchFamily="34" charset="-120"/>
              </a:rPr>
              <a:t>Every</a:t>
            </a:r>
            <a:endParaRPr lang="en-US" sz="2400" dirty="0"/>
          </a:p>
          <a:p>
            <a:pPr algn="ctr" indent="0" marL="0">
              <a:buNone/>
            </a:pPr>
            <a:r>
              <a:rPr lang="en-US" sz="2400" b="1" dirty="0">
                <a:solidFill>
                  <a:schemeClr val="accent5"/>
                </a:solidFill>
                <a:latin typeface="Helvetica Neue" pitchFamily="34" charset="0"/>
                <a:ea typeface="Helvetica Neue" pitchFamily="34" charset="-122"/>
                <a:cs typeface="Helvetica Neue" pitchFamily="34" charset="-120"/>
              </a:rPr>
              <a:t>week</a:t>
            </a:r>
            <a:endParaRPr lang="en-US" sz="2400" dirty="0"/>
          </a:p>
        </p:txBody>
      </p:sp>
      <p:sp>
        <p:nvSpPr>
          <p:cNvPr id="5" name="loop node 1"/>
          <p:cNvSpPr/>
          <p:nvPr/>
        </p:nvSpPr>
        <p:spPr>
          <a:xfrm>
            <a:off x="2514600" y="1737360"/>
            <a:ext cx="640080" cy="640080"/>
          </a:xfrm>
          <a:prstGeom prst="ellipse">
            <a:avLst/>
          </a:prstGeom>
          <a:solidFill>
            <a:srgbClr val="FF2D55"/>
          </a:solidFill>
          <a:ln w="38100">
            <a:solidFill>
              <a:srgbClr val="FFFFFF"/>
            </a:solidFill>
            <a:prstDash val="solid"/>
          </a:ln>
        </p:spPr>
      </p:sp>
      <p:sp>
        <p:nvSpPr>
          <p:cNvPr id="6" name="Text 4"/>
          <p:cNvSpPr txBox="1"/>
          <p:nvPr/>
        </p:nvSpPr>
        <p:spPr>
          <a:xfrm>
            <a:off x="251460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1</a:t>
            </a:r>
            <a:endParaRPr lang="en-US" sz="2000" dirty="0"/>
          </a:p>
        </p:txBody>
      </p:sp>
      <p:sp>
        <p:nvSpPr>
          <p:cNvPr id="7" name="Text 5"/>
          <p:cNvSpPr txBox="1"/>
          <p:nvPr/>
        </p:nvSpPr>
        <p:spPr>
          <a:xfrm>
            <a:off x="5760720" y="1600200"/>
            <a:ext cx="457200" cy="411480"/>
          </a:xfrm>
          <a:prstGeom prst="rect">
            <a:avLst/>
          </a:prstGeom>
          <a:noFill/>
          <a:ln/>
        </p:spPr>
        <p:txBody>
          <a:bodyPr wrap="square" lIns="0" tIns="0" rIns="0" bIns="0" rtlCol="0" anchor="t"/>
          <a:lstStyle/>
          <a:p>
            <a:pPr indent="0" marL="0">
              <a:buNone/>
            </a:pPr>
            <a:r>
              <a:rPr lang="en-US" sz="2200" b="1" dirty="0">
                <a:solidFill>
                  <a:schemeClr val="accent5"/>
                </a:solidFill>
                <a:latin typeface="Helvetica Neue" pitchFamily="34" charset="0"/>
                <a:ea typeface="Helvetica Neue" pitchFamily="34" charset="-122"/>
                <a:cs typeface="Helvetica Neue" pitchFamily="34" charset="-120"/>
              </a:rPr>
              <a:t>1</a:t>
            </a:r>
            <a:endParaRPr lang="en-US" sz="2200" dirty="0"/>
          </a:p>
        </p:txBody>
      </p:sp>
      <p:sp>
        <p:nvSpPr>
          <p:cNvPr id="8" name="Text 6"/>
          <p:cNvSpPr txBox="1"/>
          <p:nvPr/>
        </p:nvSpPr>
        <p:spPr>
          <a:xfrm>
            <a:off x="6309360" y="1600200"/>
            <a:ext cx="5242255" cy="960120"/>
          </a:xfrm>
          <a:prstGeom prst="rect">
            <a:avLst/>
          </a:prstGeom>
          <a:noFill/>
          <a:ln/>
        </p:spPr>
        <p:txBody>
          <a:bodyPr wrap="square" lIns="0" tIns="0" rIns="0" bIns="0" rtlCol="0" anchor="t"/>
          <a:lstStyle/>
          <a:p>
            <a:pPr indent="0" marL="0">
              <a:buNone/>
            </a:pPr>
            <a:r>
              <a:rPr lang="en-US" sz="2000" b="1" dirty="0">
                <a:solidFill>
                  <a:schemeClr val="tx1"/>
                </a:solidFill>
                <a:latin typeface="Helvetica Neue" pitchFamily="34" charset="0"/>
                <a:ea typeface="Helvetica Neue" pitchFamily="34" charset="-122"/>
                <a:cs typeface="Helvetica Neue" pitchFamily="34" charset="-120"/>
              </a:rPr>
              <a:t>Retro</a:t>
            </a:r>
            <a:endParaRPr lang="en-US" sz="2000" dirty="0"/>
          </a:p>
          <a:p>
            <a:pPr indent="0" marL="0">
              <a:buNone/>
            </a:pPr>
            <a:r>
              <a:rPr lang="en-US" sz="1500" dirty="0">
                <a:solidFill>
                  <a:srgbClr val="6E6E73"/>
                </a:solidFill>
                <a:latin typeface="Helvetica Neue" pitchFamily="34" charset="0"/>
                <a:ea typeface="Helvetica Neue" pitchFamily="34" charset="-122"/>
                <a:cs typeface="Helvetica Neue" pitchFamily="34" charset="-120"/>
              </a:rPr>
              <a:t>A milestone with friction turns retries, failures and denied prompts into findings.</a:t>
            </a:r>
            <a:endParaRPr lang="en-US" sz="2000" dirty="0"/>
          </a:p>
        </p:txBody>
      </p:sp>
      <p:sp>
        <p:nvSpPr>
          <p:cNvPr id="9" name="loop node 2"/>
          <p:cNvSpPr/>
          <p:nvPr/>
        </p:nvSpPr>
        <p:spPr>
          <a:xfrm>
            <a:off x="4343400" y="3566160"/>
            <a:ext cx="640080" cy="640080"/>
          </a:xfrm>
          <a:prstGeom prst="ellipse">
            <a:avLst/>
          </a:prstGeom>
          <a:solidFill>
            <a:srgbClr val="FF2D55"/>
          </a:solidFill>
          <a:ln w="38100">
            <a:solidFill>
              <a:srgbClr val="FFFFFF"/>
            </a:solidFill>
            <a:prstDash val="solid"/>
          </a:ln>
        </p:spPr>
      </p:sp>
      <p:sp>
        <p:nvSpPr>
          <p:cNvPr id="10" name="Text 8"/>
          <p:cNvSpPr txBox="1"/>
          <p:nvPr/>
        </p:nvSpPr>
        <p:spPr>
          <a:xfrm>
            <a:off x="4343400" y="3566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2</a:t>
            </a:r>
            <a:endParaRPr lang="en-US" sz="2000" dirty="0"/>
          </a:p>
        </p:txBody>
      </p:sp>
      <p:sp>
        <p:nvSpPr>
          <p:cNvPr id="11" name="Text 9"/>
          <p:cNvSpPr txBox="1"/>
          <p:nvPr/>
        </p:nvSpPr>
        <p:spPr>
          <a:xfrm>
            <a:off x="5760720" y="2697480"/>
            <a:ext cx="457200" cy="411480"/>
          </a:xfrm>
          <a:prstGeom prst="rect">
            <a:avLst/>
          </a:prstGeom>
          <a:noFill/>
          <a:ln/>
        </p:spPr>
        <p:txBody>
          <a:bodyPr wrap="square" lIns="0" tIns="0" rIns="0" bIns="0" rtlCol="0" anchor="t"/>
          <a:lstStyle/>
          <a:p>
            <a:pPr indent="0" marL="0">
              <a:buNone/>
            </a:pPr>
            <a:r>
              <a:rPr lang="en-US" sz="2200" b="1" dirty="0">
                <a:solidFill>
                  <a:schemeClr val="accent5"/>
                </a:solidFill>
                <a:latin typeface="Helvetica Neue" pitchFamily="34" charset="0"/>
                <a:ea typeface="Helvetica Neue" pitchFamily="34" charset="-122"/>
                <a:cs typeface="Helvetica Neue" pitchFamily="34" charset="-120"/>
              </a:rPr>
              <a:t>2</a:t>
            </a:r>
            <a:endParaRPr lang="en-US" sz="2200" dirty="0"/>
          </a:p>
        </p:txBody>
      </p:sp>
      <p:sp>
        <p:nvSpPr>
          <p:cNvPr id="12" name="Text 10"/>
          <p:cNvSpPr txBox="1"/>
          <p:nvPr/>
        </p:nvSpPr>
        <p:spPr>
          <a:xfrm>
            <a:off x="6309360" y="2697480"/>
            <a:ext cx="5242255" cy="960120"/>
          </a:xfrm>
          <a:prstGeom prst="rect">
            <a:avLst/>
          </a:prstGeom>
          <a:noFill/>
          <a:ln/>
        </p:spPr>
        <p:txBody>
          <a:bodyPr wrap="square" lIns="0" tIns="0" rIns="0" bIns="0" rtlCol="0" anchor="t"/>
          <a:lstStyle/>
          <a:p>
            <a:pPr indent="0" marL="0">
              <a:buNone/>
            </a:pPr>
            <a:r>
              <a:rPr lang="en-US" sz="2000" b="1" dirty="0">
                <a:solidFill>
                  <a:schemeClr val="tx1"/>
                </a:solidFill>
                <a:latin typeface="Helvetica Neue" pitchFamily="34" charset="0"/>
                <a:ea typeface="Helvetica Neue" pitchFamily="34" charset="-122"/>
                <a:cs typeface="Helvetica Neue" pitchFamily="34" charset="-120"/>
              </a:rPr>
              <a:t>Gather</a:t>
            </a:r>
            <a:endParaRPr lang="en-US" sz="2000" dirty="0"/>
          </a:p>
          <a:p>
            <a:pPr indent="0" marL="0">
              <a:buNone/>
            </a:pPr>
            <a:r>
              <a:rPr lang="en-US" sz="1500" dirty="0">
                <a:solidFill>
                  <a:srgbClr val="6E6E73"/>
                </a:solidFill>
                <a:latin typeface="Helvetica Neue" pitchFamily="34" charset="0"/>
                <a:ea typeface="Helvetica Neue" pitchFamily="34" charset="-122"/>
                <a:cs typeface="Helvetica Neue" pitchFamily="34" charset="-120"/>
              </a:rPr>
              <a:t>Findings sync per run. Colleagues share patterns, never transcripts.</a:t>
            </a:r>
            <a:endParaRPr lang="en-US" sz="2000" dirty="0"/>
          </a:p>
        </p:txBody>
      </p:sp>
      <p:sp>
        <p:nvSpPr>
          <p:cNvPr id="13" name="loop node 3"/>
          <p:cNvSpPr/>
          <p:nvPr/>
        </p:nvSpPr>
        <p:spPr>
          <a:xfrm>
            <a:off x="2514600" y="5394960"/>
            <a:ext cx="640080" cy="640080"/>
          </a:xfrm>
          <a:prstGeom prst="ellipse">
            <a:avLst/>
          </a:prstGeom>
          <a:solidFill>
            <a:srgbClr val="FF2D55"/>
          </a:solidFill>
          <a:ln w="38100">
            <a:solidFill>
              <a:srgbClr val="FFFFFF"/>
            </a:solidFill>
            <a:prstDash val="solid"/>
          </a:ln>
        </p:spPr>
      </p:sp>
      <p:sp>
        <p:nvSpPr>
          <p:cNvPr id="14" name="Text 12"/>
          <p:cNvSpPr txBox="1"/>
          <p:nvPr/>
        </p:nvSpPr>
        <p:spPr>
          <a:xfrm>
            <a:off x="2514600" y="53949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3</a:t>
            </a:r>
            <a:endParaRPr lang="en-US" sz="2000" dirty="0"/>
          </a:p>
        </p:txBody>
      </p:sp>
      <p:sp>
        <p:nvSpPr>
          <p:cNvPr id="15" name="Text 13"/>
          <p:cNvSpPr txBox="1"/>
          <p:nvPr/>
        </p:nvSpPr>
        <p:spPr>
          <a:xfrm>
            <a:off x="5760720" y="3794760"/>
            <a:ext cx="457200" cy="411480"/>
          </a:xfrm>
          <a:prstGeom prst="rect">
            <a:avLst/>
          </a:prstGeom>
          <a:noFill/>
          <a:ln/>
        </p:spPr>
        <p:txBody>
          <a:bodyPr wrap="square" lIns="0" tIns="0" rIns="0" bIns="0" rtlCol="0" anchor="t"/>
          <a:lstStyle/>
          <a:p>
            <a:pPr indent="0" marL="0">
              <a:buNone/>
            </a:pPr>
            <a:r>
              <a:rPr lang="en-US" sz="2200" b="1" dirty="0">
                <a:solidFill>
                  <a:schemeClr val="accent5"/>
                </a:solidFill>
                <a:latin typeface="Helvetica Neue" pitchFamily="34" charset="0"/>
                <a:ea typeface="Helvetica Neue" pitchFamily="34" charset="-122"/>
                <a:cs typeface="Helvetica Neue" pitchFamily="34" charset="-120"/>
              </a:rPr>
              <a:t>3</a:t>
            </a:r>
            <a:endParaRPr lang="en-US" sz="2200" dirty="0"/>
          </a:p>
        </p:txBody>
      </p:sp>
      <p:sp>
        <p:nvSpPr>
          <p:cNvPr id="16" name="Text 14"/>
          <p:cNvSpPr txBox="1"/>
          <p:nvPr/>
        </p:nvSpPr>
        <p:spPr>
          <a:xfrm>
            <a:off x="6309360" y="3794760"/>
            <a:ext cx="5242255" cy="960120"/>
          </a:xfrm>
          <a:prstGeom prst="rect">
            <a:avLst/>
          </a:prstGeom>
          <a:noFill/>
          <a:ln/>
        </p:spPr>
        <p:txBody>
          <a:bodyPr wrap="square" lIns="0" tIns="0" rIns="0" bIns="0" rtlCol="0" anchor="t"/>
          <a:lstStyle/>
          <a:p>
            <a:pPr indent="0" marL="0">
              <a:buNone/>
            </a:pPr>
            <a:r>
              <a:rPr lang="en-US" sz="2000" b="1" dirty="0">
                <a:solidFill>
                  <a:schemeClr val="tx1"/>
                </a:solidFill>
                <a:latin typeface="Helvetica Neue" pitchFamily="34" charset="0"/>
                <a:ea typeface="Helvetica Neue" pitchFamily="34" charset="-122"/>
                <a:cs typeface="Helvetica Neue" pitchFamily="34" charset="-120"/>
              </a:rPr>
              <a:t>Improve</a:t>
            </a:r>
            <a:endParaRPr lang="en-US" sz="2000" dirty="0"/>
          </a:p>
          <a:p>
            <a:pPr indent="0" marL="0">
              <a:buNone/>
            </a:pPr>
            <a:r>
              <a:rPr lang="en-US" sz="1500" dirty="0">
                <a:solidFill>
                  <a:srgbClr val="6E6E73"/>
                </a:solidFill>
                <a:latin typeface="Helvetica Neue" pitchFamily="34" charset="0"/>
                <a:ea typeface="Helvetica Neue" pitchFamily="34" charset="-122"/>
                <a:cs typeface="Helvetica Neue" pitchFamily="34" charset="-120"/>
              </a:rPr>
              <a:t>Problems seen in two runs get up to five drafted, tested fixes.</a:t>
            </a:r>
            <a:endParaRPr lang="en-US" sz="2000" dirty="0"/>
          </a:p>
        </p:txBody>
      </p:sp>
      <p:sp>
        <p:nvSpPr>
          <p:cNvPr id="17" name="loop node 4"/>
          <p:cNvSpPr/>
          <p:nvPr/>
        </p:nvSpPr>
        <p:spPr>
          <a:xfrm>
            <a:off x="685800" y="3566160"/>
            <a:ext cx="640080" cy="640080"/>
          </a:xfrm>
          <a:prstGeom prst="ellipse">
            <a:avLst/>
          </a:prstGeom>
          <a:solidFill>
            <a:srgbClr val="1D1D1F"/>
          </a:solidFill>
          <a:ln w="38100">
            <a:solidFill>
              <a:srgbClr val="FFFFFF"/>
            </a:solidFill>
            <a:prstDash val="solid"/>
          </a:ln>
        </p:spPr>
      </p:sp>
      <p:sp>
        <p:nvSpPr>
          <p:cNvPr id="18" name="Text 16"/>
          <p:cNvSpPr txBox="1"/>
          <p:nvPr/>
        </p:nvSpPr>
        <p:spPr>
          <a:xfrm>
            <a:off x="685800" y="3566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Helvetica Neue" pitchFamily="34" charset="0"/>
                <a:ea typeface="Helvetica Neue" pitchFamily="34" charset="-122"/>
                <a:cs typeface="Helvetica Neue" pitchFamily="34" charset="-120"/>
              </a:rPr>
              <a:t>4</a:t>
            </a:r>
            <a:endParaRPr lang="en-US" sz="2000" dirty="0"/>
          </a:p>
        </p:txBody>
      </p:sp>
      <p:sp>
        <p:nvSpPr>
          <p:cNvPr id="19" name="Text 17"/>
          <p:cNvSpPr txBox="1"/>
          <p:nvPr/>
        </p:nvSpPr>
        <p:spPr>
          <a:xfrm>
            <a:off x="5760720" y="4892040"/>
            <a:ext cx="457200" cy="411480"/>
          </a:xfrm>
          <a:prstGeom prst="rect">
            <a:avLst/>
          </a:prstGeom>
          <a:noFill/>
          <a:ln/>
        </p:spPr>
        <p:txBody>
          <a:bodyPr wrap="square" lIns="0" tIns="0" rIns="0" bIns="0" rtlCol="0" anchor="t"/>
          <a:lstStyle/>
          <a:p>
            <a:pPr indent="0" marL="0">
              <a:buNone/>
            </a:pPr>
            <a:r>
              <a:rPr lang="en-US" sz="2200" b="1" dirty="0">
                <a:solidFill>
                  <a:schemeClr val="tx1"/>
                </a:solidFill>
                <a:latin typeface="Helvetica Neue" pitchFamily="34" charset="0"/>
                <a:ea typeface="Helvetica Neue" pitchFamily="34" charset="-122"/>
                <a:cs typeface="Helvetica Neue" pitchFamily="34" charset="-120"/>
              </a:rPr>
              <a:t>4</a:t>
            </a:r>
            <a:endParaRPr lang="en-US" sz="2200" dirty="0"/>
          </a:p>
        </p:txBody>
      </p:sp>
      <p:sp>
        <p:nvSpPr>
          <p:cNvPr id="20" name="Text 18"/>
          <p:cNvSpPr txBox="1"/>
          <p:nvPr/>
        </p:nvSpPr>
        <p:spPr>
          <a:xfrm>
            <a:off x="6309360" y="4892040"/>
            <a:ext cx="5242255" cy="960120"/>
          </a:xfrm>
          <a:prstGeom prst="rect">
            <a:avLst/>
          </a:prstGeom>
          <a:noFill/>
          <a:ln/>
        </p:spPr>
        <p:txBody>
          <a:bodyPr wrap="square" lIns="0" tIns="0" rIns="0" bIns="0" rtlCol="0" anchor="t"/>
          <a:lstStyle/>
          <a:p>
            <a:pPr indent="0" marL="0">
              <a:buNone/>
            </a:pPr>
            <a:r>
              <a:rPr lang="en-US" sz="2000" b="1" dirty="0">
                <a:solidFill>
                  <a:schemeClr val="tx1"/>
                </a:solidFill>
                <a:latin typeface="Helvetica Neue" pitchFamily="34" charset="0"/>
                <a:ea typeface="Helvetica Neue" pitchFamily="34" charset="-122"/>
                <a:cs typeface="Helvetica Neue" pitchFamily="34" charset="-120"/>
              </a:rPr>
              <a:t>Approve</a:t>
            </a:r>
            <a:endParaRPr lang="en-US" sz="2000" dirty="0"/>
          </a:p>
          <a:p>
            <a:pPr indent="0" marL="0">
              <a:buNone/>
            </a:pPr>
            <a:r>
              <a:rPr lang="en-US" sz="1500" dirty="0">
                <a:solidFill>
                  <a:srgbClr val="6E6E73"/>
                </a:solidFill>
                <a:latin typeface="Helvetica Neue" pitchFamily="34" charset="0"/>
                <a:ea typeface="Helvetica Neue" pitchFamily="34" charset="-122"/>
                <a:cs typeface="Helvetica Neue" pitchFamily="34" charset="-120"/>
              </a:rPr>
              <a:t>You ship what you like. Fixes that saved no tokens get reverted.</a:t>
            </a:r>
            <a:endParaRPr lang="en-US" sz="2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AEB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bg1"/>
                </a:solidFill>
                <a:latin typeface="Helvetica Neue" pitchFamily="34" charset="0"/>
                <a:ea typeface="Helvetica Neue" pitchFamily="34" charset="-122"/>
                <a:cs typeface="Helvetica Neue" pitchFamily="34" charset="-120"/>
              </a:rPr>
              <a:t>What it has shipped so far.</a:t>
            </a:r>
            <a:endParaRPr lang="en-US" sz="3600" dirty="0"/>
          </a:p>
        </p:txBody>
      </p:sp>
      <p:sp>
        <p:nvSpPr>
          <p:cNvPr id="3" name="Text 1"/>
          <p:cNvSpPr txBox="1"/>
          <p:nvPr/>
        </p:nvSpPr>
        <p:spPr>
          <a:xfrm>
            <a:off x="640080" y="1508760"/>
            <a:ext cx="5120640" cy="1005840"/>
          </a:xfrm>
          <a:prstGeom prst="rect">
            <a:avLst/>
          </a:prstGeom>
          <a:noFill/>
          <a:ln/>
        </p:spPr>
        <p:txBody>
          <a:bodyPr wrap="square" lIns="0" tIns="0" rIns="0" bIns="0" rtlCol="0" anchor="ctr"/>
          <a:lstStyle/>
          <a:p>
            <a:pPr indent="0" marL="0">
              <a:buNone/>
            </a:pPr>
            <a:r>
              <a:rPr lang="en-US" sz="7200" b="1" dirty="0">
                <a:solidFill>
                  <a:srgbClr val="2997FF"/>
                </a:solidFill>
                <a:latin typeface="Helvetica Neue" pitchFamily="34" charset="0"/>
                <a:ea typeface="Helvetica Neue" pitchFamily="34" charset="-122"/>
                <a:cs typeface="Helvetica Neue" pitchFamily="34" charset="-120"/>
              </a:rPr>
              <a:t>86</a:t>
            </a:r>
            <a:endParaRPr lang="en-US" sz="7200" dirty="0"/>
          </a:p>
        </p:txBody>
      </p:sp>
      <p:sp>
        <p:nvSpPr>
          <p:cNvPr id="4" name="Text 2"/>
          <p:cNvSpPr txBox="1"/>
          <p:nvPr/>
        </p:nvSpPr>
        <p:spPr>
          <a:xfrm>
            <a:off x="640080" y="2560320"/>
            <a:ext cx="5120640" cy="365760"/>
          </a:xfrm>
          <a:prstGeom prst="rect">
            <a:avLst/>
          </a:prstGeom>
          <a:noFill/>
          <a:ln/>
        </p:spPr>
        <p:txBody>
          <a:bodyPr wrap="square" lIns="0" tIns="0" rIns="0" bIns="0" rtlCol="0" anchor="t"/>
          <a:lstStyle/>
          <a:p>
            <a:pPr indent="0" marL="0">
              <a:buNone/>
            </a:pPr>
            <a:r>
              <a:rPr lang="en-US" sz="2000" b="1" dirty="0">
                <a:solidFill>
                  <a:schemeClr val="bg1"/>
                </a:solidFill>
                <a:latin typeface="Helvetica Neue" pitchFamily="34" charset="0"/>
                <a:ea typeface="Helvetica Neue" pitchFamily="34" charset="-122"/>
                <a:cs typeface="Helvetica Neue" pitchFamily="34" charset="-120"/>
              </a:rPr>
              <a:t>milestones landed</a:t>
            </a:r>
            <a:endParaRPr lang="en-US" sz="2000" dirty="0"/>
          </a:p>
        </p:txBody>
      </p:sp>
      <p:sp>
        <p:nvSpPr>
          <p:cNvPr id="5" name="Text 3"/>
          <p:cNvSpPr txBox="1"/>
          <p:nvPr/>
        </p:nvSpPr>
        <p:spPr>
          <a:xfrm>
            <a:off x="640080" y="2944368"/>
            <a:ext cx="4937760" cy="5943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Across six projects, each through the same gates.</a:t>
            </a:r>
            <a:endParaRPr lang="en-US" sz="1500" dirty="0"/>
          </a:p>
        </p:txBody>
      </p:sp>
      <p:sp>
        <p:nvSpPr>
          <p:cNvPr id="6" name="Text 4"/>
          <p:cNvSpPr txBox="1"/>
          <p:nvPr/>
        </p:nvSpPr>
        <p:spPr>
          <a:xfrm>
            <a:off x="6217920" y="1508760"/>
            <a:ext cx="5120640" cy="1005840"/>
          </a:xfrm>
          <a:prstGeom prst="rect">
            <a:avLst/>
          </a:prstGeom>
          <a:noFill/>
          <a:ln/>
        </p:spPr>
        <p:txBody>
          <a:bodyPr wrap="square" lIns="0" tIns="0" rIns="0" bIns="0" rtlCol="0" anchor="ctr"/>
          <a:lstStyle/>
          <a:p>
            <a:pPr indent="0" marL="0">
              <a:buNone/>
            </a:pPr>
            <a:r>
              <a:rPr lang="en-US" sz="7200" b="1" dirty="0">
                <a:solidFill>
                  <a:srgbClr val="30D158"/>
                </a:solidFill>
                <a:latin typeface="Helvetica Neue" pitchFamily="34" charset="0"/>
                <a:ea typeface="Helvetica Neue" pitchFamily="34" charset="-122"/>
                <a:cs typeface="Helvetica Neue" pitchFamily="34" charset="-120"/>
              </a:rPr>
              <a:t>99%</a:t>
            </a:r>
            <a:endParaRPr lang="en-US" sz="7200" dirty="0"/>
          </a:p>
        </p:txBody>
      </p:sp>
      <p:sp>
        <p:nvSpPr>
          <p:cNvPr id="7" name="Text 5"/>
          <p:cNvSpPr txBox="1"/>
          <p:nvPr/>
        </p:nvSpPr>
        <p:spPr>
          <a:xfrm>
            <a:off x="6217920" y="2560320"/>
            <a:ext cx="5120640" cy="365760"/>
          </a:xfrm>
          <a:prstGeom prst="rect">
            <a:avLst/>
          </a:prstGeom>
          <a:noFill/>
          <a:ln/>
        </p:spPr>
        <p:txBody>
          <a:bodyPr wrap="square" lIns="0" tIns="0" rIns="0" bIns="0" rtlCol="0" anchor="t"/>
          <a:lstStyle/>
          <a:p>
            <a:pPr indent="0" marL="0">
              <a:buNone/>
            </a:pPr>
            <a:r>
              <a:rPr lang="en-US" sz="2000" b="1" dirty="0">
                <a:solidFill>
                  <a:schemeClr val="bg1"/>
                </a:solidFill>
                <a:latin typeface="Helvetica Neue" pitchFamily="34" charset="0"/>
                <a:ea typeface="Helvetica Neue" pitchFamily="34" charset="-122"/>
                <a:cs typeface="Helvetica Neue" pitchFamily="34" charset="-120"/>
              </a:rPr>
              <a:t>of 413 agent-built stories</a:t>
            </a:r>
            <a:endParaRPr lang="en-US" sz="2000" dirty="0"/>
          </a:p>
        </p:txBody>
      </p:sp>
      <p:sp>
        <p:nvSpPr>
          <p:cNvPr id="8" name="Text 6"/>
          <p:cNvSpPr txBox="1"/>
          <p:nvPr/>
        </p:nvSpPr>
        <p:spPr>
          <a:xfrm>
            <a:off x="6217920" y="2944368"/>
            <a:ext cx="4937760" cy="5943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Landed on the first dispatch. None hit the retry cap.</a:t>
            </a:r>
            <a:endParaRPr lang="en-US" sz="1500" dirty="0"/>
          </a:p>
        </p:txBody>
      </p:sp>
      <p:sp>
        <p:nvSpPr>
          <p:cNvPr id="9" name="Text 7"/>
          <p:cNvSpPr txBox="1"/>
          <p:nvPr/>
        </p:nvSpPr>
        <p:spPr>
          <a:xfrm>
            <a:off x="640080" y="3749040"/>
            <a:ext cx="5120640" cy="1005840"/>
          </a:xfrm>
          <a:prstGeom prst="rect">
            <a:avLst/>
          </a:prstGeom>
          <a:noFill/>
          <a:ln/>
        </p:spPr>
        <p:txBody>
          <a:bodyPr wrap="square" lIns="0" tIns="0" rIns="0" bIns="0" rtlCol="0" anchor="ctr"/>
          <a:lstStyle/>
          <a:p>
            <a:pPr indent="0" marL="0">
              <a:buNone/>
            </a:pPr>
            <a:r>
              <a:rPr lang="en-US" sz="7200" b="1" dirty="0">
                <a:solidFill>
                  <a:srgbClr val="FF9F0A"/>
                </a:solidFill>
                <a:latin typeface="Helvetica Neue" pitchFamily="34" charset="0"/>
                <a:ea typeface="Helvetica Neue" pitchFamily="34" charset="-122"/>
                <a:cs typeface="Helvetica Neue" pitchFamily="34" charset="-120"/>
              </a:rPr>
              <a:t>1,092</a:t>
            </a:r>
            <a:endParaRPr lang="en-US" sz="7200" dirty="0"/>
          </a:p>
        </p:txBody>
      </p:sp>
      <p:sp>
        <p:nvSpPr>
          <p:cNvPr id="10" name="Text 8"/>
          <p:cNvSpPr txBox="1"/>
          <p:nvPr/>
        </p:nvSpPr>
        <p:spPr>
          <a:xfrm>
            <a:off x="640080" y="4800600"/>
            <a:ext cx="5120640" cy="365760"/>
          </a:xfrm>
          <a:prstGeom prst="rect">
            <a:avLst/>
          </a:prstGeom>
          <a:noFill/>
          <a:ln/>
        </p:spPr>
        <p:txBody>
          <a:bodyPr wrap="square" lIns="0" tIns="0" rIns="0" bIns="0" rtlCol="0" anchor="t"/>
          <a:lstStyle/>
          <a:p>
            <a:pPr indent="0" marL="0">
              <a:buNone/>
            </a:pPr>
            <a:r>
              <a:rPr lang="en-US" sz="2000" b="1" dirty="0">
                <a:solidFill>
                  <a:schemeClr val="bg1"/>
                </a:solidFill>
                <a:latin typeface="Helvetica Neue" pitchFamily="34" charset="0"/>
                <a:ea typeface="Helvetica Neue" pitchFamily="34" charset="-122"/>
                <a:cs typeface="Helvetica Neue" pitchFamily="34" charset="-120"/>
              </a:rPr>
              <a:t>review findings before merge</a:t>
            </a:r>
            <a:endParaRPr lang="en-US" sz="2000" dirty="0"/>
          </a:p>
        </p:txBody>
      </p:sp>
      <p:sp>
        <p:nvSpPr>
          <p:cNvPr id="11" name="Text 9"/>
          <p:cNvSpPr txBox="1"/>
          <p:nvPr/>
        </p:nvSpPr>
        <p:spPr>
          <a:xfrm>
            <a:off x="640080" y="5184648"/>
            <a:ext cx="4937760" cy="5943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Raised by the gates; 74% fixed before landing, the rest skipped with a reason.</a:t>
            </a:r>
            <a:endParaRPr lang="en-US" sz="1500" dirty="0"/>
          </a:p>
        </p:txBody>
      </p:sp>
      <p:sp>
        <p:nvSpPr>
          <p:cNvPr id="12" name="Text 10"/>
          <p:cNvSpPr txBox="1"/>
          <p:nvPr/>
        </p:nvSpPr>
        <p:spPr>
          <a:xfrm>
            <a:off x="6217920" y="3749040"/>
            <a:ext cx="5120640" cy="1005840"/>
          </a:xfrm>
          <a:prstGeom prst="rect">
            <a:avLst/>
          </a:prstGeom>
          <a:noFill/>
          <a:ln/>
        </p:spPr>
        <p:txBody>
          <a:bodyPr wrap="square" lIns="0" tIns="0" rIns="0" bIns="0" rtlCol="0" anchor="ctr"/>
          <a:lstStyle/>
          <a:p>
            <a:pPr indent="0" marL="0">
              <a:buNone/>
            </a:pPr>
            <a:r>
              <a:rPr lang="en-US" sz="7200" b="1" dirty="0">
                <a:solidFill>
                  <a:srgbClr val="BF5AF2"/>
                </a:solidFill>
                <a:latin typeface="Helvetica Neue" pitchFamily="34" charset="0"/>
                <a:ea typeface="Helvetica Neue" pitchFamily="34" charset="-122"/>
                <a:cs typeface="Helvetica Neue" pitchFamily="34" charset="-120"/>
              </a:rPr>
              <a:t>4.2</a:t>
            </a:r>
            <a:endParaRPr lang="en-US" sz="7200" dirty="0"/>
          </a:p>
        </p:txBody>
      </p:sp>
      <p:sp>
        <p:nvSpPr>
          <p:cNvPr id="13" name="Text 11"/>
          <p:cNvSpPr txBox="1"/>
          <p:nvPr/>
        </p:nvSpPr>
        <p:spPr>
          <a:xfrm>
            <a:off x="6217920" y="4800600"/>
            <a:ext cx="5120640" cy="365760"/>
          </a:xfrm>
          <a:prstGeom prst="rect">
            <a:avLst/>
          </a:prstGeom>
          <a:noFill/>
          <a:ln/>
        </p:spPr>
        <p:txBody>
          <a:bodyPr wrap="square" lIns="0" tIns="0" rIns="0" bIns="0" rtlCol="0" anchor="t"/>
          <a:lstStyle/>
          <a:p>
            <a:pPr indent="0" marL="0">
              <a:buNone/>
            </a:pPr>
            <a:r>
              <a:rPr lang="en-US" sz="2000" b="1" dirty="0">
                <a:solidFill>
                  <a:schemeClr val="bg1"/>
                </a:solidFill>
                <a:latin typeface="Helvetica Neue" pitchFamily="34" charset="0"/>
                <a:ea typeface="Helvetica Neue" pitchFamily="34" charset="-122"/>
                <a:cs typeface="Helvetica Neue" pitchFamily="34" charset="-120"/>
              </a:rPr>
              <a:t>days for Skåne Spa</a:t>
            </a:r>
            <a:endParaRPr lang="en-US" sz="2000" dirty="0"/>
          </a:p>
        </p:txBody>
      </p:sp>
      <p:sp>
        <p:nvSpPr>
          <p:cNvPr id="14" name="Text 12"/>
          <p:cNvSpPr txBox="1"/>
          <p:nvPr/>
        </p:nvSpPr>
        <p:spPr>
          <a:xfrm>
            <a:off x="6217920" y="5184648"/>
            <a:ext cx="4937760" cy="594360"/>
          </a:xfrm>
          <a:prstGeom prst="rect">
            <a:avLst/>
          </a:prstGeom>
          <a:noFill/>
          <a:ln/>
        </p:spPr>
        <p:txBody>
          <a:bodyPr wrap="square" lIns="0" tIns="0" rIns="0" bIns="0" rtlCol="0" anchor="t"/>
          <a:lstStyle/>
          <a:p>
            <a:pPr indent="0" marL="0">
              <a:buNone/>
            </a:pPr>
            <a:r>
              <a:rPr lang="en-US" sz="1500" dirty="0">
                <a:solidFill>
                  <a:srgbClr val="86868B"/>
                </a:solidFill>
                <a:latin typeface="Helvetica Neue" pitchFamily="34" charset="0"/>
                <a:ea typeface="Helvetica Neue" pitchFamily="34" charset="-122"/>
                <a:cs typeface="Helvetica Neue" pitchFamily="34" charset="-120"/>
              </a:rPr>
              <a:t>14 milestones, up to 10 stories in parallel, about $2.50 of model time per story.</a:t>
            </a:r>
            <a:endParaRPr lang="en-US" sz="1500" dirty="0"/>
          </a:p>
        </p:txBody>
      </p:sp>
      <p:sp>
        <p:nvSpPr>
          <p:cNvPr id="15" name="Text 13"/>
          <p:cNvSpPr txBox="1"/>
          <p:nvPr/>
        </p:nvSpPr>
        <p:spPr>
          <a:xfrm>
            <a:off x="640080" y="5943600"/>
            <a:ext cx="10911535" cy="32004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Measured from Podium runs and Claude session logs. There is no same-feature build without the setup, so no “X× faster” claim.</a:t>
            </a:r>
            <a:endParaRPr lang="en-US" sz="1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22960"/>
          </a:xfrm>
          <a:prstGeom prst="rect">
            <a:avLst/>
          </a:prstGeom>
          <a:noFill/>
          <a:ln/>
        </p:spPr>
        <p:txBody>
          <a:bodyPr wrap="square" lIns="0" tIns="0" rIns="0" bIns="0" rtlCol="0" anchor="ctr"/>
          <a:lstStyle/>
          <a:p>
            <a:pPr algn="l" indent="0" marL="0">
              <a:buNone/>
            </a:pPr>
            <a:r>
              <a:rPr lang="en-US" sz="3600" b="1" dirty="0">
                <a:solidFill>
                  <a:schemeClr val="bg1"/>
                </a:solidFill>
                <a:latin typeface="Helvetica Neue" pitchFamily="34" charset="0"/>
                <a:ea typeface="Helvetica Neue" pitchFamily="34" charset="-122"/>
                <a:cs typeface="Helvetica Neue" pitchFamily="34" charset="-120"/>
              </a:rPr>
              <a:t>What you get.</a:t>
            </a:r>
            <a:endParaRPr lang="en-US" sz="3600" dirty="0"/>
          </a:p>
        </p:txBody>
      </p:sp>
      <p:sp>
        <p:nvSpPr>
          <p:cNvPr id="3" name="Text 1"/>
          <p:cNvSpPr txBox="1"/>
          <p:nvPr/>
        </p:nvSpPr>
        <p:spPr>
          <a:xfrm>
            <a:off x="640080" y="1691640"/>
            <a:ext cx="5120640" cy="1371600"/>
          </a:xfrm>
          <a:prstGeom prst="rect">
            <a:avLst/>
          </a:prstGeom>
          <a:noFill/>
          <a:ln/>
        </p:spPr>
        <p:txBody>
          <a:bodyPr wrap="square" lIns="0" tIns="0" rIns="0" bIns="0" rtlCol="0" anchor="t"/>
          <a:lstStyle/>
          <a:p>
            <a:pPr indent="0" marL="0">
              <a:buNone/>
            </a:pPr>
            <a:r>
              <a:rPr lang="en-US" sz="3200" b="1" dirty="0">
                <a:solidFill>
                  <a:srgbClr val="2997FF"/>
                </a:solidFill>
                <a:latin typeface="Helvetica Neue" pitchFamily="34" charset="0"/>
                <a:ea typeface="Helvetica Neue" pitchFamily="34" charset="-122"/>
                <a:cs typeface="Helvetica Neue" pitchFamily="34" charset="-120"/>
              </a:rPr>
              <a:t>Parallel speed</a:t>
            </a:r>
            <a:endParaRPr lang="en-US" sz="3200" dirty="0"/>
          </a:p>
          <a:p>
            <a:pPr indent="0" marL="0">
              <a:buNone/>
            </a:pPr>
            <a:r>
              <a:rPr lang="en-US" sz="1700" dirty="0">
                <a:solidFill>
                  <a:srgbClr val="86868B"/>
                </a:solidFill>
                <a:latin typeface="Helvetica Neue" pitchFamily="34" charset="0"/>
                <a:ea typeface="Helvetica Neue" pitchFamily="34" charset="-122"/>
                <a:cs typeface="Helvetica Neue" pitchFamily="34" charset="-120"/>
              </a:rPr>
              <a:t>Up to 10 agents building at once, each on the model its job needs.</a:t>
            </a:r>
            <a:endParaRPr lang="en-US" sz="3200" dirty="0"/>
          </a:p>
        </p:txBody>
      </p:sp>
      <p:sp>
        <p:nvSpPr>
          <p:cNvPr id="4" name="Text 2"/>
          <p:cNvSpPr txBox="1"/>
          <p:nvPr/>
        </p:nvSpPr>
        <p:spPr>
          <a:xfrm>
            <a:off x="6217920" y="1691640"/>
            <a:ext cx="5120640" cy="1371600"/>
          </a:xfrm>
          <a:prstGeom prst="rect">
            <a:avLst/>
          </a:prstGeom>
          <a:noFill/>
          <a:ln/>
        </p:spPr>
        <p:txBody>
          <a:bodyPr wrap="square" lIns="0" tIns="0" rIns="0" bIns="0" rtlCol="0" anchor="t"/>
          <a:lstStyle/>
          <a:p>
            <a:pPr indent="0" marL="0">
              <a:buNone/>
            </a:pPr>
            <a:r>
              <a:rPr lang="en-US" sz="3200" b="1" dirty="0">
                <a:solidFill>
                  <a:srgbClr val="BF5AF2"/>
                </a:solidFill>
                <a:latin typeface="Helvetica Neue" pitchFamily="34" charset="0"/>
                <a:ea typeface="Helvetica Neue" pitchFamily="34" charset="-122"/>
                <a:cs typeface="Helvetica Neue" pitchFamily="34" charset="-120"/>
              </a:rPr>
              <a:t>Control you can see</a:t>
            </a:r>
            <a:endParaRPr lang="en-US" sz="3200" dirty="0"/>
          </a:p>
          <a:p>
            <a:pPr indent="0" marL="0">
              <a:buNone/>
            </a:pPr>
            <a:r>
              <a:rPr lang="en-US" sz="1700" dirty="0">
                <a:solidFill>
                  <a:srgbClr val="86868B"/>
                </a:solidFill>
                <a:latin typeface="Helvetica Neue" pitchFamily="34" charset="0"/>
                <a:ea typeface="Helvetica Neue" pitchFamily="34" charset="-122"/>
                <a:cs typeface="Helvetica Neue" pitchFamily="34" charset="-120"/>
              </a:rPr>
              <a:t>Plan, steer and approve from one screen. Every loop capped.</a:t>
            </a:r>
            <a:endParaRPr lang="en-US" sz="3200" dirty="0"/>
          </a:p>
        </p:txBody>
      </p:sp>
      <p:sp>
        <p:nvSpPr>
          <p:cNvPr id="5" name="Text 3"/>
          <p:cNvSpPr txBox="1"/>
          <p:nvPr/>
        </p:nvSpPr>
        <p:spPr>
          <a:xfrm>
            <a:off x="640080" y="3383280"/>
            <a:ext cx="5120640" cy="1371600"/>
          </a:xfrm>
          <a:prstGeom prst="rect">
            <a:avLst/>
          </a:prstGeom>
          <a:noFill/>
          <a:ln/>
        </p:spPr>
        <p:txBody>
          <a:bodyPr wrap="square" lIns="0" tIns="0" rIns="0" bIns="0" rtlCol="0" anchor="t"/>
          <a:lstStyle/>
          <a:p>
            <a:pPr indent="0" marL="0">
              <a:buNone/>
            </a:pPr>
            <a:r>
              <a:rPr lang="en-US" sz="3200" b="1" dirty="0">
                <a:solidFill>
                  <a:srgbClr val="30D158"/>
                </a:solidFill>
                <a:latin typeface="Helvetica Neue" pitchFamily="34" charset="0"/>
                <a:ea typeface="Helvetica Neue" pitchFamily="34" charset="-122"/>
                <a:cs typeface="Helvetica Neue" pitchFamily="34" charset="-120"/>
              </a:rPr>
              <a:t>Quality by default</a:t>
            </a:r>
            <a:endParaRPr lang="en-US" sz="3200" dirty="0"/>
          </a:p>
          <a:p>
            <a:pPr indent="0" marL="0">
              <a:buNone/>
            </a:pPr>
            <a:r>
              <a:rPr lang="en-US" sz="1700" dirty="0">
                <a:solidFill>
                  <a:srgbClr val="86868B"/>
                </a:solidFill>
                <a:latin typeface="Helvetica Neue" pitchFamily="34" charset="0"/>
                <a:ea typeface="Helvetica Neue" pitchFamily="34" charset="-122"/>
                <a:cs typeface="Helvetica Neue" pitchFamily="34" charset="-120"/>
              </a:rPr>
              <a:t>Gates from grill to push, not a review at the end.</a:t>
            </a:r>
            <a:endParaRPr lang="en-US" sz="3200" dirty="0"/>
          </a:p>
        </p:txBody>
      </p:sp>
      <p:sp>
        <p:nvSpPr>
          <p:cNvPr id="6" name="Text 4"/>
          <p:cNvSpPr txBox="1"/>
          <p:nvPr/>
        </p:nvSpPr>
        <p:spPr>
          <a:xfrm>
            <a:off x="6217920" y="3383280"/>
            <a:ext cx="5120640" cy="1371600"/>
          </a:xfrm>
          <a:prstGeom prst="rect">
            <a:avLst/>
          </a:prstGeom>
          <a:noFill/>
          <a:ln/>
        </p:spPr>
        <p:txBody>
          <a:bodyPr wrap="square" lIns="0" tIns="0" rIns="0" bIns="0" rtlCol="0" anchor="t"/>
          <a:lstStyle/>
          <a:p>
            <a:pPr indent="0" marL="0">
              <a:buNone/>
            </a:pPr>
            <a:r>
              <a:rPr lang="en-US" sz="3200" b="1" dirty="0">
                <a:solidFill>
                  <a:srgbClr val="FF9F0A"/>
                </a:solidFill>
                <a:latin typeface="Helvetica Neue" pitchFamily="34" charset="0"/>
                <a:ea typeface="Helvetica Neue" pitchFamily="34" charset="-122"/>
                <a:cs typeface="Helvetica Neue" pitchFamily="34" charset="-120"/>
              </a:rPr>
              <a:t>Compounding gains</a:t>
            </a:r>
            <a:endParaRPr lang="en-US" sz="3200" dirty="0"/>
          </a:p>
          <a:p>
            <a:pPr indent="0" marL="0">
              <a:buNone/>
            </a:pPr>
            <a:r>
              <a:rPr lang="en-US" sz="1700" dirty="0">
                <a:solidFill>
                  <a:srgbClr val="86868B"/>
                </a:solidFill>
                <a:latin typeface="Helvetica Neue" pitchFamily="34" charset="0"/>
                <a:ea typeface="Helvetica Neue" pitchFamily="34" charset="-122"/>
                <a:cs typeface="Helvetica Neue" pitchFamily="34" charset="-120"/>
              </a:rPr>
              <a:t>This week's friction is next week's fix.</a:t>
            </a:r>
            <a:endParaRPr lang="en-US" sz="3200" dirty="0"/>
          </a:p>
        </p:txBody>
      </p:sp>
      <p:sp>
        <p:nvSpPr>
          <p:cNvPr id="7" name="Text 5"/>
          <p:cNvSpPr txBox="1"/>
          <p:nvPr/>
        </p:nvSpPr>
        <p:spPr>
          <a:xfrm>
            <a:off x="640080" y="5486400"/>
            <a:ext cx="10911535" cy="365760"/>
          </a:xfrm>
          <a:prstGeom prst="rect">
            <a:avLst/>
          </a:prstGeom>
          <a:noFill/>
          <a:ln/>
        </p:spPr>
        <p:txBody>
          <a:bodyPr wrap="square" lIns="0" tIns="0" rIns="0" bIns="0" rtlCol="0" anchor="t"/>
          <a:lstStyle/>
          <a:p>
            <a:pPr indent="0" marL="0">
              <a:buNone/>
            </a:pPr>
            <a:r>
              <a:rPr lang="en-US" sz="1500" dirty="0">
                <a:solidFill>
                  <a:schemeClr val="bg1"/>
                </a:solidFill>
                <a:latin typeface="Helvetica Neue" pitchFamily="34" charset="0"/>
                <a:ea typeface="Helvetica Neue" pitchFamily="34" charset="-122"/>
                <a:cs typeface="Helvetica Neue" pitchFamily="34" charset="-120"/>
              </a:rPr>
              <a:t>github.com/warriv93/podium-dashboard  ·  github.com/warriv93/deep-skills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484A"/>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odium">
  <a:themeElements>
    <a:clrScheme name="Podium">
      <a:dk1>
        <a:srgbClr val="1D1D1F"/>
      </a:dk1>
      <a:lt1>
        <a:srgbClr val="FFFFFF"/>
      </a:lt1>
      <a:dk2>
        <a:srgbClr val="000000"/>
      </a:dk2>
      <a:lt2>
        <a:srgbClr val="F5F5F7"/>
      </a:lt2>
      <a:accent1>
        <a:srgbClr val="0071E3"/>
      </a:accent1>
      <a:accent2>
        <a:srgbClr val="AF52DE"/>
      </a:accent2>
      <a:accent3>
        <a:srgbClr val="28A745"/>
      </a:accent3>
      <a:accent4>
        <a:srgbClr val="FF9500"/>
      </a:accent4>
      <a:accent5>
        <a:srgbClr val="FF2D55"/>
      </a:accent5>
      <a:accent6>
        <a:srgbClr val="30B0C7"/>
      </a:accent6>
      <a:hlink>
        <a:srgbClr val="0071E3"/>
      </a:hlink>
      <a:folHlink>
        <a:srgbClr val="AF52DE"/>
      </a:folHlink>
    </a:clrScheme>
    <a:fontScheme name="Podium">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 that finish the job</dc:title>
  <dc:subject>PptxGenJS Presentation</dc:subject>
  <dc:creator>Simon Irengard-Gullstrand</dc:creator>
  <cp:lastModifiedBy>Simon Irengard-Gullstrand</cp:lastModifiedBy>
  <cp:revision>1</cp:revision>
  <dcterms:created xsi:type="dcterms:W3CDTF">2026-10-31T09:47:13Z</dcterms:created>
  <dcterms:modified xsi:type="dcterms:W3CDTF">2026-10-31T09:47:13Z</dcterms:modified>
</cp:coreProperties>
</file>